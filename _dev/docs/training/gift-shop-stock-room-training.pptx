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Gift Shop Stock Room training. This tool lives at /shop/admin/ and is where we curate everything shoppers see in the public Gift Shop. We’ll start with what the shopper sees, then move into the admin tool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 shop is the destination. Books, gear and local finds, grouped by city. The key thing to remember: only gifts you mark LIVE appear here. Every field on this card — the image, the title, the blurb, the button and its label — comes from the Stock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Stock Room is the single place the catalog is managed. Nothing works until you sign in with ADMIN LOGON — every button starts disabled. The workflow is always the same four beats: find a gift, edit its card, set a status,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orientation to the page regions, top to bottom. The single most common stumbling block: everything is disabled until you sign in. Greyed-out buttons mean you still need to click ADMIN LOGON.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for the whole tool. Review is the default holding state — new and AI gifts start here and are NOT public. Live means certified and public. Shelved retires it but keeps the record, which also stops the nightly job from re-suggesting it. Delete is separate and permanent — reach for Shelved unless you truly want the record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card, five labelled boxes plus Save. Status controls visibility; Image is the picture; Verify are the check-it tools; Details are the shopper-facing text and link; Shops picks the cities. Each card saves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Details box holds everything the shopper reads. Title and Description are text; the Link is the destination. Three link types are valid: Amazon and Bookshop affiliate links (paid), and plain destination links like a city visitor guide or tickets. The Button label is optional — leave it blank and the shop auto-labels by link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makes or breaks the card. Auto Fill scrapes the real image from Amazon/Bookshop and fills any blank title/description. The per-field refetch arrows pull one field at a time so you never clobber hand-written copy. Upload is the fallback when an image URL won’t load. TARGET and SHOP let you verify the link and preview the public card before going Live. Auto Fill does not work for destination links — those you fill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gift, many cities. Add shop opens a searchable picker of existing cities; ADD CITY creates a new one on the spot. Attached cities appear as chips — removing a chip pulls the gift from that city. Venue-only cities (a place a team plays but we don’t stock) appear greyed in the picker.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entry points. MANUAL is a blank card you fill in. WITH AI builds a copy-paste prompt for a web assistant and returns SQL you run in Supabase — good for bulk ideas. NIGHTLY is just a reference popup about the automation. Whichever route, gifts land in Review, and you decide what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controls narrow the list: text search, a multi-select city filter, a status filter, sort, and CLEAR. A great daily habit is to filter to Review — that’s your decision queue, and where the nightly book job drops fresh candidates. The list pages with LOAD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save paths. Each card has its own SAVE for finishing one gift at a time. When you have multiple edits, the red SAVE ALL CHANGES banner at the top commits them together. Edited cards show a red outline until saved. Note: saving a status change while a filter is active can make the card leave the current view — expected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works for you overnight. Job 1, the book pull, rotates through cities and asks Claude for 5 real books each night, adding them as Review candidates — never Live, and never anything you’ve shelved. Job 2 re-tests one-seventh of the catalog’s links and images each night so everything is checked weekly, writing failures to the Issues page. Neither needs you — but the Review queue and Issues badge are where their output shows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Catalog health lives on the Issues page, fed by the nightly link check. The ISSUES badge in the toolbar is red with a count when there are open problems, grey when clean. Fix them at the source — refetch or replace the URL, upload if needed, re-verify with TARGET/SHOP, save. The toolbar also links to the affiliate dashboards, Google Cloud, and the Supabase database used by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typical session in six beats: sign in, clear the Review queue, curate each gift (link, image, text), assign cities, publish to Live with a SHOP preview, and clear any Issues. The golden rule to leave people with: nothing publishes itself, and Shelved — not Delete — is how you retire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one-screen reference to screenshot or print. Everything we covered: where the tool lives, the three statuses, delete vs shelve, the three ways to add, the parts of a card, link types, saving, and catalog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Slide-13-image-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7240" y="1847088"/>
            <a:ext cx="1371600" cy="1371600"/>
          </a:xfrm>
          <a:prstGeom prst="roundRect">
            <a:avLst>
              <a:gd name="adj" fmla="val 9333"/>
            </a:avLst>
          </a:prstGeom>
          <a:solidFill>
            <a:srgbClr val="C23737"/>
          </a:solidFill>
          <a:ln/>
          <a:effectLst>
            <a:outerShdw sx="100000" sy="100000" kx="0" ky="0" algn="bl" rotWithShape="0" blurRad="177800" dist="76200" dir="5400000">
              <a:srgbClr val="000000">
                <a:alpha val="35000"/>
              </a:srgbClr>
            </a:outerShdw>
          </a:effectLst>
        </p:spPr>
      </p:sp>
      <p:sp>
        <p:nvSpPr>
          <p:cNvPr id="3" name="Text 1"/>
          <p:cNvSpPr/>
          <p:nvPr/>
        </p:nvSpPr>
        <p:spPr>
          <a:xfrm>
            <a:off x="777240" y="1847088"/>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GS</a:t>
            </a:r>
            <a:endParaRPr lang="en-US" sz="4400" dirty="0"/>
          </a:p>
        </p:txBody>
      </p:sp>
      <p:sp>
        <p:nvSpPr>
          <p:cNvPr id="4" name="Shape 2"/>
          <p:cNvSpPr/>
          <p:nvPr/>
        </p:nvSpPr>
        <p:spPr>
          <a:xfrm>
            <a:off x="1371600" y="1993392"/>
            <a:ext cx="182880" cy="182880"/>
          </a:xfrm>
          <a:prstGeom prst="ellipse">
            <a:avLst/>
          </a:prstGeom>
          <a:solidFill>
            <a:srgbClr val="16233F"/>
          </a:solidFill>
          <a:ln w="12700">
            <a:solidFill>
              <a:srgbClr val="FFFFFF"/>
            </a:solidFill>
            <a:prstDash val="solid"/>
          </a:ln>
        </p:spPr>
      </p:sp>
      <p:sp>
        <p:nvSpPr>
          <p:cNvPr id="5" name="Text 3"/>
          <p:cNvSpPr/>
          <p:nvPr/>
        </p:nvSpPr>
        <p:spPr>
          <a:xfrm>
            <a:off x="2468880" y="1847088"/>
            <a:ext cx="9052560" cy="329184"/>
          </a:xfrm>
          <a:prstGeom prst="rect">
            <a:avLst/>
          </a:prstGeom>
          <a:noFill/>
          <a:ln/>
        </p:spPr>
        <p:txBody>
          <a:bodyPr wrap="square" lIns="0" tIns="0" rIns="0" bIns="0"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THE GAME BUREAU  ·  ADMIN TRAINING</a:t>
            </a:r>
            <a:endParaRPr lang="en-US" sz="1400" dirty="0"/>
          </a:p>
        </p:txBody>
      </p:sp>
      <p:sp>
        <p:nvSpPr>
          <p:cNvPr id="6" name="Text 4"/>
          <p:cNvSpPr/>
          <p:nvPr/>
        </p:nvSpPr>
        <p:spPr>
          <a:xfrm>
            <a:off x="2395728" y="2157984"/>
            <a:ext cx="9144000" cy="1737360"/>
          </a:xfrm>
          <a:prstGeom prst="rect">
            <a:avLst/>
          </a:prstGeom>
          <a:noFill/>
          <a:ln/>
        </p:spPr>
        <p:txBody>
          <a:bodyPr wrap="square" lIns="0" tIns="0" rIns="0" bIns="0" rtlCol="0" anchor="ctr"/>
          <a:lstStyle/>
          <a:p>
            <a:pPr indent="0" marL="0">
              <a:lnSpc>
                <a:spcPts val="5200"/>
              </a:lnSpc>
              <a:buNone/>
            </a:pPr>
            <a:r>
              <a:rPr lang="en-US" sz="5200" b="1" dirty="0">
                <a:solidFill>
                  <a:srgbClr val="FFFFFF"/>
                </a:solidFill>
                <a:latin typeface="Cambria" pitchFamily="34" charset="0"/>
                <a:ea typeface="Cambria" pitchFamily="34" charset="-122"/>
                <a:cs typeface="Cambria" pitchFamily="34" charset="-120"/>
              </a:rPr>
              <a:t>Gift Shop</a:t>
            </a:r>
            <a:endParaRPr lang="en-US" sz="5200" dirty="0"/>
          </a:p>
          <a:p>
            <a:pPr indent="0" marL="0">
              <a:lnSpc>
                <a:spcPts val="5200"/>
              </a:lnSpc>
              <a:buNone/>
            </a:pPr>
            <a:r>
              <a:rPr lang="en-US" sz="5200" b="1" dirty="0">
                <a:solidFill>
                  <a:srgbClr val="FFFFFF"/>
                </a:solidFill>
                <a:latin typeface="Cambria" pitchFamily="34" charset="0"/>
                <a:ea typeface="Cambria" pitchFamily="34" charset="-122"/>
                <a:cs typeface="Cambria" pitchFamily="34" charset="-120"/>
              </a:rPr>
              <a:t>Stock Room</a:t>
            </a:r>
            <a:endParaRPr lang="en-US" sz="5200" dirty="0"/>
          </a:p>
        </p:txBody>
      </p:sp>
      <p:sp>
        <p:nvSpPr>
          <p:cNvPr id="7" name="Text 5"/>
          <p:cNvSpPr/>
          <p:nvPr/>
        </p:nvSpPr>
        <p:spPr>
          <a:xfrm>
            <a:off x="2468880" y="3913632"/>
            <a:ext cx="8778240"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How to stock, review, and publish the gifts that appear at thegamebureau.com/shop</a:t>
            </a:r>
            <a:endParaRPr lang="en-US" sz="1600" dirty="0"/>
          </a:p>
        </p:txBody>
      </p:sp>
      <p:sp>
        <p:nvSpPr>
          <p:cNvPr id="8" name="Shape 6"/>
          <p:cNvSpPr/>
          <p:nvPr/>
        </p:nvSpPr>
        <p:spPr>
          <a:xfrm>
            <a:off x="2468880" y="4892040"/>
            <a:ext cx="972922" cy="365760"/>
          </a:xfrm>
          <a:prstGeom prst="roundRect">
            <a:avLst>
              <a:gd name="adj" fmla="val 50000"/>
            </a:avLst>
          </a:prstGeom>
          <a:solidFill>
            <a:srgbClr val="22345C"/>
          </a:solidFill>
          <a:ln w="12700">
            <a:solidFill>
              <a:srgbClr val="3B5488"/>
            </a:solidFill>
            <a:prstDash val="solid"/>
          </a:ln>
        </p:spPr>
      </p:sp>
      <p:sp>
        <p:nvSpPr>
          <p:cNvPr id="9" name="Text 7"/>
          <p:cNvSpPr/>
          <p:nvPr/>
        </p:nvSpPr>
        <p:spPr>
          <a:xfrm>
            <a:off x="2468880" y="4892040"/>
            <a:ext cx="972922" cy="365760"/>
          </a:xfrm>
          <a:prstGeom prst="rect">
            <a:avLst/>
          </a:prstGeom>
          <a:noFill/>
          <a:ln/>
        </p:spPr>
        <p:txBody>
          <a:bodyPr wrap="square" lIns="0" tIns="0" rIns="0" bIns="0" rtlCol="0" anchor="ctr"/>
          <a:lstStyle/>
          <a:p>
            <a:pPr algn="ctr" indent="0" marL="0">
              <a:buNone/>
            </a:pPr>
            <a:r>
              <a:rPr lang="en-US" sz="1150" b="1" dirty="0">
                <a:solidFill>
                  <a:srgbClr val="CADCFC"/>
                </a:solidFill>
                <a:latin typeface="Calibri" pitchFamily="34" charset="0"/>
                <a:ea typeface="Calibri" pitchFamily="34" charset="-122"/>
                <a:cs typeface="Calibri" pitchFamily="34" charset="-120"/>
              </a:rPr>
              <a:t>Overview</a:t>
            </a:r>
            <a:endParaRPr lang="en-US" sz="1150" dirty="0"/>
          </a:p>
        </p:txBody>
      </p:sp>
      <p:sp>
        <p:nvSpPr>
          <p:cNvPr id="10" name="Shape 8"/>
          <p:cNvSpPr/>
          <p:nvPr/>
        </p:nvSpPr>
        <p:spPr>
          <a:xfrm>
            <a:off x="3624682" y="4892040"/>
            <a:ext cx="972922" cy="365760"/>
          </a:xfrm>
          <a:prstGeom prst="roundRect">
            <a:avLst>
              <a:gd name="adj" fmla="val 50000"/>
            </a:avLst>
          </a:prstGeom>
          <a:solidFill>
            <a:srgbClr val="22345C"/>
          </a:solidFill>
          <a:ln w="12700">
            <a:solidFill>
              <a:srgbClr val="3B5488"/>
            </a:solidFill>
            <a:prstDash val="solid"/>
          </a:ln>
        </p:spPr>
      </p:sp>
      <p:sp>
        <p:nvSpPr>
          <p:cNvPr id="11" name="Text 9"/>
          <p:cNvSpPr/>
          <p:nvPr/>
        </p:nvSpPr>
        <p:spPr>
          <a:xfrm>
            <a:off x="3624682" y="4892040"/>
            <a:ext cx="972922" cy="365760"/>
          </a:xfrm>
          <a:prstGeom prst="rect">
            <a:avLst/>
          </a:prstGeom>
          <a:noFill/>
          <a:ln/>
        </p:spPr>
        <p:txBody>
          <a:bodyPr wrap="square" lIns="0" tIns="0" rIns="0" bIns="0" rtlCol="0" anchor="ctr"/>
          <a:lstStyle/>
          <a:p>
            <a:pPr algn="ctr" indent="0" marL="0">
              <a:buNone/>
            </a:pPr>
            <a:r>
              <a:rPr lang="en-US" sz="1150" b="1" dirty="0">
                <a:solidFill>
                  <a:srgbClr val="CADCFC"/>
                </a:solidFill>
                <a:latin typeface="Calibri" pitchFamily="34" charset="0"/>
                <a:ea typeface="Calibri" pitchFamily="34" charset="-122"/>
                <a:cs typeface="Calibri" pitchFamily="34" charset="-120"/>
              </a:rPr>
              <a:t>Statuses</a:t>
            </a:r>
            <a:endParaRPr lang="en-US" sz="1150" dirty="0"/>
          </a:p>
        </p:txBody>
      </p:sp>
      <p:sp>
        <p:nvSpPr>
          <p:cNvPr id="12" name="Shape 10"/>
          <p:cNvSpPr/>
          <p:nvPr/>
        </p:nvSpPr>
        <p:spPr>
          <a:xfrm>
            <a:off x="4780483" y="4892040"/>
            <a:ext cx="1331366" cy="365760"/>
          </a:xfrm>
          <a:prstGeom prst="roundRect">
            <a:avLst>
              <a:gd name="adj" fmla="val 50000"/>
            </a:avLst>
          </a:prstGeom>
          <a:solidFill>
            <a:srgbClr val="22345C"/>
          </a:solidFill>
          <a:ln w="12700">
            <a:solidFill>
              <a:srgbClr val="3B5488"/>
            </a:solidFill>
            <a:prstDash val="solid"/>
          </a:ln>
        </p:spPr>
      </p:sp>
      <p:sp>
        <p:nvSpPr>
          <p:cNvPr id="13" name="Text 11"/>
          <p:cNvSpPr/>
          <p:nvPr/>
        </p:nvSpPr>
        <p:spPr>
          <a:xfrm>
            <a:off x="4780483" y="4892040"/>
            <a:ext cx="1331366" cy="365760"/>
          </a:xfrm>
          <a:prstGeom prst="rect">
            <a:avLst/>
          </a:prstGeom>
          <a:noFill/>
          <a:ln/>
        </p:spPr>
        <p:txBody>
          <a:bodyPr wrap="square" lIns="0" tIns="0" rIns="0" bIns="0" rtlCol="0" anchor="ctr"/>
          <a:lstStyle/>
          <a:p>
            <a:pPr algn="ctr" indent="0" marL="0">
              <a:buNone/>
            </a:pPr>
            <a:r>
              <a:rPr lang="en-US" sz="1150" b="1" dirty="0">
                <a:solidFill>
                  <a:srgbClr val="CADCFC"/>
                </a:solidFill>
                <a:latin typeface="Calibri" pitchFamily="34" charset="0"/>
                <a:ea typeface="Calibri" pitchFamily="34" charset="-122"/>
                <a:cs typeface="Calibri" pitchFamily="34" charset="-120"/>
              </a:rPr>
              <a:t>Adding gifts</a:t>
            </a:r>
            <a:endParaRPr lang="en-US" sz="1150" dirty="0"/>
          </a:p>
        </p:txBody>
      </p:sp>
      <p:sp>
        <p:nvSpPr>
          <p:cNvPr id="14" name="Shape 12"/>
          <p:cNvSpPr/>
          <p:nvPr/>
        </p:nvSpPr>
        <p:spPr>
          <a:xfrm>
            <a:off x="6294730" y="4892040"/>
            <a:ext cx="1869034" cy="365760"/>
          </a:xfrm>
          <a:prstGeom prst="roundRect">
            <a:avLst>
              <a:gd name="adj" fmla="val 50000"/>
            </a:avLst>
          </a:prstGeom>
          <a:solidFill>
            <a:srgbClr val="22345C"/>
          </a:solidFill>
          <a:ln w="12700">
            <a:solidFill>
              <a:srgbClr val="3B5488"/>
            </a:solidFill>
            <a:prstDash val="solid"/>
          </a:ln>
        </p:spPr>
      </p:sp>
      <p:sp>
        <p:nvSpPr>
          <p:cNvPr id="15" name="Text 13"/>
          <p:cNvSpPr/>
          <p:nvPr/>
        </p:nvSpPr>
        <p:spPr>
          <a:xfrm>
            <a:off x="6294730" y="4892040"/>
            <a:ext cx="1869034" cy="365760"/>
          </a:xfrm>
          <a:prstGeom prst="rect">
            <a:avLst/>
          </a:prstGeom>
          <a:noFill/>
          <a:ln/>
        </p:spPr>
        <p:txBody>
          <a:bodyPr wrap="square" lIns="0" tIns="0" rIns="0" bIns="0" rtlCol="0" anchor="ctr"/>
          <a:lstStyle/>
          <a:p>
            <a:pPr algn="ctr" indent="0" marL="0">
              <a:buNone/>
            </a:pPr>
            <a:r>
              <a:rPr lang="en-US" sz="1150" b="1" dirty="0">
                <a:solidFill>
                  <a:srgbClr val="CADCFC"/>
                </a:solidFill>
                <a:latin typeface="Calibri" pitchFamily="34" charset="0"/>
                <a:ea typeface="Calibri" pitchFamily="34" charset="-122"/>
                <a:cs typeface="Calibri" pitchFamily="34" charset="-120"/>
              </a:rPr>
              <a:t>Nightly automation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START HERE · THE SHOPPER’S VIEW</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What the Gift Shop is</a:t>
            </a:r>
            <a:endParaRPr lang="en-US" sz="3400" dirty="0"/>
          </a:p>
        </p:txBody>
      </p:sp>
      <p:sp>
        <p:nvSpPr>
          <p:cNvPr id="4" name="Text 2"/>
          <p:cNvSpPr/>
          <p:nvPr/>
        </p:nvSpPr>
        <p:spPr>
          <a:xfrm>
            <a:off x="548640" y="1600200"/>
            <a:ext cx="5212080" cy="1371600"/>
          </a:xfrm>
          <a:prstGeom prst="rect">
            <a:avLst/>
          </a:prstGeom>
          <a:noFill/>
          <a:ln/>
        </p:spPr>
        <p:txBody>
          <a:bodyPr wrap="square" lIns="0" tIns="0" rIns="0" bIns="0" rtlCol="0" anchor="t"/>
          <a:lstStyle/>
          <a:p>
            <a:pPr indent="0" marL="0">
              <a:lnSpc>
                <a:spcPts val="2200"/>
              </a:lnSpc>
              <a:buNone/>
            </a:pPr>
            <a:r>
              <a:rPr lang="en-US" sz="1400" b="1" dirty="0">
                <a:solidFill>
                  <a:srgbClr val="C23737"/>
                </a:solidFill>
                <a:latin typeface="Calibri" pitchFamily="34" charset="0"/>
                <a:ea typeface="Calibri" pitchFamily="34" charset="-122"/>
                <a:cs typeface="Calibri" pitchFamily="34" charset="-120"/>
              </a:rPr>
              <a:t>thegamebureau.com/shop
</a:t>
            </a:r>
            <a:endParaRPr lang="en-US" sz="1400" dirty="0"/>
          </a:p>
          <a:p>
            <a:pPr indent="0" marL="0">
              <a:lnSpc>
                <a:spcPts val="2200"/>
              </a:lnSpc>
              <a:buNone/>
            </a:pPr>
            <a:r>
              <a:rPr lang="en-US" sz="1500" dirty="0">
                <a:solidFill>
                  <a:srgbClr val="243449"/>
                </a:solidFill>
                <a:latin typeface="Calibri" pitchFamily="34" charset="0"/>
                <a:ea typeface="Calibri" pitchFamily="34" charset="-122"/>
                <a:cs typeface="Calibri" pitchFamily="34" charset="-120"/>
              </a:rPr>
              <a:t>A public storefront of </a:t>
            </a:r>
            <a:pPr indent="0" marL="0">
              <a:lnSpc>
                <a:spcPts val="2200"/>
              </a:lnSpc>
              <a:buNone/>
            </a:pPr>
            <a:r>
              <a:rPr lang="en-US" sz="1500" b="1" dirty="0">
                <a:solidFill>
                  <a:srgbClr val="243449"/>
                </a:solidFill>
                <a:latin typeface="Calibri" pitchFamily="34" charset="0"/>
                <a:ea typeface="Calibri" pitchFamily="34" charset="-122"/>
                <a:cs typeface="Calibri" pitchFamily="34" charset="-120"/>
              </a:rPr>
              <a:t>curated gifts</a:t>
            </a:r>
            <a:pPr indent="0" marL="0">
              <a:lnSpc>
                <a:spcPts val="2200"/>
              </a:lnSpc>
              <a:buNone/>
            </a:pPr>
            <a:r>
              <a:rPr lang="en-US" sz="1500" dirty="0">
                <a:solidFill>
                  <a:srgbClr val="243449"/>
                </a:solidFill>
                <a:latin typeface="Calibri" pitchFamily="34" charset="0"/>
                <a:ea typeface="Calibri" pitchFamily="34" charset="-122"/>
                <a:cs typeface="Calibri" pitchFamily="34" charset="-120"/>
              </a:rPr>
              <a:t> — books, gear, and local finds — tied to the cities our games are played in.</a:t>
            </a:r>
            <a:endParaRPr lang="en-US" sz="1400" dirty="0"/>
          </a:p>
        </p:txBody>
      </p:sp>
      <p:sp>
        <p:nvSpPr>
          <p:cNvPr id="5" name="Shape 3"/>
          <p:cNvSpPr/>
          <p:nvPr/>
        </p:nvSpPr>
        <p:spPr>
          <a:xfrm>
            <a:off x="566928" y="2898648"/>
            <a:ext cx="310896" cy="310896"/>
          </a:xfrm>
          <a:prstGeom prst="ellipse">
            <a:avLst/>
          </a:prstGeom>
          <a:solidFill>
            <a:srgbClr val="2D4880"/>
          </a:solidFill>
          <a:ln/>
        </p:spPr>
      </p:sp>
      <p:sp>
        <p:nvSpPr>
          <p:cNvPr id="6" name="Shape 4"/>
          <p:cNvSpPr/>
          <p:nvPr/>
        </p:nvSpPr>
        <p:spPr>
          <a:xfrm>
            <a:off x="667512" y="2999232"/>
            <a:ext cx="109728" cy="109728"/>
          </a:xfrm>
          <a:prstGeom prst="roundRect">
            <a:avLst>
              <a:gd name="adj" fmla="val 16667"/>
            </a:avLst>
          </a:prstGeom>
          <a:solidFill>
            <a:srgbClr val="FFFFFF"/>
          </a:solidFill>
          <a:ln/>
        </p:spPr>
      </p:sp>
      <p:sp>
        <p:nvSpPr>
          <p:cNvPr id="7" name="Text 5"/>
          <p:cNvSpPr/>
          <p:nvPr/>
        </p:nvSpPr>
        <p:spPr>
          <a:xfrm>
            <a:off x="1024128" y="2834640"/>
            <a:ext cx="4800600" cy="548640"/>
          </a:xfrm>
          <a:prstGeom prst="rect">
            <a:avLst/>
          </a:prstGeom>
          <a:noFill/>
          <a:ln/>
        </p:spPr>
        <p:txBody>
          <a:bodyPr wrap="square" lIns="0" tIns="0" rIns="0" bIns="0" rtlCol="0" anchor="t"/>
          <a:lstStyle/>
          <a:p>
            <a:pPr indent="0" marL="0">
              <a:lnSpc>
                <a:spcPts val="1600"/>
              </a:lnSpc>
              <a:buNone/>
            </a:pPr>
            <a:r>
              <a:rPr lang="en-US" sz="1400" b="1" dirty="0">
                <a:solidFill>
                  <a:srgbClr val="2D4880"/>
                </a:solidFill>
                <a:latin typeface="Calibri" pitchFamily="34" charset="0"/>
                <a:ea typeface="Calibri" pitchFamily="34" charset="-122"/>
                <a:cs typeface="Calibri" pitchFamily="34" charset="-120"/>
              </a:rPr>
              <a:t>Grouped by city  </a:t>
            </a:r>
            <a:pPr indent="0" marL="0">
              <a:lnSpc>
                <a:spcPts val="1600"/>
              </a:lnSpc>
              <a:buNone/>
            </a:pPr>
            <a:r>
              <a:rPr lang="en-US" sz="1300" dirty="0">
                <a:solidFill>
                  <a:srgbClr val="6E7C97"/>
                </a:solidFill>
                <a:latin typeface="Calibri" pitchFamily="34" charset="0"/>
                <a:ea typeface="Calibri" pitchFamily="34" charset="-122"/>
                <a:cs typeface="Calibri" pitchFamily="34" charset="-120"/>
              </a:rPr>
              <a:t>— Shoppers browse or search by city; each gift can appear in many cities.</a:t>
            </a:r>
            <a:endParaRPr lang="en-US" sz="1400" dirty="0"/>
          </a:p>
        </p:txBody>
      </p:sp>
      <p:sp>
        <p:nvSpPr>
          <p:cNvPr id="8" name="Shape 6"/>
          <p:cNvSpPr/>
          <p:nvPr/>
        </p:nvSpPr>
        <p:spPr>
          <a:xfrm>
            <a:off x="566928" y="3675888"/>
            <a:ext cx="310896" cy="310896"/>
          </a:xfrm>
          <a:prstGeom prst="ellipse">
            <a:avLst/>
          </a:prstGeom>
          <a:solidFill>
            <a:srgbClr val="2D4880"/>
          </a:solidFill>
          <a:ln/>
        </p:spPr>
      </p:sp>
      <p:sp>
        <p:nvSpPr>
          <p:cNvPr id="9" name="Shape 7"/>
          <p:cNvSpPr/>
          <p:nvPr/>
        </p:nvSpPr>
        <p:spPr>
          <a:xfrm>
            <a:off x="667512" y="3776472"/>
            <a:ext cx="109728" cy="109728"/>
          </a:xfrm>
          <a:prstGeom prst="roundRect">
            <a:avLst>
              <a:gd name="adj" fmla="val 16667"/>
            </a:avLst>
          </a:prstGeom>
          <a:solidFill>
            <a:srgbClr val="FFFFFF"/>
          </a:solidFill>
          <a:ln/>
        </p:spPr>
      </p:sp>
      <p:sp>
        <p:nvSpPr>
          <p:cNvPr id="10" name="Text 8"/>
          <p:cNvSpPr/>
          <p:nvPr/>
        </p:nvSpPr>
        <p:spPr>
          <a:xfrm>
            <a:off x="1024128" y="3611880"/>
            <a:ext cx="4800600" cy="548640"/>
          </a:xfrm>
          <a:prstGeom prst="rect">
            <a:avLst/>
          </a:prstGeom>
          <a:noFill/>
          <a:ln/>
        </p:spPr>
        <p:txBody>
          <a:bodyPr wrap="square" lIns="0" tIns="0" rIns="0" bIns="0" rtlCol="0" anchor="t"/>
          <a:lstStyle/>
          <a:p>
            <a:pPr indent="0" marL="0">
              <a:lnSpc>
                <a:spcPts val="1600"/>
              </a:lnSpc>
              <a:buNone/>
            </a:pPr>
            <a:r>
              <a:rPr lang="en-US" sz="1400" b="1" dirty="0">
                <a:solidFill>
                  <a:srgbClr val="2D4880"/>
                </a:solidFill>
                <a:latin typeface="Calibri" pitchFamily="34" charset="0"/>
                <a:ea typeface="Calibri" pitchFamily="34" charset="-122"/>
                <a:cs typeface="Calibri" pitchFamily="34" charset="-120"/>
              </a:rPr>
              <a:t>Every card links out  </a:t>
            </a:r>
            <a:pPr indent="0" marL="0">
              <a:lnSpc>
                <a:spcPts val="1600"/>
              </a:lnSpc>
              <a:buNone/>
            </a:pPr>
            <a:r>
              <a:rPr lang="en-US" sz="1300" dirty="0">
                <a:solidFill>
                  <a:srgbClr val="6E7C97"/>
                </a:solidFill>
                <a:latin typeface="Calibri" pitchFamily="34" charset="0"/>
                <a:ea typeface="Calibri" pitchFamily="34" charset="-122"/>
                <a:cs typeface="Calibri" pitchFamily="34" charset="-120"/>
              </a:rPr>
              <a:t>— A button sends the shopper to Amazon, Bookshop.org, or a destination site.</a:t>
            </a:r>
            <a:endParaRPr lang="en-US" sz="1400" dirty="0"/>
          </a:p>
        </p:txBody>
      </p:sp>
      <p:sp>
        <p:nvSpPr>
          <p:cNvPr id="11" name="Shape 9"/>
          <p:cNvSpPr/>
          <p:nvPr/>
        </p:nvSpPr>
        <p:spPr>
          <a:xfrm>
            <a:off x="566928" y="4453128"/>
            <a:ext cx="310896" cy="310896"/>
          </a:xfrm>
          <a:prstGeom prst="ellipse">
            <a:avLst/>
          </a:prstGeom>
          <a:solidFill>
            <a:srgbClr val="2D4880"/>
          </a:solidFill>
          <a:ln/>
        </p:spPr>
      </p:sp>
      <p:sp>
        <p:nvSpPr>
          <p:cNvPr id="12" name="Shape 10"/>
          <p:cNvSpPr/>
          <p:nvPr/>
        </p:nvSpPr>
        <p:spPr>
          <a:xfrm>
            <a:off x="667512" y="4553712"/>
            <a:ext cx="109728" cy="109728"/>
          </a:xfrm>
          <a:prstGeom prst="roundRect">
            <a:avLst>
              <a:gd name="adj" fmla="val 16667"/>
            </a:avLst>
          </a:prstGeom>
          <a:solidFill>
            <a:srgbClr val="FFFFFF"/>
          </a:solidFill>
          <a:ln/>
        </p:spPr>
      </p:sp>
      <p:sp>
        <p:nvSpPr>
          <p:cNvPr id="13" name="Text 11"/>
          <p:cNvSpPr/>
          <p:nvPr/>
        </p:nvSpPr>
        <p:spPr>
          <a:xfrm>
            <a:off x="1024128" y="4389120"/>
            <a:ext cx="4800600" cy="548640"/>
          </a:xfrm>
          <a:prstGeom prst="rect">
            <a:avLst/>
          </a:prstGeom>
          <a:noFill/>
          <a:ln/>
        </p:spPr>
        <p:txBody>
          <a:bodyPr wrap="square" lIns="0" tIns="0" rIns="0" bIns="0" rtlCol="0" anchor="t"/>
          <a:lstStyle/>
          <a:p>
            <a:pPr indent="0" marL="0">
              <a:lnSpc>
                <a:spcPts val="1600"/>
              </a:lnSpc>
              <a:buNone/>
            </a:pPr>
            <a:r>
              <a:rPr lang="en-US" sz="1400" b="1" dirty="0">
                <a:solidFill>
                  <a:srgbClr val="2D4880"/>
                </a:solidFill>
                <a:latin typeface="Calibri" pitchFamily="34" charset="0"/>
                <a:ea typeface="Calibri" pitchFamily="34" charset="-122"/>
                <a:cs typeface="Calibri" pitchFamily="34" charset="-120"/>
              </a:rPr>
              <a:t>Only LIVE gifts show  </a:t>
            </a:r>
            <a:pPr indent="0" marL="0">
              <a:lnSpc>
                <a:spcPts val="1600"/>
              </a:lnSpc>
              <a:buNone/>
            </a:pPr>
            <a:r>
              <a:rPr lang="en-US" sz="1300" dirty="0">
                <a:solidFill>
                  <a:srgbClr val="6E7C97"/>
                </a:solidFill>
                <a:latin typeface="Calibri" pitchFamily="34" charset="0"/>
                <a:ea typeface="Calibri" pitchFamily="34" charset="-122"/>
                <a:cs typeface="Calibri" pitchFamily="34" charset="-120"/>
              </a:rPr>
              <a:t>— The public shop displays gifts you’ve marked Live — nothing else.</a:t>
            </a:r>
            <a:endParaRPr lang="en-US" sz="1400" dirty="0"/>
          </a:p>
        </p:txBody>
      </p:sp>
      <p:sp>
        <p:nvSpPr>
          <p:cNvPr id="14" name="Shape 12"/>
          <p:cNvSpPr/>
          <p:nvPr/>
        </p:nvSpPr>
        <p:spPr>
          <a:xfrm>
            <a:off x="6400800" y="1554480"/>
            <a:ext cx="5212080" cy="4160520"/>
          </a:xfrm>
          <a:prstGeom prst="roundRect">
            <a:avLst>
              <a:gd name="adj" fmla="val 2198"/>
            </a:avLst>
          </a:prstGeom>
          <a:solidFill>
            <a:srgbClr val="FBFAF3"/>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5" name="Text 13"/>
          <p:cNvSpPr/>
          <p:nvPr/>
        </p:nvSpPr>
        <p:spPr>
          <a:xfrm>
            <a:off x="6400800" y="1700784"/>
            <a:ext cx="5212080" cy="274320"/>
          </a:xfrm>
          <a:prstGeom prst="rect">
            <a:avLst/>
          </a:prstGeom>
          <a:noFill/>
          <a:ln/>
        </p:spPr>
        <p:txBody>
          <a:bodyPr wrap="square" lIns="0" tIns="0" rIns="0" bIns="0" rtlCol="0" anchor="ctr"/>
          <a:lstStyle/>
          <a:p>
            <a:pPr algn="ctr" indent="0" marL="0">
              <a:buNone/>
            </a:pPr>
            <a:r>
              <a:rPr lang="en-US" sz="1050" b="1" spc="200" kern="0" dirty="0">
                <a:solidFill>
                  <a:srgbClr val="6E7C97"/>
                </a:solidFill>
                <a:latin typeface="Calibri" pitchFamily="34" charset="0"/>
                <a:ea typeface="Calibri" pitchFamily="34" charset="-122"/>
                <a:cs typeface="Calibri" pitchFamily="34" charset="-120"/>
              </a:rPr>
              <a:t>PUBLIC GIFT CARD</a:t>
            </a:r>
            <a:endParaRPr lang="en-US" sz="1050" dirty="0"/>
          </a:p>
        </p:txBody>
      </p:sp>
      <p:sp>
        <p:nvSpPr>
          <p:cNvPr id="16" name="Shape 14"/>
          <p:cNvSpPr/>
          <p:nvPr/>
        </p:nvSpPr>
        <p:spPr>
          <a:xfrm>
            <a:off x="6720840" y="2103120"/>
            <a:ext cx="4572000" cy="1691640"/>
          </a:xfrm>
          <a:prstGeom prst="roundRect">
            <a:avLst>
              <a:gd name="adj" fmla="val 3243"/>
            </a:avLst>
          </a:prstGeom>
          <a:solidFill>
            <a:srgbClr val="1B2433"/>
          </a:solidFill>
          <a:ln/>
        </p:spPr>
      </p:sp>
      <p:sp>
        <p:nvSpPr>
          <p:cNvPr id="17" name="Text 15"/>
          <p:cNvSpPr/>
          <p:nvPr/>
        </p:nvSpPr>
        <p:spPr>
          <a:xfrm>
            <a:off x="6720840" y="2103120"/>
            <a:ext cx="4572000" cy="1691640"/>
          </a:xfrm>
          <a:prstGeom prst="rect">
            <a:avLst/>
          </a:prstGeom>
          <a:noFill/>
          <a:ln/>
        </p:spPr>
        <p:txBody>
          <a:bodyPr wrap="square" lIns="0" tIns="0" rIns="0" bIns="0" rtlCol="0" anchor="ctr"/>
          <a:lstStyle/>
          <a:p>
            <a:pPr algn="ctr" indent="0" marL="0">
              <a:buNone/>
            </a:pPr>
            <a:r>
              <a:rPr lang="en-US" sz="1200" spc="200" kern="0" dirty="0">
                <a:solidFill>
                  <a:srgbClr val="7E8BA6"/>
                </a:solidFill>
                <a:latin typeface="Calibri" pitchFamily="34" charset="0"/>
                <a:ea typeface="Calibri" pitchFamily="34" charset="-122"/>
                <a:cs typeface="Calibri" pitchFamily="34" charset="-120"/>
              </a:rPr>
              <a:t>PRODUCT  IMAGE</a:t>
            </a:r>
            <a:endParaRPr lang="en-US" sz="1200" dirty="0"/>
          </a:p>
        </p:txBody>
      </p:sp>
      <p:sp>
        <p:nvSpPr>
          <p:cNvPr id="18" name="Shape 16"/>
          <p:cNvSpPr/>
          <p:nvPr/>
        </p:nvSpPr>
        <p:spPr>
          <a:xfrm>
            <a:off x="6720840" y="2212848"/>
            <a:ext cx="1051560" cy="310896"/>
          </a:xfrm>
          <a:prstGeom prst="roundRect">
            <a:avLst>
              <a:gd name="adj" fmla="val 50000"/>
            </a:avLst>
          </a:prstGeom>
          <a:solidFill>
            <a:srgbClr val="C23737"/>
          </a:solidFill>
          <a:ln/>
        </p:spPr>
      </p:sp>
      <p:sp>
        <p:nvSpPr>
          <p:cNvPr id="19" name="Text 17"/>
          <p:cNvSpPr/>
          <p:nvPr/>
        </p:nvSpPr>
        <p:spPr>
          <a:xfrm>
            <a:off x="6720840" y="2212848"/>
            <a:ext cx="10515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NEW ORLEANS</a:t>
            </a:r>
            <a:endParaRPr lang="en-US" sz="1100" dirty="0"/>
          </a:p>
        </p:txBody>
      </p:sp>
      <p:sp>
        <p:nvSpPr>
          <p:cNvPr id="20" name="Text 18"/>
          <p:cNvSpPr/>
          <p:nvPr/>
        </p:nvSpPr>
        <p:spPr>
          <a:xfrm>
            <a:off x="6766560" y="3931920"/>
            <a:ext cx="4480560" cy="365760"/>
          </a:xfrm>
          <a:prstGeom prst="rect">
            <a:avLst/>
          </a:prstGeom>
          <a:noFill/>
          <a:ln/>
        </p:spPr>
        <p:txBody>
          <a:bodyPr wrap="square" lIns="0" tIns="0" rIns="0" bIns="0" rtlCol="0" anchor="ctr"/>
          <a:lstStyle/>
          <a:p>
            <a:pPr indent="0" marL="0">
              <a:buNone/>
            </a:pPr>
            <a:r>
              <a:rPr lang="en-US" sz="1900" b="1" dirty="0">
                <a:solidFill>
                  <a:srgbClr val="243449"/>
                </a:solidFill>
                <a:latin typeface="Cambria" pitchFamily="34" charset="0"/>
                <a:ea typeface="Cambria" pitchFamily="34" charset="-122"/>
                <a:cs typeface="Cambria" pitchFamily="34" charset="-120"/>
              </a:rPr>
              <a:t>Field Notebook</a:t>
            </a:r>
            <a:endParaRPr lang="en-US" sz="1900" dirty="0"/>
          </a:p>
        </p:txBody>
      </p:sp>
      <p:sp>
        <p:nvSpPr>
          <p:cNvPr id="21" name="Text 19"/>
          <p:cNvSpPr/>
          <p:nvPr/>
        </p:nvSpPr>
        <p:spPr>
          <a:xfrm>
            <a:off x="6766560" y="4315968"/>
            <a:ext cx="4480560" cy="640080"/>
          </a:xfrm>
          <a:prstGeom prst="rect">
            <a:avLst/>
          </a:prstGeom>
          <a:noFill/>
          <a:ln/>
        </p:spPr>
        <p:txBody>
          <a:bodyPr wrap="square" lIns="0" tIns="0" rIns="0" bIns="0" rtlCol="0" anchor="ctr"/>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A short blurb the shopper reads under the title — what it is and why it fits the city.</a:t>
            </a:r>
            <a:endParaRPr lang="en-US" sz="1250" dirty="0"/>
          </a:p>
        </p:txBody>
      </p:sp>
      <p:sp>
        <p:nvSpPr>
          <p:cNvPr id="22" name="Shape 20"/>
          <p:cNvSpPr/>
          <p:nvPr/>
        </p:nvSpPr>
        <p:spPr>
          <a:xfrm>
            <a:off x="6766560" y="4956048"/>
            <a:ext cx="2651760" cy="502920"/>
          </a:xfrm>
          <a:prstGeom prst="roundRect">
            <a:avLst>
              <a:gd name="adj" fmla="val 50909"/>
            </a:avLst>
          </a:prstGeom>
          <a:solidFill>
            <a:srgbClr val="2D4880"/>
          </a:solidFill>
          <a:ln/>
          <a:effectLst>
            <a:outerShdw sx="100000" sy="100000" kx="0" ky="0" algn="bl" rotWithShape="0" blurRad="114300" dist="50800" dir="5400000">
              <a:srgbClr val="1F3A6B">
                <a:alpha val="20000"/>
              </a:srgbClr>
            </a:outerShdw>
          </a:effectLst>
        </p:spPr>
      </p:sp>
      <p:sp>
        <p:nvSpPr>
          <p:cNvPr id="23" name="Text 21"/>
          <p:cNvSpPr/>
          <p:nvPr/>
        </p:nvSpPr>
        <p:spPr>
          <a:xfrm>
            <a:off x="6766560" y="4956048"/>
            <a:ext cx="2651760" cy="502920"/>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VIEW ON BOOKSHOP  →</a:t>
            </a:r>
            <a:endParaRPr lang="en-US" sz="1250" dirty="0"/>
          </a:p>
        </p:txBody>
      </p:sp>
      <p:sp>
        <p:nvSpPr>
          <p:cNvPr id="24" name="Text 22"/>
          <p:cNvSpPr/>
          <p:nvPr/>
        </p:nvSpPr>
        <p:spPr>
          <a:xfrm>
            <a:off x="6400800" y="5230368"/>
            <a:ext cx="5212080" cy="274320"/>
          </a:xfrm>
          <a:prstGeom prst="rect">
            <a:avLst/>
          </a:prstGeom>
          <a:noFill/>
          <a:ln/>
        </p:spPr>
        <p:txBody>
          <a:bodyPr wrap="square" lIns="0" tIns="0" rIns="0" bIns="0" rtlCol="0" anchor="ctr"/>
          <a:lstStyle/>
          <a:p>
            <a:pPr algn="ctr" indent="0" marL="0">
              <a:buNone/>
            </a:pPr>
            <a:r>
              <a:rPr lang="en-US" sz="1050" i="1" dirty="0">
                <a:solidFill>
                  <a:srgbClr val="6E7C97"/>
                </a:solidFill>
                <a:latin typeface="Calibri" pitchFamily="34" charset="0"/>
                <a:ea typeface="Calibri" pitchFamily="34" charset="-122"/>
                <a:cs typeface="Calibri" pitchFamily="34" charset="-120"/>
              </a:rPr>
              <a:t>Everything on this card is set in the Stock Room.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THE ADMIN TOOL</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Meet the Stock Room</a:t>
            </a:r>
            <a:endParaRPr lang="en-US" sz="3400" dirty="0"/>
          </a:p>
        </p:txBody>
      </p:sp>
      <p:sp>
        <p:nvSpPr>
          <p:cNvPr id="4" name="Text 2"/>
          <p:cNvSpPr/>
          <p:nvPr/>
        </p:nvSpPr>
        <p:spPr>
          <a:xfrm>
            <a:off x="548640" y="1554480"/>
            <a:ext cx="11064240" cy="640080"/>
          </a:xfrm>
          <a:prstGeom prst="rect">
            <a:avLst/>
          </a:prstGeom>
          <a:noFill/>
          <a:ln/>
        </p:spPr>
        <p:txBody>
          <a:bodyPr wrap="square" lIns="0" tIns="0" rIns="0" bIns="0" rtlCol="0" anchor="t"/>
          <a:lstStyle/>
          <a:p>
            <a:pPr indent="0" marL="0">
              <a:lnSpc>
                <a:spcPts val="2100"/>
              </a:lnSpc>
              <a:buNone/>
            </a:pPr>
            <a:r>
              <a:rPr lang="en-US" sz="1400" b="1" dirty="0">
                <a:solidFill>
                  <a:srgbClr val="C23737"/>
                </a:solidFill>
                <a:latin typeface="Calibri" pitchFamily="34" charset="0"/>
                <a:ea typeface="Calibri" pitchFamily="34" charset="-122"/>
                <a:cs typeface="Calibri" pitchFamily="34" charset="-120"/>
              </a:rPr>
              <a:t>/shop/admin/</a:t>
            </a:r>
            <a:pPr indent="0" marL="0">
              <a:lnSpc>
                <a:spcPts val="2100"/>
              </a:lnSpc>
              <a:buNone/>
            </a:pPr>
            <a:r>
              <a:rPr lang="en-US" sz="1500" dirty="0">
                <a:solidFill>
                  <a:srgbClr val="243449"/>
                </a:solidFill>
                <a:latin typeface="Calibri" pitchFamily="34" charset="0"/>
                <a:ea typeface="Calibri" pitchFamily="34" charset="-122"/>
                <a:cs typeface="Calibri" pitchFamily="34" charset="-120"/>
              </a:rPr>
              <a:t>  is where the whole catalog is managed. One gift, one card. You edit the fields, choose a status, pick which cities it shows in, and save.</a:t>
            </a:r>
            <a:endParaRPr lang="en-US" sz="1400" dirty="0"/>
          </a:p>
        </p:txBody>
      </p:sp>
      <p:sp>
        <p:nvSpPr>
          <p:cNvPr id="5" name="Shape 3"/>
          <p:cNvSpPr/>
          <p:nvPr/>
        </p:nvSpPr>
        <p:spPr>
          <a:xfrm>
            <a:off x="548640" y="2514600"/>
            <a:ext cx="2670048" cy="2514600"/>
          </a:xfrm>
          <a:prstGeom prst="roundRect">
            <a:avLst>
              <a:gd name="adj" fmla="val 363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6" name="Shape 4"/>
          <p:cNvSpPr/>
          <p:nvPr/>
        </p:nvSpPr>
        <p:spPr>
          <a:xfrm>
            <a:off x="804672" y="2788920"/>
            <a:ext cx="384048" cy="384048"/>
          </a:xfrm>
          <a:prstGeom prst="roundRect">
            <a:avLst>
              <a:gd name="adj" fmla="val 19048"/>
            </a:avLst>
          </a:prstGeom>
          <a:solidFill>
            <a:srgbClr val="C23737"/>
          </a:solidFill>
          <a:ln/>
          <a:effectLst>
            <a:outerShdw sx="100000" sy="100000" kx="0" ky="0" algn="bl" rotWithShape="0" blurRad="114300" dist="50800" dir="5400000">
              <a:srgbClr val="1F3A6B">
                <a:alpha val="25000"/>
              </a:srgbClr>
            </a:outerShdw>
          </a:effectLst>
        </p:spPr>
      </p:sp>
      <p:sp>
        <p:nvSpPr>
          <p:cNvPr id="7" name="Text 5"/>
          <p:cNvSpPr/>
          <p:nvPr/>
        </p:nvSpPr>
        <p:spPr>
          <a:xfrm>
            <a:off x="804672" y="27889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804672" y="3383280"/>
            <a:ext cx="2157984" cy="411480"/>
          </a:xfrm>
          <a:prstGeom prst="rect">
            <a:avLst/>
          </a:prstGeom>
          <a:noFill/>
          <a:ln/>
        </p:spPr>
        <p:txBody>
          <a:bodyPr wrap="square" lIns="0" tIns="0" rIns="0" bIns="0" rtlCol="0" anchor="ctr"/>
          <a:lstStyle/>
          <a:p>
            <a:pPr indent="0" marL="0">
              <a:buNone/>
            </a:pPr>
            <a:r>
              <a:rPr lang="en-US" sz="1800" b="1" dirty="0">
                <a:solidFill>
                  <a:srgbClr val="2D4880"/>
                </a:solidFill>
                <a:latin typeface="Cambria" pitchFamily="34" charset="0"/>
                <a:ea typeface="Cambria" pitchFamily="34" charset="-122"/>
                <a:cs typeface="Cambria" pitchFamily="34" charset="-120"/>
              </a:rPr>
              <a:t>Sign in</a:t>
            </a:r>
            <a:endParaRPr lang="en-US" sz="1800" dirty="0"/>
          </a:p>
        </p:txBody>
      </p:sp>
      <p:sp>
        <p:nvSpPr>
          <p:cNvPr id="9" name="Text 7"/>
          <p:cNvSpPr/>
          <p:nvPr/>
        </p:nvSpPr>
        <p:spPr>
          <a:xfrm>
            <a:off x="804672" y="3813048"/>
            <a:ext cx="2157984" cy="1097280"/>
          </a:xfrm>
          <a:prstGeom prst="rect">
            <a:avLst/>
          </a:prstGeom>
          <a:noFill/>
          <a:ln/>
        </p:spPr>
        <p:txBody>
          <a:bodyPr wrap="square" lIns="0" tIns="0" rIns="0" bIns="0" rtlCol="0" anchor="t"/>
          <a:lstStyle/>
          <a:p>
            <a:pPr indent="0" marL="0">
              <a:lnSpc>
                <a:spcPts val="1700"/>
              </a:lnSpc>
              <a:buNone/>
            </a:pPr>
            <a:r>
              <a:rPr lang="en-US" sz="1300" dirty="0">
                <a:solidFill>
                  <a:srgbClr val="6E7C97"/>
                </a:solidFill>
                <a:latin typeface="Calibri" pitchFamily="34" charset="0"/>
                <a:ea typeface="Calibri" pitchFamily="34" charset="-122"/>
                <a:cs typeface="Calibri" pitchFamily="34" charset="-120"/>
              </a:rPr>
              <a:t>Click ADMIN LOGON. Controls stay disabled until you’re authenticated.</a:t>
            </a:r>
            <a:endParaRPr lang="en-US" sz="1300" dirty="0"/>
          </a:p>
        </p:txBody>
      </p:sp>
      <p:sp>
        <p:nvSpPr>
          <p:cNvPr id="10" name="Shape 8"/>
          <p:cNvSpPr/>
          <p:nvPr/>
        </p:nvSpPr>
        <p:spPr>
          <a:xfrm>
            <a:off x="3392424" y="2514600"/>
            <a:ext cx="2670048" cy="2514600"/>
          </a:xfrm>
          <a:prstGeom prst="roundRect">
            <a:avLst>
              <a:gd name="adj" fmla="val 363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1" name="Shape 9"/>
          <p:cNvSpPr/>
          <p:nvPr/>
        </p:nvSpPr>
        <p:spPr>
          <a:xfrm>
            <a:off x="3648456" y="2788920"/>
            <a:ext cx="384048" cy="384048"/>
          </a:xfrm>
          <a:prstGeom prst="roundRect">
            <a:avLst>
              <a:gd name="adj" fmla="val 19048"/>
            </a:avLst>
          </a:prstGeom>
          <a:solidFill>
            <a:srgbClr val="C23737"/>
          </a:solidFill>
          <a:ln/>
          <a:effectLst>
            <a:outerShdw sx="100000" sy="100000" kx="0" ky="0" algn="bl" rotWithShape="0" blurRad="114300" dist="50800" dir="5400000">
              <a:srgbClr val="1F3A6B">
                <a:alpha val="25000"/>
              </a:srgbClr>
            </a:outerShdw>
          </a:effectLst>
        </p:spPr>
      </p:sp>
      <p:sp>
        <p:nvSpPr>
          <p:cNvPr id="12" name="Text 10"/>
          <p:cNvSpPr/>
          <p:nvPr/>
        </p:nvSpPr>
        <p:spPr>
          <a:xfrm>
            <a:off x="3648456" y="27889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3648456" y="3383280"/>
            <a:ext cx="2157984" cy="411480"/>
          </a:xfrm>
          <a:prstGeom prst="rect">
            <a:avLst/>
          </a:prstGeom>
          <a:noFill/>
          <a:ln/>
        </p:spPr>
        <p:txBody>
          <a:bodyPr wrap="square" lIns="0" tIns="0" rIns="0" bIns="0" rtlCol="0" anchor="ctr"/>
          <a:lstStyle/>
          <a:p>
            <a:pPr indent="0" marL="0">
              <a:buNone/>
            </a:pPr>
            <a:r>
              <a:rPr lang="en-US" sz="1800" b="1" dirty="0">
                <a:solidFill>
                  <a:srgbClr val="2D4880"/>
                </a:solidFill>
                <a:latin typeface="Cambria" pitchFamily="34" charset="0"/>
                <a:ea typeface="Cambria" pitchFamily="34" charset="-122"/>
                <a:cs typeface="Cambria" pitchFamily="34" charset="-120"/>
              </a:rPr>
              <a:t>Find a gift</a:t>
            </a:r>
            <a:endParaRPr lang="en-US" sz="1800" dirty="0"/>
          </a:p>
        </p:txBody>
      </p:sp>
      <p:sp>
        <p:nvSpPr>
          <p:cNvPr id="14" name="Text 12"/>
          <p:cNvSpPr/>
          <p:nvPr/>
        </p:nvSpPr>
        <p:spPr>
          <a:xfrm>
            <a:off x="3648456" y="3813048"/>
            <a:ext cx="2157984" cy="1097280"/>
          </a:xfrm>
          <a:prstGeom prst="rect">
            <a:avLst/>
          </a:prstGeom>
          <a:noFill/>
          <a:ln/>
        </p:spPr>
        <p:txBody>
          <a:bodyPr wrap="square" lIns="0" tIns="0" rIns="0" bIns="0" rtlCol="0" anchor="t"/>
          <a:lstStyle/>
          <a:p>
            <a:pPr indent="0" marL="0">
              <a:lnSpc>
                <a:spcPts val="1700"/>
              </a:lnSpc>
              <a:buNone/>
            </a:pPr>
            <a:r>
              <a:rPr lang="en-US" sz="1300" dirty="0">
                <a:solidFill>
                  <a:srgbClr val="6E7C97"/>
                </a:solidFill>
                <a:latin typeface="Calibri" pitchFamily="34" charset="0"/>
                <a:ea typeface="Calibri" pitchFamily="34" charset="-122"/>
                <a:cs typeface="Calibri" pitchFamily="34" charset="-120"/>
              </a:rPr>
              <a:t>Search, filter by city or status, and sort the list.</a:t>
            </a:r>
            <a:endParaRPr lang="en-US" sz="1300" dirty="0"/>
          </a:p>
        </p:txBody>
      </p:sp>
      <p:sp>
        <p:nvSpPr>
          <p:cNvPr id="15" name="Shape 13"/>
          <p:cNvSpPr/>
          <p:nvPr/>
        </p:nvSpPr>
        <p:spPr>
          <a:xfrm>
            <a:off x="6236208" y="2514600"/>
            <a:ext cx="2670048" cy="2514600"/>
          </a:xfrm>
          <a:prstGeom prst="roundRect">
            <a:avLst>
              <a:gd name="adj" fmla="val 363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6" name="Shape 14"/>
          <p:cNvSpPr/>
          <p:nvPr/>
        </p:nvSpPr>
        <p:spPr>
          <a:xfrm>
            <a:off x="6492240" y="2788920"/>
            <a:ext cx="384048" cy="384048"/>
          </a:xfrm>
          <a:prstGeom prst="roundRect">
            <a:avLst>
              <a:gd name="adj" fmla="val 19048"/>
            </a:avLst>
          </a:prstGeom>
          <a:solidFill>
            <a:srgbClr val="C23737"/>
          </a:solidFill>
          <a:ln/>
          <a:effectLst>
            <a:outerShdw sx="100000" sy="100000" kx="0" ky="0" algn="bl" rotWithShape="0" blurRad="114300" dist="50800" dir="5400000">
              <a:srgbClr val="1F3A6B">
                <a:alpha val="25000"/>
              </a:srgbClr>
            </a:outerShdw>
          </a:effectLst>
        </p:spPr>
      </p:sp>
      <p:sp>
        <p:nvSpPr>
          <p:cNvPr id="17" name="Text 15"/>
          <p:cNvSpPr/>
          <p:nvPr/>
        </p:nvSpPr>
        <p:spPr>
          <a:xfrm>
            <a:off x="6492240" y="27889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6492240" y="3383280"/>
            <a:ext cx="2157984" cy="411480"/>
          </a:xfrm>
          <a:prstGeom prst="rect">
            <a:avLst/>
          </a:prstGeom>
          <a:noFill/>
          <a:ln/>
        </p:spPr>
        <p:txBody>
          <a:bodyPr wrap="square" lIns="0" tIns="0" rIns="0" bIns="0" rtlCol="0" anchor="ctr"/>
          <a:lstStyle/>
          <a:p>
            <a:pPr indent="0" marL="0">
              <a:buNone/>
            </a:pPr>
            <a:r>
              <a:rPr lang="en-US" sz="1800" b="1" dirty="0">
                <a:solidFill>
                  <a:srgbClr val="2D4880"/>
                </a:solidFill>
                <a:latin typeface="Cambria" pitchFamily="34" charset="0"/>
                <a:ea typeface="Cambria" pitchFamily="34" charset="-122"/>
                <a:cs typeface="Cambria" pitchFamily="34" charset="-120"/>
              </a:rPr>
              <a:t>Edit the card</a:t>
            </a:r>
            <a:endParaRPr lang="en-US" sz="1800" dirty="0"/>
          </a:p>
        </p:txBody>
      </p:sp>
      <p:sp>
        <p:nvSpPr>
          <p:cNvPr id="19" name="Text 17"/>
          <p:cNvSpPr/>
          <p:nvPr/>
        </p:nvSpPr>
        <p:spPr>
          <a:xfrm>
            <a:off x="6492240" y="3813048"/>
            <a:ext cx="2157984" cy="1097280"/>
          </a:xfrm>
          <a:prstGeom prst="rect">
            <a:avLst/>
          </a:prstGeom>
          <a:noFill/>
          <a:ln/>
        </p:spPr>
        <p:txBody>
          <a:bodyPr wrap="square" lIns="0" tIns="0" rIns="0" bIns="0" rtlCol="0" anchor="t"/>
          <a:lstStyle/>
          <a:p>
            <a:pPr indent="0" marL="0">
              <a:lnSpc>
                <a:spcPts val="1700"/>
              </a:lnSpc>
              <a:buNone/>
            </a:pPr>
            <a:r>
              <a:rPr lang="en-US" sz="1300" dirty="0">
                <a:solidFill>
                  <a:srgbClr val="6E7C97"/>
                </a:solidFill>
                <a:latin typeface="Calibri" pitchFamily="34" charset="0"/>
                <a:ea typeface="Calibri" pitchFamily="34" charset="-122"/>
                <a:cs typeface="Calibri" pitchFamily="34" charset="-120"/>
              </a:rPr>
              <a:t>Image, Details, Verify, Shops — all on one card.</a:t>
            </a:r>
            <a:endParaRPr lang="en-US" sz="1300" dirty="0"/>
          </a:p>
        </p:txBody>
      </p:sp>
      <p:sp>
        <p:nvSpPr>
          <p:cNvPr id="20" name="Shape 18"/>
          <p:cNvSpPr/>
          <p:nvPr/>
        </p:nvSpPr>
        <p:spPr>
          <a:xfrm>
            <a:off x="9079992" y="2514600"/>
            <a:ext cx="2670048" cy="2514600"/>
          </a:xfrm>
          <a:prstGeom prst="roundRect">
            <a:avLst>
              <a:gd name="adj" fmla="val 363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1" name="Shape 19"/>
          <p:cNvSpPr/>
          <p:nvPr/>
        </p:nvSpPr>
        <p:spPr>
          <a:xfrm>
            <a:off x="9336024" y="2788920"/>
            <a:ext cx="384048" cy="384048"/>
          </a:xfrm>
          <a:prstGeom prst="roundRect">
            <a:avLst>
              <a:gd name="adj" fmla="val 19048"/>
            </a:avLst>
          </a:prstGeom>
          <a:solidFill>
            <a:srgbClr val="C23737"/>
          </a:solidFill>
          <a:ln/>
          <a:effectLst>
            <a:outerShdw sx="100000" sy="100000" kx="0" ky="0" algn="bl" rotWithShape="0" blurRad="114300" dist="50800" dir="5400000">
              <a:srgbClr val="1F3A6B">
                <a:alpha val="25000"/>
              </a:srgbClr>
            </a:outerShdw>
          </a:effectLst>
        </p:spPr>
      </p:sp>
      <p:sp>
        <p:nvSpPr>
          <p:cNvPr id="22" name="Text 20"/>
          <p:cNvSpPr/>
          <p:nvPr/>
        </p:nvSpPr>
        <p:spPr>
          <a:xfrm>
            <a:off x="9336024" y="27889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9336024" y="3383280"/>
            <a:ext cx="2157984" cy="411480"/>
          </a:xfrm>
          <a:prstGeom prst="rect">
            <a:avLst/>
          </a:prstGeom>
          <a:noFill/>
          <a:ln/>
        </p:spPr>
        <p:txBody>
          <a:bodyPr wrap="square" lIns="0" tIns="0" rIns="0" bIns="0" rtlCol="0" anchor="ctr"/>
          <a:lstStyle/>
          <a:p>
            <a:pPr indent="0" marL="0">
              <a:buNone/>
            </a:pPr>
            <a:r>
              <a:rPr lang="en-US" sz="1800" b="1" dirty="0">
                <a:solidFill>
                  <a:srgbClr val="2D4880"/>
                </a:solidFill>
                <a:latin typeface="Cambria" pitchFamily="34" charset="0"/>
                <a:ea typeface="Cambria" pitchFamily="34" charset="-122"/>
                <a:cs typeface="Cambria" pitchFamily="34" charset="-120"/>
              </a:rPr>
              <a:t>Set status &amp; save</a:t>
            </a:r>
            <a:endParaRPr lang="en-US" sz="1800" dirty="0"/>
          </a:p>
        </p:txBody>
      </p:sp>
      <p:sp>
        <p:nvSpPr>
          <p:cNvPr id="24" name="Text 22"/>
          <p:cNvSpPr/>
          <p:nvPr/>
        </p:nvSpPr>
        <p:spPr>
          <a:xfrm>
            <a:off x="9336024" y="3813048"/>
            <a:ext cx="2157984" cy="1097280"/>
          </a:xfrm>
          <a:prstGeom prst="rect">
            <a:avLst/>
          </a:prstGeom>
          <a:noFill/>
          <a:ln/>
        </p:spPr>
        <p:txBody>
          <a:bodyPr wrap="square" lIns="0" tIns="0" rIns="0" bIns="0" rtlCol="0" anchor="t"/>
          <a:lstStyle/>
          <a:p>
            <a:pPr indent="0" marL="0">
              <a:lnSpc>
                <a:spcPts val="1700"/>
              </a:lnSpc>
              <a:buNone/>
            </a:pPr>
            <a:r>
              <a:rPr lang="en-US" sz="1300" dirty="0">
                <a:solidFill>
                  <a:srgbClr val="6E7C97"/>
                </a:solidFill>
                <a:latin typeface="Calibri" pitchFamily="34" charset="0"/>
                <a:ea typeface="Calibri" pitchFamily="34" charset="-122"/>
                <a:cs typeface="Calibri" pitchFamily="34" charset="-120"/>
              </a:rPr>
              <a:t>Review → Live → Shelved, then SAVE. Live gifts go public.</a:t>
            </a:r>
            <a:endParaRPr lang="en-US" sz="1300" dirty="0"/>
          </a:p>
        </p:txBody>
      </p:sp>
      <p:sp>
        <p:nvSpPr>
          <p:cNvPr id="25" name="Text 23"/>
          <p:cNvSpPr/>
          <p:nvPr/>
        </p:nvSpPr>
        <p:spPr>
          <a:xfrm>
            <a:off x="548640" y="5257800"/>
            <a:ext cx="11064240" cy="365760"/>
          </a:xfrm>
          <a:prstGeom prst="rect">
            <a:avLst/>
          </a:prstGeom>
          <a:noFill/>
          <a:ln/>
        </p:spPr>
        <p:txBody>
          <a:bodyPr wrap="square" lIns="0" tIns="0" rIns="0" bIns="0" rtlCol="0" anchor="ctr"/>
          <a:lstStyle/>
          <a:p>
            <a:pPr indent="0" marL="0">
              <a:buNone/>
            </a:pPr>
            <a:r>
              <a:rPr lang="en-US" sz="1300" i="1" dirty="0">
                <a:solidFill>
                  <a:srgbClr val="6E7C97"/>
                </a:solidFill>
                <a:latin typeface="Calibri" pitchFamily="34" charset="0"/>
                <a:ea typeface="Calibri" pitchFamily="34" charset="-122"/>
                <a:cs typeface="Calibri" pitchFamily="34" charset="-120"/>
              </a:rPr>
              <a:t>The four things you’ll do every session — the rest of this deck walks each one.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ORIENTATION</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The screen, top to bottom</a:t>
            </a:r>
            <a:endParaRPr lang="en-US" sz="3400" dirty="0"/>
          </a:p>
        </p:txBody>
      </p:sp>
      <p:sp>
        <p:nvSpPr>
          <p:cNvPr id="4" name="Shape 2"/>
          <p:cNvSpPr/>
          <p:nvPr/>
        </p:nvSpPr>
        <p:spPr>
          <a:xfrm>
            <a:off x="548640" y="1600200"/>
            <a:ext cx="5486400" cy="786384"/>
          </a:xfrm>
          <a:prstGeom prst="roundRect">
            <a:avLst>
              <a:gd name="adj" fmla="val 11628"/>
            </a:avLst>
          </a:prstGeom>
          <a:solidFill>
            <a:srgbClr val="EEF1F6"/>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5" name="Shape 3"/>
          <p:cNvSpPr/>
          <p:nvPr/>
        </p:nvSpPr>
        <p:spPr>
          <a:xfrm>
            <a:off x="548640" y="1600200"/>
            <a:ext cx="109728" cy="786384"/>
          </a:xfrm>
          <a:prstGeom prst="roundRect">
            <a:avLst>
              <a:gd name="adj" fmla="val 41667"/>
            </a:avLst>
          </a:prstGeom>
          <a:solidFill>
            <a:srgbClr val="C23737"/>
          </a:solidFill>
          <a:ln/>
        </p:spPr>
      </p:sp>
      <p:sp>
        <p:nvSpPr>
          <p:cNvPr id="6" name="Text 4"/>
          <p:cNvSpPr/>
          <p:nvPr/>
        </p:nvSpPr>
        <p:spPr>
          <a:xfrm>
            <a:off x="804672" y="1691640"/>
            <a:ext cx="5029200" cy="320040"/>
          </a:xfrm>
          <a:prstGeom prst="rect">
            <a:avLst/>
          </a:prstGeom>
          <a:noFill/>
          <a:ln/>
        </p:spPr>
        <p:txBody>
          <a:bodyPr wrap="square" lIns="0" tIns="0" rIns="0" bIns="0" rtlCol="0" anchor="ctr"/>
          <a:lstStyle/>
          <a:p>
            <a:pPr indent="0" marL="0">
              <a:buNone/>
            </a:pPr>
            <a:r>
              <a:rPr lang="en-US" sz="1500" b="1" dirty="0">
                <a:solidFill>
                  <a:srgbClr val="2D4880"/>
                </a:solidFill>
                <a:latin typeface="Cambria" pitchFamily="34" charset="0"/>
                <a:ea typeface="Cambria" pitchFamily="34" charset="-122"/>
                <a:cs typeface="Cambria" pitchFamily="34" charset="-120"/>
              </a:rPr>
              <a:t>ADMIN LOGON / nav</a:t>
            </a:r>
            <a:endParaRPr lang="en-US" sz="1500" dirty="0"/>
          </a:p>
        </p:txBody>
      </p:sp>
      <p:sp>
        <p:nvSpPr>
          <p:cNvPr id="7" name="Text 5"/>
          <p:cNvSpPr/>
          <p:nvPr/>
        </p:nvSpPr>
        <p:spPr>
          <a:xfrm>
            <a:off x="804672" y="2011680"/>
            <a:ext cx="5029200" cy="320040"/>
          </a:xfrm>
          <a:prstGeom prst="rect">
            <a:avLst/>
          </a:prstGeom>
          <a:noFill/>
          <a:ln/>
        </p:spPr>
        <p:txBody>
          <a:bodyPr wrap="square" lIns="0" tIns="0" rIns="0" bIns="0" rtlCol="0" anchor="ctr"/>
          <a:lstStyle/>
          <a:p>
            <a:pPr indent="0" marL="0">
              <a:buNone/>
            </a:pPr>
            <a:r>
              <a:rPr lang="en-US" sz="1200" dirty="0">
                <a:solidFill>
                  <a:srgbClr val="6E7C97"/>
                </a:solidFill>
                <a:latin typeface="Calibri" pitchFamily="34" charset="0"/>
                <a:ea typeface="Calibri" pitchFamily="34" charset="-122"/>
                <a:cs typeface="Calibri" pitchFamily="34" charset="-120"/>
              </a:rPr>
              <a:t>Top-right. Sign in, jump to other admin pages.</a:t>
            </a:r>
            <a:endParaRPr lang="en-US" sz="1200" dirty="0"/>
          </a:p>
        </p:txBody>
      </p:sp>
      <p:sp>
        <p:nvSpPr>
          <p:cNvPr id="8" name="Shape 6"/>
          <p:cNvSpPr/>
          <p:nvPr/>
        </p:nvSpPr>
        <p:spPr>
          <a:xfrm>
            <a:off x="548640" y="2496312"/>
            <a:ext cx="5486400" cy="786384"/>
          </a:xfrm>
          <a:prstGeom prst="roundRect">
            <a:avLst>
              <a:gd name="adj" fmla="val 11628"/>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9" name="Shape 7"/>
          <p:cNvSpPr/>
          <p:nvPr/>
        </p:nvSpPr>
        <p:spPr>
          <a:xfrm>
            <a:off x="548640" y="2496312"/>
            <a:ext cx="109728" cy="786384"/>
          </a:xfrm>
          <a:prstGeom prst="roundRect">
            <a:avLst>
              <a:gd name="adj" fmla="val 41667"/>
            </a:avLst>
          </a:prstGeom>
          <a:solidFill>
            <a:srgbClr val="2D4880"/>
          </a:solidFill>
          <a:ln/>
        </p:spPr>
      </p:sp>
      <p:sp>
        <p:nvSpPr>
          <p:cNvPr id="10" name="Text 8"/>
          <p:cNvSpPr/>
          <p:nvPr/>
        </p:nvSpPr>
        <p:spPr>
          <a:xfrm>
            <a:off x="804672" y="2587752"/>
            <a:ext cx="5029200" cy="320040"/>
          </a:xfrm>
          <a:prstGeom prst="rect">
            <a:avLst/>
          </a:prstGeom>
          <a:noFill/>
          <a:ln/>
        </p:spPr>
        <p:txBody>
          <a:bodyPr wrap="square" lIns="0" tIns="0" rIns="0" bIns="0" rtlCol="0" anchor="ctr"/>
          <a:lstStyle/>
          <a:p>
            <a:pPr indent="0" marL="0">
              <a:buNone/>
            </a:pPr>
            <a:r>
              <a:rPr lang="en-US" sz="1500" b="1" dirty="0">
                <a:solidFill>
                  <a:srgbClr val="2D4880"/>
                </a:solidFill>
                <a:latin typeface="Cambria" pitchFamily="34" charset="0"/>
                <a:ea typeface="Cambria" pitchFamily="34" charset="-122"/>
                <a:cs typeface="Cambria" pitchFamily="34" charset="-120"/>
              </a:rPr>
              <a:t>GIFT SHOP STOCK ROOM</a:t>
            </a:r>
            <a:endParaRPr lang="en-US" sz="1500" dirty="0"/>
          </a:p>
        </p:txBody>
      </p:sp>
      <p:sp>
        <p:nvSpPr>
          <p:cNvPr id="11" name="Text 9"/>
          <p:cNvSpPr/>
          <p:nvPr/>
        </p:nvSpPr>
        <p:spPr>
          <a:xfrm>
            <a:off x="804672" y="2907792"/>
            <a:ext cx="5029200" cy="320040"/>
          </a:xfrm>
          <a:prstGeom prst="rect">
            <a:avLst/>
          </a:prstGeom>
          <a:noFill/>
          <a:ln/>
        </p:spPr>
        <p:txBody>
          <a:bodyPr wrap="square" lIns="0" tIns="0" rIns="0" bIns="0" rtlCol="0" anchor="ctr"/>
          <a:lstStyle/>
          <a:p>
            <a:pPr indent="0" marL="0">
              <a:buNone/>
            </a:pPr>
            <a:r>
              <a:rPr lang="en-US" sz="1200" dirty="0">
                <a:solidFill>
                  <a:srgbClr val="6E7C97"/>
                </a:solidFill>
                <a:latin typeface="Calibri" pitchFamily="34" charset="0"/>
                <a:ea typeface="Calibri" pitchFamily="34" charset="-122"/>
                <a:cs typeface="Calibri" pitchFamily="34" charset="-120"/>
              </a:rPr>
              <a:t>The title, plus the SAVE ALL CHANGES banner when you have edits.</a:t>
            </a:r>
            <a:endParaRPr lang="en-US" sz="1200" dirty="0"/>
          </a:p>
        </p:txBody>
      </p:sp>
      <p:sp>
        <p:nvSpPr>
          <p:cNvPr id="12" name="Shape 10"/>
          <p:cNvSpPr/>
          <p:nvPr/>
        </p:nvSpPr>
        <p:spPr>
          <a:xfrm>
            <a:off x="548640" y="3392424"/>
            <a:ext cx="5486400" cy="786384"/>
          </a:xfrm>
          <a:prstGeom prst="roundRect">
            <a:avLst>
              <a:gd name="adj" fmla="val 11628"/>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3" name="Shape 11"/>
          <p:cNvSpPr/>
          <p:nvPr/>
        </p:nvSpPr>
        <p:spPr>
          <a:xfrm>
            <a:off x="548640" y="3392424"/>
            <a:ext cx="109728" cy="786384"/>
          </a:xfrm>
          <a:prstGeom prst="roundRect">
            <a:avLst>
              <a:gd name="adj" fmla="val 41667"/>
            </a:avLst>
          </a:prstGeom>
          <a:solidFill>
            <a:srgbClr val="2D4880"/>
          </a:solidFill>
          <a:ln/>
        </p:spPr>
      </p:sp>
      <p:sp>
        <p:nvSpPr>
          <p:cNvPr id="14" name="Text 12"/>
          <p:cNvSpPr/>
          <p:nvPr/>
        </p:nvSpPr>
        <p:spPr>
          <a:xfrm>
            <a:off x="804672" y="3483864"/>
            <a:ext cx="5029200" cy="320040"/>
          </a:xfrm>
          <a:prstGeom prst="rect">
            <a:avLst/>
          </a:prstGeom>
          <a:noFill/>
          <a:ln/>
        </p:spPr>
        <p:txBody>
          <a:bodyPr wrap="square" lIns="0" tIns="0" rIns="0" bIns="0" rtlCol="0" anchor="ctr"/>
          <a:lstStyle/>
          <a:p>
            <a:pPr indent="0" marL="0">
              <a:buNone/>
            </a:pPr>
            <a:r>
              <a:rPr lang="en-US" sz="1500" b="1" dirty="0">
                <a:solidFill>
                  <a:srgbClr val="2D4880"/>
                </a:solidFill>
                <a:latin typeface="Cambria" pitchFamily="34" charset="0"/>
                <a:ea typeface="Cambria" pitchFamily="34" charset="-122"/>
                <a:cs typeface="Cambria" pitchFamily="34" charset="-120"/>
              </a:rPr>
              <a:t>Add  ·  Utility  ·  Sources</a:t>
            </a:r>
            <a:endParaRPr lang="en-US" sz="1500" dirty="0"/>
          </a:p>
        </p:txBody>
      </p:sp>
      <p:sp>
        <p:nvSpPr>
          <p:cNvPr id="15" name="Text 13"/>
          <p:cNvSpPr/>
          <p:nvPr/>
        </p:nvSpPr>
        <p:spPr>
          <a:xfrm>
            <a:off x="804672" y="3803904"/>
            <a:ext cx="5029200" cy="320040"/>
          </a:xfrm>
          <a:prstGeom prst="rect">
            <a:avLst/>
          </a:prstGeom>
          <a:noFill/>
          <a:ln/>
        </p:spPr>
        <p:txBody>
          <a:bodyPr wrap="square" lIns="0" tIns="0" rIns="0" bIns="0" rtlCol="0" anchor="ctr"/>
          <a:lstStyle/>
          <a:p>
            <a:pPr indent="0" marL="0">
              <a:buNone/>
            </a:pPr>
            <a:r>
              <a:rPr lang="en-US" sz="1200" dirty="0">
                <a:solidFill>
                  <a:srgbClr val="6E7C97"/>
                </a:solidFill>
                <a:latin typeface="Calibri" pitchFamily="34" charset="0"/>
                <a:ea typeface="Calibri" pitchFamily="34" charset="-122"/>
                <a:cs typeface="Calibri" pitchFamily="34" charset="-120"/>
              </a:rPr>
              <a:t>Action bar: MANUAL / WITH AI / NIGHTLY, the Issues report, affiliate dashboards.</a:t>
            </a:r>
            <a:endParaRPr lang="en-US" sz="1200" dirty="0"/>
          </a:p>
        </p:txBody>
      </p:sp>
      <p:sp>
        <p:nvSpPr>
          <p:cNvPr id="16" name="Shape 14"/>
          <p:cNvSpPr/>
          <p:nvPr/>
        </p:nvSpPr>
        <p:spPr>
          <a:xfrm>
            <a:off x="548640" y="4288536"/>
            <a:ext cx="5486400" cy="786384"/>
          </a:xfrm>
          <a:prstGeom prst="roundRect">
            <a:avLst>
              <a:gd name="adj" fmla="val 11628"/>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7" name="Shape 15"/>
          <p:cNvSpPr/>
          <p:nvPr/>
        </p:nvSpPr>
        <p:spPr>
          <a:xfrm>
            <a:off x="548640" y="4288536"/>
            <a:ext cx="109728" cy="786384"/>
          </a:xfrm>
          <a:prstGeom prst="roundRect">
            <a:avLst>
              <a:gd name="adj" fmla="val 41667"/>
            </a:avLst>
          </a:prstGeom>
          <a:solidFill>
            <a:srgbClr val="2D4880"/>
          </a:solidFill>
          <a:ln/>
        </p:spPr>
      </p:sp>
      <p:sp>
        <p:nvSpPr>
          <p:cNvPr id="18" name="Text 16"/>
          <p:cNvSpPr/>
          <p:nvPr/>
        </p:nvSpPr>
        <p:spPr>
          <a:xfrm>
            <a:off x="804672" y="4379976"/>
            <a:ext cx="5029200" cy="320040"/>
          </a:xfrm>
          <a:prstGeom prst="rect">
            <a:avLst/>
          </a:prstGeom>
          <a:noFill/>
          <a:ln/>
        </p:spPr>
        <p:txBody>
          <a:bodyPr wrap="square" lIns="0" tIns="0" rIns="0" bIns="0" rtlCol="0" anchor="ctr"/>
          <a:lstStyle/>
          <a:p>
            <a:pPr indent="0" marL="0">
              <a:buNone/>
            </a:pPr>
            <a:r>
              <a:rPr lang="en-US" sz="1500" b="1" dirty="0">
                <a:solidFill>
                  <a:srgbClr val="2D4880"/>
                </a:solidFill>
                <a:latin typeface="Cambria" pitchFamily="34" charset="0"/>
                <a:ea typeface="Cambria" pitchFamily="34" charset="-122"/>
                <a:cs typeface="Cambria" pitchFamily="34" charset="-120"/>
              </a:rPr>
              <a:t>Search, Filter &amp; Sort</a:t>
            </a:r>
            <a:endParaRPr lang="en-US" sz="1500" dirty="0"/>
          </a:p>
        </p:txBody>
      </p:sp>
      <p:sp>
        <p:nvSpPr>
          <p:cNvPr id="19" name="Text 17"/>
          <p:cNvSpPr/>
          <p:nvPr/>
        </p:nvSpPr>
        <p:spPr>
          <a:xfrm>
            <a:off x="804672" y="4700016"/>
            <a:ext cx="5029200" cy="320040"/>
          </a:xfrm>
          <a:prstGeom prst="rect">
            <a:avLst/>
          </a:prstGeom>
          <a:noFill/>
          <a:ln/>
        </p:spPr>
        <p:txBody>
          <a:bodyPr wrap="square" lIns="0" tIns="0" rIns="0" bIns="0" rtlCol="0" anchor="ctr"/>
          <a:lstStyle/>
          <a:p>
            <a:pPr indent="0" marL="0">
              <a:buNone/>
            </a:pPr>
            <a:r>
              <a:rPr lang="en-US" sz="1200" dirty="0">
                <a:solidFill>
                  <a:srgbClr val="6E7C97"/>
                </a:solidFill>
                <a:latin typeface="Calibri" pitchFamily="34" charset="0"/>
                <a:ea typeface="Calibri" pitchFamily="34" charset="-122"/>
                <a:cs typeface="Calibri" pitchFamily="34" charset="-120"/>
              </a:rPr>
              <a:t>Find gifts by text, city, status; sort the list.</a:t>
            </a:r>
            <a:endParaRPr lang="en-US" sz="1200" dirty="0"/>
          </a:p>
        </p:txBody>
      </p:sp>
      <p:sp>
        <p:nvSpPr>
          <p:cNvPr id="20" name="Shape 18"/>
          <p:cNvSpPr/>
          <p:nvPr/>
        </p:nvSpPr>
        <p:spPr>
          <a:xfrm>
            <a:off x="548640" y="5184648"/>
            <a:ext cx="5486400" cy="786384"/>
          </a:xfrm>
          <a:prstGeom prst="roundRect">
            <a:avLst>
              <a:gd name="adj" fmla="val 11628"/>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1" name="Shape 19"/>
          <p:cNvSpPr/>
          <p:nvPr/>
        </p:nvSpPr>
        <p:spPr>
          <a:xfrm>
            <a:off x="548640" y="5184648"/>
            <a:ext cx="109728" cy="786384"/>
          </a:xfrm>
          <a:prstGeom prst="roundRect">
            <a:avLst>
              <a:gd name="adj" fmla="val 41667"/>
            </a:avLst>
          </a:prstGeom>
          <a:solidFill>
            <a:srgbClr val="2F6B3D"/>
          </a:solidFill>
          <a:ln/>
        </p:spPr>
      </p:sp>
      <p:sp>
        <p:nvSpPr>
          <p:cNvPr id="22" name="Text 20"/>
          <p:cNvSpPr/>
          <p:nvPr/>
        </p:nvSpPr>
        <p:spPr>
          <a:xfrm>
            <a:off x="804672" y="5276088"/>
            <a:ext cx="5029200" cy="320040"/>
          </a:xfrm>
          <a:prstGeom prst="rect">
            <a:avLst/>
          </a:prstGeom>
          <a:noFill/>
          <a:ln/>
        </p:spPr>
        <p:txBody>
          <a:bodyPr wrap="square" lIns="0" tIns="0" rIns="0" bIns="0" rtlCol="0" anchor="ctr"/>
          <a:lstStyle/>
          <a:p>
            <a:pPr indent="0" marL="0">
              <a:buNone/>
            </a:pPr>
            <a:r>
              <a:rPr lang="en-US" sz="1500" b="1" dirty="0">
                <a:solidFill>
                  <a:srgbClr val="2D4880"/>
                </a:solidFill>
                <a:latin typeface="Cambria" pitchFamily="34" charset="0"/>
                <a:ea typeface="Cambria" pitchFamily="34" charset="-122"/>
                <a:cs typeface="Cambria" pitchFamily="34" charset="-120"/>
              </a:rPr>
              <a:t>The gift list</a:t>
            </a:r>
            <a:endParaRPr lang="en-US" sz="1500" dirty="0"/>
          </a:p>
        </p:txBody>
      </p:sp>
      <p:sp>
        <p:nvSpPr>
          <p:cNvPr id="23" name="Text 21"/>
          <p:cNvSpPr/>
          <p:nvPr/>
        </p:nvSpPr>
        <p:spPr>
          <a:xfrm>
            <a:off x="804672" y="5596128"/>
            <a:ext cx="5029200" cy="320040"/>
          </a:xfrm>
          <a:prstGeom prst="rect">
            <a:avLst/>
          </a:prstGeom>
          <a:noFill/>
          <a:ln/>
        </p:spPr>
        <p:txBody>
          <a:bodyPr wrap="square" lIns="0" tIns="0" rIns="0" bIns="0" rtlCol="0" anchor="ctr"/>
          <a:lstStyle/>
          <a:p>
            <a:pPr indent="0" marL="0">
              <a:buNone/>
            </a:pPr>
            <a:r>
              <a:rPr lang="en-US" sz="1200" dirty="0">
                <a:solidFill>
                  <a:srgbClr val="6E7C97"/>
                </a:solidFill>
                <a:latin typeface="Calibri" pitchFamily="34" charset="0"/>
                <a:ea typeface="Calibri" pitchFamily="34" charset="-122"/>
                <a:cs typeface="Calibri" pitchFamily="34" charset="-120"/>
              </a:rPr>
              <a:t>One card per gift — where you do the real work. LOAD MORE pages through it.</a:t>
            </a:r>
            <a:endParaRPr lang="en-US" sz="1200" dirty="0"/>
          </a:p>
        </p:txBody>
      </p:sp>
      <p:sp>
        <p:nvSpPr>
          <p:cNvPr id="24" name="Shape 22"/>
          <p:cNvSpPr/>
          <p:nvPr/>
        </p:nvSpPr>
        <p:spPr>
          <a:xfrm>
            <a:off x="6446520" y="1600200"/>
            <a:ext cx="5166360" cy="4023360"/>
          </a:xfrm>
          <a:prstGeom prst="roundRect">
            <a:avLst>
              <a:gd name="adj" fmla="val 2273"/>
            </a:avLst>
          </a:prstGeom>
          <a:solidFill>
            <a:srgbClr val="1F3A6B"/>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5" name="Text 23"/>
          <p:cNvSpPr/>
          <p:nvPr/>
        </p:nvSpPr>
        <p:spPr>
          <a:xfrm>
            <a:off x="6812280" y="1828800"/>
            <a:ext cx="4434840" cy="27432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BEFORE YOU START</a:t>
            </a:r>
            <a:endParaRPr lang="en-US" sz="1200" dirty="0"/>
          </a:p>
        </p:txBody>
      </p:sp>
      <p:sp>
        <p:nvSpPr>
          <p:cNvPr id="26" name="Text 24"/>
          <p:cNvSpPr/>
          <p:nvPr/>
        </p:nvSpPr>
        <p:spPr>
          <a:xfrm>
            <a:off x="6812280" y="2121408"/>
            <a:ext cx="443484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Sign in first.</a:t>
            </a:r>
            <a:endParaRPr lang="en-US" sz="2600" dirty="0"/>
          </a:p>
        </p:txBody>
      </p:sp>
      <p:sp>
        <p:nvSpPr>
          <p:cNvPr id="27" name="Text 25"/>
          <p:cNvSpPr/>
          <p:nvPr/>
        </p:nvSpPr>
        <p:spPr>
          <a:xfrm>
            <a:off x="6812280" y="2697480"/>
            <a:ext cx="4434840" cy="1463040"/>
          </a:xfrm>
          <a:prstGeom prst="rect">
            <a:avLst/>
          </a:prstGeom>
          <a:noFill/>
          <a:ln/>
        </p:spPr>
        <p:txBody>
          <a:bodyPr wrap="square" lIns="0" tIns="0" rIns="0" bIns="0" rtlCol="0" anchor="t"/>
          <a:lstStyle/>
          <a:p>
            <a:pPr indent="0" marL="0">
              <a:lnSpc>
                <a:spcPts val="2000"/>
              </a:lnSpc>
              <a:buNone/>
            </a:pPr>
            <a:r>
              <a:rPr lang="en-US" sz="1400" dirty="0">
                <a:solidFill>
                  <a:srgbClr val="CADCFC"/>
                </a:solidFill>
                <a:latin typeface="Calibri" pitchFamily="34" charset="0"/>
                <a:ea typeface="Calibri" pitchFamily="34" charset="-122"/>
                <a:cs typeface="Calibri" pitchFamily="34" charset="-120"/>
              </a:rPr>
              <a:t>Every control — Add buttons, search, filters, the cards — is </a:t>
            </a:r>
            <a:pPr indent="0" marL="0">
              <a:lnSpc>
                <a:spcPts val="2000"/>
              </a:lnSpc>
              <a:buNone/>
            </a:pPr>
            <a:r>
              <a:rPr lang="en-US" sz="1400" b="1" dirty="0">
                <a:solidFill>
                  <a:srgbClr val="FFFFFF"/>
                </a:solidFill>
                <a:latin typeface="Calibri" pitchFamily="34" charset="0"/>
                <a:ea typeface="Calibri" pitchFamily="34" charset="-122"/>
                <a:cs typeface="Calibri" pitchFamily="34" charset="-120"/>
              </a:rPr>
              <a:t>disabled until you authenticate</a:t>
            </a:r>
            <a:pPr indent="0" marL="0">
              <a:lnSpc>
                <a:spcPts val="2000"/>
              </a:lnSpc>
              <a:buNone/>
            </a:pPr>
            <a:r>
              <a:rPr lang="en-US" sz="1400" dirty="0">
                <a:solidFill>
                  <a:srgbClr val="CADCFC"/>
                </a:solidFill>
                <a:latin typeface="Calibri" pitchFamily="34" charset="0"/>
                <a:ea typeface="Calibri" pitchFamily="34" charset="-122"/>
                <a:cs typeface="Calibri" pitchFamily="34" charset="-120"/>
              </a:rPr>
              <a:t>. Click </a:t>
            </a:r>
            <a:pPr indent="0" marL="0">
              <a:lnSpc>
                <a:spcPts val="2000"/>
              </a:lnSpc>
              <a:buNone/>
            </a:pPr>
            <a:r>
              <a:rPr lang="en-US" sz="1400" b="1" dirty="0">
                <a:solidFill>
                  <a:srgbClr val="FFFFFF"/>
                </a:solidFill>
                <a:latin typeface="Calibri" pitchFamily="34" charset="0"/>
                <a:ea typeface="Calibri" pitchFamily="34" charset="-122"/>
                <a:cs typeface="Calibri" pitchFamily="34" charset="-120"/>
              </a:rPr>
              <a:t>ADMIN LOGON</a:t>
            </a:r>
            <a:pPr indent="0" marL="0">
              <a:lnSpc>
                <a:spcPts val="2000"/>
              </a:lnSpc>
              <a:buNone/>
            </a:pPr>
            <a:r>
              <a:rPr lang="en-US" sz="1400" dirty="0">
                <a:solidFill>
                  <a:srgbClr val="CADCFC"/>
                </a:solidFill>
                <a:latin typeface="Calibri" pitchFamily="34" charset="0"/>
                <a:ea typeface="Calibri" pitchFamily="34" charset="-122"/>
                <a:cs typeface="Calibri" pitchFamily="34" charset="-120"/>
              </a:rPr>
              <a:t> in the top-right corner and enter your credentials.</a:t>
            </a:r>
            <a:endParaRPr lang="en-US" sz="1400" dirty="0"/>
          </a:p>
        </p:txBody>
      </p:sp>
      <p:sp>
        <p:nvSpPr>
          <p:cNvPr id="28" name="Text 26"/>
          <p:cNvSpPr/>
          <p:nvPr/>
        </p:nvSpPr>
        <p:spPr>
          <a:xfrm>
            <a:off x="6812280" y="4892040"/>
            <a:ext cx="4434840" cy="548640"/>
          </a:xfrm>
          <a:prstGeom prst="rect">
            <a:avLst/>
          </a:prstGeom>
          <a:noFill/>
          <a:ln/>
        </p:spPr>
        <p:txBody>
          <a:bodyPr wrap="square" lIns="0" tIns="0" rIns="0" bIns="0" rtlCol="0" anchor="ctr"/>
          <a:lstStyle/>
          <a:p>
            <a:pPr indent="0" marL="0">
              <a:lnSpc>
                <a:spcPts val="1600"/>
              </a:lnSpc>
              <a:buNone/>
            </a:pPr>
            <a:r>
              <a:rPr lang="en-US" sz="1250" i="1" dirty="0">
                <a:solidFill>
                  <a:srgbClr val="CADCFC"/>
                </a:solidFill>
                <a:latin typeface="Calibri" pitchFamily="34" charset="0"/>
                <a:ea typeface="Calibri" pitchFamily="34" charset="-122"/>
                <a:cs typeface="Calibri" pitchFamily="34" charset="-120"/>
              </a:rPr>
              <a:t>If the buttons look greyed out, you’re not signed in yet — that’s the tell.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THE CORE CONCEPT</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Every gift has a status</a:t>
            </a:r>
            <a:endParaRPr lang="en-US" sz="3400" dirty="0"/>
          </a:p>
        </p:txBody>
      </p:sp>
      <p:sp>
        <p:nvSpPr>
          <p:cNvPr id="4" name="Text 2"/>
          <p:cNvSpPr/>
          <p:nvPr/>
        </p:nvSpPr>
        <p:spPr>
          <a:xfrm>
            <a:off x="548640" y="1554480"/>
            <a:ext cx="10972800" cy="365760"/>
          </a:xfrm>
          <a:prstGeom prst="rect">
            <a:avLst/>
          </a:prstGeom>
          <a:noFill/>
          <a:ln/>
        </p:spPr>
        <p:txBody>
          <a:bodyPr wrap="square" lIns="0" tIns="0" rIns="0" bIns="0" rtlCol="0" anchor="ctr"/>
          <a:lstStyle/>
          <a:p>
            <a:pPr indent="0" marL="0">
              <a:buNone/>
            </a:pPr>
            <a:r>
              <a:rPr lang="en-US" sz="1500" dirty="0">
                <a:solidFill>
                  <a:srgbClr val="243449"/>
                </a:solidFill>
                <a:latin typeface="Calibri" pitchFamily="34" charset="0"/>
                <a:ea typeface="Calibri" pitchFamily="34" charset="-122"/>
                <a:cs typeface="Calibri" pitchFamily="34" charset="-120"/>
              </a:rPr>
              <a:t>Status is what decides whether a gift is public. Three states, and one destructive action that isn’t a status.</a:t>
            </a:r>
            <a:endParaRPr lang="en-US" sz="1500" dirty="0"/>
          </a:p>
        </p:txBody>
      </p:sp>
      <p:sp>
        <p:nvSpPr>
          <p:cNvPr id="5" name="Shape 3"/>
          <p:cNvSpPr/>
          <p:nvPr/>
        </p:nvSpPr>
        <p:spPr>
          <a:xfrm>
            <a:off x="548640" y="2148840"/>
            <a:ext cx="3401568" cy="2468880"/>
          </a:xfrm>
          <a:prstGeom prst="roundRect">
            <a:avLst>
              <a:gd name="adj" fmla="val 3704"/>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6" name="Shape 4"/>
          <p:cNvSpPr/>
          <p:nvPr/>
        </p:nvSpPr>
        <p:spPr>
          <a:xfrm>
            <a:off x="822960" y="2441448"/>
            <a:ext cx="1417320" cy="310896"/>
          </a:xfrm>
          <a:prstGeom prst="roundRect">
            <a:avLst>
              <a:gd name="adj" fmla="val 50000"/>
            </a:avLst>
          </a:prstGeom>
          <a:solidFill>
            <a:srgbClr val="C23737"/>
          </a:solidFill>
          <a:ln/>
        </p:spPr>
      </p:sp>
      <p:sp>
        <p:nvSpPr>
          <p:cNvPr id="7" name="Text 5"/>
          <p:cNvSpPr/>
          <p:nvPr/>
        </p:nvSpPr>
        <p:spPr>
          <a:xfrm>
            <a:off x="822960" y="2441448"/>
            <a:ext cx="141732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REVIEW</a:t>
            </a:r>
            <a:endParaRPr lang="en-US" sz="1100" dirty="0"/>
          </a:p>
        </p:txBody>
      </p:sp>
      <p:sp>
        <p:nvSpPr>
          <p:cNvPr id="8" name="Text 6"/>
          <p:cNvSpPr/>
          <p:nvPr/>
        </p:nvSpPr>
        <p:spPr>
          <a:xfrm>
            <a:off x="822960" y="2926080"/>
            <a:ext cx="2852928" cy="365760"/>
          </a:xfrm>
          <a:prstGeom prst="rect">
            <a:avLst/>
          </a:prstGeom>
          <a:noFill/>
          <a:ln/>
        </p:spPr>
        <p:txBody>
          <a:bodyPr wrap="square" lIns="0" tIns="0" rIns="0" bIns="0" rtlCol="0" anchor="ctr"/>
          <a:lstStyle/>
          <a:p>
            <a:pPr indent="0" marL="0">
              <a:buNone/>
            </a:pPr>
            <a:r>
              <a:rPr lang="en-US" sz="1700" b="1" dirty="0">
                <a:solidFill>
                  <a:srgbClr val="2D4880"/>
                </a:solidFill>
                <a:latin typeface="Cambria" pitchFamily="34" charset="0"/>
                <a:ea typeface="Cambria" pitchFamily="34" charset="-122"/>
                <a:cs typeface="Cambria" pitchFamily="34" charset="-120"/>
              </a:rPr>
              <a:t>The waiting room</a:t>
            </a:r>
            <a:endParaRPr lang="en-US" sz="1700" dirty="0"/>
          </a:p>
        </p:txBody>
      </p:sp>
      <p:sp>
        <p:nvSpPr>
          <p:cNvPr id="9" name="Text 7"/>
          <p:cNvSpPr/>
          <p:nvPr/>
        </p:nvSpPr>
        <p:spPr>
          <a:xfrm>
            <a:off x="822960" y="3337560"/>
            <a:ext cx="2852928" cy="1143000"/>
          </a:xfrm>
          <a:prstGeom prst="rect">
            <a:avLst/>
          </a:prstGeom>
          <a:noFill/>
          <a:ln/>
        </p:spPr>
        <p:txBody>
          <a:bodyPr wrap="square" lIns="0" tIns="0" rIns="0" bIns="0" rtlCol="0" anchor="t"/>
          <a:lstStyle/>
          <a:p>
            <a:pPr indent="0" marL="0">
              <a:lnSpc>
                <a:spcPts val="1700"/>
              </a:lnSpc>
              <a:buNone/>
            </a:pPr>
            <a:r>
              <a:rPr lang="en-US" sz="1300" dirty="0">
                <a:solidFill>
                  <a:srgbClr val="6E7C97"/>
                </a:solidFill>
                <a:latin typeface="Calibri" pitchFamily="34" charset="0"/>
                <a:ea typeface="Calibri" pitchFamily="34" charset="-122"/>
                <a:cs typeface="Calibri" pitchFamily="34" charset="-120"/>
              </a:rPr>
              <a:t>The default. New and AI-suggested gifts land here. Not public. Nothing appears in the shop until you promote it.</a:t>
            </a:r>
            <a:endParaRPr lang="en-US" sz="1300" dirty="0"/>
          </a:p>
        </p:txBody>
      </p:sp>
      <p:sp>
        <p:nvSpPr>
          <p:cNvPr id="10" name="Shape 8"/>
          <p:cNvSpPr/>
          <p:nvPr/>
        </p:nvSpPr>
        <p:spPr>
          <a:xfrm>
            <a:off x="4206240" y="2148840"/>
            <a:ext cx="3401568" cy="2468880"/>
          </a:xfrm>
          <a:prstGeom prst="roundRect">
            <a:avLst>
              <a:gd name="adj" fmla="val 3704"/>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1" name="Shape 9"/>
          <p:cNvSpPr/>
          <p:nvPr/>
        </p:nvSpPr>
        <p:spPr>
          <a:xfrm>
            <a:off x="4480560" y="2441448"/>
            <a:ext cx="1417320" cy="310896"/>
          </a:xfrm>
          <a:prstGeom prst="roundRect">
            <a:avLst>
              <a:gd name="adj" fmla="val 50000"/>
            </a:avLst>
          </a:prstGeom>
          <a:solidFill>
            <a:srgbClr val="2F6B3D"/>
          </a:solidFill>
          <a:ln/>
        </p:spPr>
      </p:sp>
      <p:sp>
        <p:nvSpPr>
          <p:cNvPr id="12" name="Text 10"/>
          <p:cNvSpPr/>
          <p:nvPr/>
        </p:nvSpPr>
        <p:spPr>
          <a:xfrm>
            <a:off x="4480560" y="2441448"/>
            <a:ext cx="141732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LIVE</a:t>
            </a:r>
            <a:endParaRPr lang="en-US" sz="1100" dirty="0"/>
          </a:p>
        </p:txBody>
      </p:sp>
      <p:sp>
        <p:nvSpPr>
          <p:cNvPr id="13" name="Text 11"/>
          <p:cNvSpPr/>
          <p:nvPr/>
        </p:nvSpPr>
        <p:spPr>
          <a:xfrm>
            <a:off x="4480560" y="2926080"/>
            <a:ext cx="2852928" cy="365760"/>
          </a:xfrm>
          <a:prstGeom prst="rect">
            <a:avLst/>
          </a:prstGeom>
          <a:noFill/>
          <a:ln/>
        </p:spPr>
        <p:txBody>
          <a:bodyPr wrap="square" lIns="0" tIns="0" rIns="0" bIns="0" rtlCol="0" anchor="ctr"/>
          <a:lstStyle/>
          <a:p>
            <a:pPr indent="0" marL="0">
              <a:buNone/>
            </a:pPr>
            <a:r>
              <a:rPr lang="en-US" sz="1700" b="1" dirty="0">
                <a:solidFill>
                  <a:srgbClr val="2D4880"/>
                </a:solidFill>
                <a:latin typeface="Cambria" pitchFamily="34" charset="0"/>
                <a:ea typeface="Cambria" pitchFamily="34" charset="-122"/>
                <a:cs typeface="Cambria" pitchFamily="34" charset="-120"/>
              </a:rPr>
              <a:t>Public in the shop</a:t>
            </a:r>
            <a:endParaRPr lang="en-US" sz="1700" dirty="0"/>
          </a:p>
        </p:txBody>
      </p:sp>
      <p:sp>
        <p:nvSpPr>
          <p:cNvPr id="14" name="Text 12"/>
          <p:cNvSpPr/>
          <p:nvPr/>
        </p:nvSpPr>
        <p:spPr>
          <a:xfrm>
            <a:off x="4480560" y="3337560"/>
            <a:ext cx="2852928" cy="1143000"/>
          </a:xfrm>
          <a:prstGeom prst="rect">
            <a:avLst/>
          </a:prstGeom>
          <a:noFill/>
          <a:ln/>
        </p:spPr>
        <p:txBody>
          <a:bodyPr wrap="square" lIns="0" tIns="0" rIns="0" bIns="0" rtlCol="0" anchor="t"/>
          <a:lstStyle/>
          <a:p>
            <a:pPr indent="0" marL="0">
              <a:lnSpc>
                <a:spcPts val="1700"/>
              </a:lnSpc>
              <a:buNone/>
            </a:pPr>
            <a:r>
              <a:rPr lang="en-US" sz="1300" dirty="0">
                <a:solidFill>
                  <a:srgbClr val="6E7C97"/>
                </a:solidFill>
                <a:latin typeface="Calibri" pitchFamily="34" charset="0"/>
                <a:ea typeface="Calibri" pitchFamily="34" charset="-122"/>
                <a:cs typeface="Calibri" pitchFamily="34" charset="-120"/>
              </a:rPr>
              <a:t>You’ve certified it. It shows on thegamebureau.com/shop and stamps a “last live” date.</a:t>
            </a:r>
            <a:endParaRPr lang="en-US" sz="1300" dirty="0"/>
          </a:p>
        </p:txBody>
      </p:sp>
      <p:sp>
        <p:nvSpPr>
          <p:cNvPr id="15" name="Shape 13"/>
          <p:cNvSpPr/>
          <p:nvPr/>
        </p:nvSpPr>
        <p:spPr>
          <a:xfrm>
            <a:off x="7863840" y="2148840"/>
            <a:ext cx="3401568" cy="2468880"/>
          </a:xfrm>
          <a:prstGeom prst="roundRect">
            <a:avLst>
              <a:gd name="adj" fmla="val 3704"/>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6" name="Shape 14"/>
          <p:cNvSpPr/>
          <p:nvPr/>
        </p:nvSpPr>
        <p:spPr>
          <a:xfrm>
            <a:off x="8138160" y="2441448"/>
            <a:ext cx="1417320" cy="310896"/>
          </a:xfrm>
          <a:prstGeom prst="roundRect">
            <a:avLst>
              <a:gd name="adj" fmla="val 50000"/>
            </a:avLst>
          </a:prstGeom>
          <a:solidFill>
            <a:srgbClr val="556074"/>
          </a:solidFill>
          <a:ln/>
        </p:spPr>
      </p:sp>
      <p:sp>
        <p:nvSpPr>
          <p:cNvPr id="17" name="Text 15"/>
          <p:cNvSpPr/>
          <p:nvPr/>
        </p:nvSpPr>
        <p:spPr>
          <a:xfrm>
            <a:off x="8138160" y="2441448"/>
            <a:ext cx="141732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SHELVED</a:t>
            </a:r>
            <a:endParaRPr lang="en-US" sz="1100" dirty="0"/>
          </a:p>
        </p:txBody>
      </p:sp>
      <p:sp>
        <p:nvSpPr>
          <p:cNvPr id="18" name="Text 16"/>
          <p:cNvSpPr/>
          <p:nvPr/>
        </p:nvSpPr>
        <p:spPr>
          <a:xfrm>
            <a:off x="8138160" y="2926080"/>
            <a:ext cx="2852928" cy="365760"/>
          </a:xfrm>
          <a:prstGeom prst="rect">
            <a:avLst/>
          </a:prstGeom>
          <a:noFill/>
          <a:ln/>
        </p:spPr>
        <p:txBody>
          <a:bodyPr wrap="square" lIns="0" tIns="0" rIns="0" bIns="0" rtlCol="0" anchor="ctr"/>
          <a:lstStyle/>
          <a:p>
            <a:pPr indent="0" marL="0">
              <a:buNone/>
            </a:pPr>
            <a:r>
              <a:rPr lang="en-US" sz="1700" b="1" dirty="0">
                <a:solidFill>
                  <a:srgbClr val="2D4880"/>
                </a:solidFill>
                <a:latin typeface="Cambria" pitchFamily="34" charset="0"/>
                <a:ea typeface="Cambria" pitchFamily="34" charset="-122"/>
                <a:cs typeface="Cambria" pitchFamily="34" charset="-120"/>
              </a:rPr>
              <a:t>Kept but hidden</a:t>
            </a:r>
            <a:endParaRPr lang="en-US" sz="1700" dirty="0"/>
          </a:p>
        </p:txBody>
      </p:sp>
      <p:sp>
        <p:nvSpPr>
          <p:cNvPr id="19" name="Text 17"/>
          <p:cNvSpPr/>
          <p:nvPr/>
        </p:nvSpPr>
        <p:spPr>
          <a:xfrm>
            <a:off x="8138160" y="3337560"/>
            <a:ext cx="2852928" cy="1143000"/>
          </a:xfrm>
          <a:prstGeom prst="rect">
            <a:avLst/>
          </a:prstGeom>
          <a:noFill/>
          <a:ln/>
        </p:spPr>
        <p:txBody>
          <a:bodyPr wrap="square" lIns="0" tIns="0" rIns="0" bIns="0" rtlCol="0" anchor="t"/>
          <a:lstStyle/>
          <a:p>
            <a:pPr indent="0" marL="0">
              <a:lnSpc>
                <a:spcPts val="1700"/>
              </a:lnSpc>
              <a:buNone/>
            </a:pPr>
            <a:r>
              <a:rPr lang="en-US" sz="1300" dirty="0">
                <a:solidFill>
                  <a:srgbClr val="6E7C97"/>
                </a:solidFill>
                <a:latin typeface="Calibri" pitchFamily="34" charset="0"/>
                <a:ea typeface="Calibri" pitchFamily="34" charset="-122"/>
                <a:cs typeface="Calibri" pitchFamily="34" charset="-120"/>
              </a:rPr>
              <a:t>Retired from the shop, record kept. A shelved item is remembered so automation never re-suggests it.</a:t>
            </a:r>
            <a:endParaRPr lang="en-US" sz="1300" dirty="0"/>
          </a:p>
        </p:txBody>
      </p:sp>
      <p:sp>
        <p:nvSpPr>
          <p:cNvPr id="20" name="Shape 18"/>
          <p:cNvSpPr/>
          <p:nvPr/>
        </p:nvSpPr>
        <p:spPr>
          <a:xfrm>
            <a:off x="548640" y="4892040"/>
            <a:ext cx="11082528" cy="786384"/>
          </a:xfrm>
          <a:prstGeom prst="roundRect">
            <a:avLst>
              <a:gd name="adj" fmla="val 11628"/>
            </a:avLst>
          </a:prstGeom>
          <a:solidFill>
            <a:srgbClr val="F7ECEC"/>
          </a:solidFill>
          <a:ln w="12700">
            <a:solidFill>
              <a:srgbClr val="E3B7B7"/>
            </a:solidFill>
            <a:prstDash val="solid"/>
          </a:ln>
          <a:effectLst>
            <a:outerShdw sx="100000" sy="100000" kx="0" ky="0" algn="bl" rotWithShape="0" blurRad="114300" dist="50800" dir="5400000">
              <a:srgbClr val="1F3A6B">
                <a:alpha val="20000"/>
              </a:srgbClr>
            </a:outerShdw>
          </a:effectLst>
        </p:spPr>
      </p:sp>
      <p:sp>
        <p:nvSpPr>
          <p:cNvPr id="21" name="Shape 19"/>
          <p:cNvSpPr/>
          <p:nvPr/>
        </p:nvSpPr>
        <p:spPr>
          <a:xfrm>
            <a:off x="777240" y="5065776"/>
            <a:ext cx="1188720" cy="438912"/>
          </a:xfrm>
          <a:prstGeom prst="roundRect">
            <a:avLst>
              <a:gd name="adj" fmla="val 16667"/>
            </a:avLst>
          </a:prstGeom>
          <a:ln w="19050">
            <a:solidFill>
              <a:srgbClr val="C23737"/>
            </a:solidFill>
            <a:prstDash val="dash"/>
          </a:ln>
        </p:spPr>
      </p:sp>
      <p:sp>
        <p:nvSpPr>
          <p:cNvPr id="22" name="Text 20"/>
          <p:cNvSpPr/>
          <p:nvPr/>
        </p:nvSpPr>
        <p:spPr>
          <a:xfrm>
            <a:off x="777240" y="5065776"/>
            <a:ext cx="1188720" cy="438912"/>
          </a:xfrm>
          <a:prstGeom prst="rect">
            <a:avLst/>
          </a:prstGeom>
          <a:noFill/>
          <a:ln/>
        </p:spPr>
        <p:txBody>
          <a:bodyPr wrap="square" lIns="0" tIns="0" rIns="0" bIns="0" rtlCol="0" anchor="ctr"/>
          <a:lstStyle/>
          <a:p>
            <a:pPr algn="ctr" indent="0" marL="0">
              <a:buNone/>
            </a:pPr>
            <a:r>
              <a:rPr lang="en-US" sz="1200" b="1" dirty="0">
                <a:solidFill>
                  <a:srgbClr val="C23737"/>
                </a:solidFill>
                <a:latin typeface="Calibri" pitchFamily="34" charset="0"/>
                <a:ea typeface="Calibri" pitchFamily="34" charset="-122"/>
                <a:cs typeface="Calibri" pitchFamily="34" charset="-120"/>
              </a:rPr>
              <a:t>DELETE</a:t>
            </a:r>
            <a:endParaRPr lang="en-US" sz="1200" dirty="0"/>
          </a:p>
        </p:txBody>
      </p:sp>
      <p:sp>
        <p:nvSpPr>
          <p:cNvPr id="23" name="Text 21"/>
          <p:cNvSpPr/>
          <p:nvPr/>
        </p:nvSpPr>
        <p:spPr>
          <a:xfrm>
            <a:off x="2148840" y="4974336"/>
            <a:ext cx="9235440" cy="640080"/>
          </a:xfrm>
          <a:prstGeom prst="rect">
            <a:avLst/>
          </a:prstGeom>
          <a:noFill/>
          <a:ln/>
        </p:spPr>
        <p:txBody>
          <a:bodyPr wrap="square" lIns="0" tIns="0" rIns="0" bIns="0" rtlCol="0" anchor="ctr"/>
          <a:lstStyle/>
          <a:p>
            <a:pPr indent="0" marL="0">
              <a:lnSpc>
                <a:spcPts val="1600"/>
              </a:lnSpc>
              <a:buNone/>
            </a:pPr>
            <a:r>
              <a:rPr lang="en-US" sz="1350" b="1" dirty="0">
                <a:solidFill>
                  <a:srgbClr val="C23737"/>
                </a:solidFill>
                <a:latin typeface="Calibri" pitchFamily="34" charset="0"/>
                <a:ea typeface="Calibri" pitchFamily="34" charset="-122"/>
                <a:cs typeface="Calibri" pitchFamily="34" charset="-120"/>
              </a:rPr>
              <a:t>Not a status — it’s permanent. </a:t>
            </a:r>
            <a:pPr indent="0" marL="0">
              <a:lnSpc>
                <a:spcPts val="1600"/>
              </a:lnSpc>
              <a:buNone/>
            </a:pPr>
            <a:r>
              <a:rPr lang="en-US" sz="1350" dirty="0">
                <a:solidFill>
                  <a:srgbClr val="243449"/>
                </a:solidFill>
                <a:latin typeface="Calibri" pitchFamily="34" charset="0"/>
                <a:ea typeface="Calibri" pitchFamily="34" charset="-122"/>
                <a:cs typeface="Calibri" pitchFamily="34" charset="-120"/>
              </a:rPr>
              <a:t>Delete removes the record from the database for good. To retire a gift while keeping its history, use </a:t>
            </a:r>
            <a:pPr indent="0" marL="0">
              <a:lnSpc>
                <a:spcPts val="1600"/>
              </a:lnSpc>
              <a:buNone/>
            </a:pPr>
            <a:r>
              <a:rPr lang="en-US" sz="1350" b="1" dirty="0">
                <a:solidFill>
                  <a:srgbClr val="243449"/>
                </a:solidFill>
                <a:latin typeface="Calibri" pitchFamily="34" charset="0"/>
                <a:ea typeface="Calibri" pitchFamily="34" charset="-122"/>
                <a:cs typeface="Calibri" pitchFamily="34" charset="-120"/>
              </a:rPr>
              <a:t>Shelved</a:t>
            </a:r>
            <a:pPr indent="0" marL="0">
              <a:lnSpc>
                <a:spcPts val="1600"/>
              </a:lnSpc>
              <a:buNone/>
            </a:pPr>
            <a:r>
              <a:rPr lang="en-US" sz="1350" dirty="0">
                <a:solidFill>
                  <a:srgbClr val="243449"/>
                </a:solidFill>
                <a:latin typeface="Calibri" pitchFamily="34" charset="0"/>
                <a:ea typeface="Calibri" pitchFamily="34" charset="-122"/>
                <a:cs typeface="Calibri" pitchFamily="34" charset="-120"/>
              </a:rPr>
              <a:t> instead.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THE GIFT CARD</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Anatomy of one card</a:t>
            </a:r>
            <a:endParaRPr lang="en-US" sz="3400" dirty="0"/>
          </a:p>
        </p:txBody>
      </p:sp>
      <p:sp>
        <p:nvSpPr>
          <p:cNvPr id="4" name="Text 2"/>
          <p:cNvSpPr/>
          <p:nvPr/>
        </p:nvSpPr>
        <p:spPr>
          <a:xfrm>
            <a:off x="548640" y="1554480"/>
            <a:ext cx="10972800" cy="365760"/>
          </a:xfrm>
          <a:prstGeom prst="rect">
            <a:avLst/>
          </a:prstGeom>
          <a:noFill/>
          <a:ln/>
        </p:spPr>
        <p:txBody>
          <a:bodyPr wrap="square" lIns="0" tIns="0" rIns="0" bIns="0" rtlCol="0" anchor="ctr"/>
          <a:lstStyle/>
          <a:p>
            <a:pPr indent="0" marL="0">
              <a:buNone/>
            </a:pPr>
            <a:r>
              <a:rPr lang="en-US" sz="1500" dirty="0">
                <a:solidFill>
                  <a:srgbClr val="243449"/>
                </a:solidFill>
                <a:latin typeface="Calibri" pitchFamily="34" charset="0"/>
                <a:ea typeface="Calibri" pitchFamily="34" charset="-122"/>
                <a:cs typeface="Calibri" pitchFamily="34" charset="-120"/>
              </a:rPr>
              <a:t>Every gift is a single card split into labelled boxes. Learn these five and you know the tool.</a:t>
            </a:r>
            <a:endParaRPr lang="en-US" sz="1500" dirty="0"/>
          </a:p>
        </p:txBody>
      </p:sp>
      <p:sp>
        <p:nvSpPr>
          <p:cNvPr id="5" name="Shape 3"/>
          <p:cNvSpPr/>
          <p:nvPr/>
        </p:nvSpPr>
        <p:spPr>
          <a:xfrm>
            <a:off x="548640" y="2148840"/>
            <a:ext cx="3529584" cy="1417320"/>
          </a:xfrm>
          <a:prstGeom prst="roundRect">
            <a:avLst>
              <a:gd name="adj" fmla="val 6452"/>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6" name="Shape 4"/>
          <p:cNvSpPr/>
          <p:nvPr/>
        </p:nvSpPr>
        <p:spPr>
          <a:xfrm>
            <a:off x="749808" y="2020824"/>
            <a:ext cx="886968" cy="274320"/>
          </a:xfrm>
          <a:prstGeom prst="roundRect">
            <a:avLst>
              <a:gd name="adj" fmla="val 16667"/>
            </a:avLst>
          </a:prstGeom>
          <a:solidFill>
            <a:srgbClr val="2D4880"/>
          </a:solidFill>
          <a:ln/>
        </p:spPr>
      </p:sp>
      <p:sp>
        <p:nvSpPr>
          <p:cNvPr id="7" name="Text 5"/>
          <p:cNvSpPr/>
          <p:nvPr/>
        </p:nvSpPr>
        <p:spPr>
          <a:xfrm>
            <a:off x="749808" y="2020824"/>
            <a:ext cx="88696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STATUS</a:t>
            </a:r>
            <a:endParaRPr lang="en-US" sz="1100" dirty="0"/>
          </a:p>
        </p:txBody>
      </p:sp>
      <p:sp>
        <p:nvSpPr>
          <p:cNvPr id="8" name="Text 6"/>
          <p:cNvSpPr/>
          <p:nvPr/>
        </p:nvSpPr>
        <p:spPr>
          <a:xfrm>
            <a:off x="804672" y="2404872"/>
            <a:ext cx="3017520" cy="105156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Review / Live / Shelved radios, the Delete button, and the “last live” date.</a:t>
            </a:r>
            <a:endParaRPr lang="en-US" sz="1250" dirty="0"/>
          </a:p>
        </p:txBody>
      </p:sp>
      <p:sp>
        <p:nvSpPr>
          <p:cNvPr id="9" name="Shape 7"/>
          <p:cNvSpPr/>
          <p:nvPr/>
        </p:nvSpPr>
        <p:spPr>
          <a:xfrm>
            <a:off x="4315968" y="2148840"/>
            <a:ext cx="3529584" cy="1417320"/>
          </a:xfrm>
          <a:prstGeom prst="roundRect">
            <a:avLst>
              <a:gd name="adj" fmla="val 6452"/>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0" name="Shape 8"/>
          <p:cNvSpPr/>
          <p:nvPr/>
        </p:nvSpPr>
        <p:spPr>
          <a:xfrm>
            <a:off x="4517136" y="2020824"/>
            <a:ext cx="781812" cy="274320"/>
          </a:xfrm>
          <a:prstGeom prst="roundRect">
            <a:avLst>
              <a:gd name="adj" fmla="val 16667"/>
            </a:avLst>
          </a:prstGeom>
          <a:solidFill>
            <a:srgbClr val="2D4880"/>
          </a:solidFill>
          <a:ln/>
        </p:spPr>
      </p:sp>
      <p:sp>
        <p:nvSpPr>
          <p:cNvPr id="11" name="Text 9"/>
          <p:cNvSpPr/>
          <p:nvPr/>
        </p:nvSpPr>
        <p:spPr>
          <a:xfrm>
            <a:off x="4517136" y="2020824"/>
            <a:ext cx="781812"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IMAGE</a:t>
            </a:r>
            <a:endParaRPr lang="en-US" sz="1100" dirty="0"/>
          </a:p>
        </p:txBody>
      </p:sp>
      <p:sp>
        <p:nvSpPr>
          <p:cNvPr id="12" name="Text 10"/>
          <p:cNvSpPr/>
          <p:nvPr/>
        </p:nvSpPr>
        <p:spPr>
          <a:xfrm>
            <a:off x="4572000" y="2404872"/>
            <a:ext cx="3017520" cy="105156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Live preview of the product picture, the image URL, and an Upload fallback.</a:t>
            </a:r>
            <a:endParaRPr lang="en-US" sz="1250" dirty="0"/>
          </a:p>
        </p:txBody>
      </p:sp>
      <p:sp>
        <p:nvSpPr>
          <p:cNvPr id="13" name="Shape 11"/>
          <p:cNvSpPr/>
          <p:nvPr/>
        </p:nvSpPr>
        <p:spPr>
          <a:xfrm>
            <a:off x="8083296" y="2148840"/>
            <a:ext cx="3529584" cy="1417320"/>
          </a:xfrm>
          <a:prstGeom prst="roundRect">
            <a:avLst>
              <a:gd name="adj" fmla="val 6452"/>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4" name="Shape 12"/>
          <p:cNvSpPr/>
          <p:nvPr/>
        </p:nvSpPr>
        <p:spPr>
          <a:xfrm>
            <a:off x="8284464" y="2020824"/>
            <a:ext cx="886968" cy="274320"/>
          </a:xfrm>
          <a:prstGeom prst="roundRect">
            <a:avLst>
              <a:gd name="adj" fmla="val 16667"/>
            </a:avLst>
          </a:prstGeom>
          <a:solidFill>
            <a:srgbClr val="2D4880"/>
          </a:solidFill>
          <a:ln/>
        </p:spPr>
      </p:sp>
      <p:sp>
        <p:nvSpPr>
          <p:cNvPr id="15" name="Text 13"/>
          <p:cNvSpPr/>
          <p:nvPr/>
        </p:nvSpPr>
        <p:spPr>
          <a:xfrm>
            <a:off x="8284464" y="2020824"/>
            <a:ext cx="88696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VERIFY</a:t>
            </a:r>
            <a:endParaRPr lang="en-US" sz="1100" dirty="0"/>
          </a:p>
        </p:txBody>
      </p:sp>
      <p:sp>
        <p:nvSpPr>
          <p:cNvPr id="16" name="Text 14"/>
          <p:cNvSpPr/>
          <p:nvPr/>
        </p:nvSpPr>
        <p:spPr>
          <a:xfrm>
            <a:off x="8339328" y="2404872"/>
            <a:ext cx="3017520" cy="105156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TARGET opens the link, SHOP previews the public card, AUTO FILL scrapes details.</a:t>
            </a:r>
            <a:endParaRPr lang="en-US" sz="1250" dirty="0"/>
          </a:p>
        </p:txBody>
      </p:sp>
      <p:sp>
        <p:nvSpPr>
          <p:cNvPr id="17" name="Shape 15"/>
          <p:cNvSpPr/>
          <p:nvPr/>
        </p:nvSpPr>
        <p:spPr>
          <a:xfrm>
            <a:off x="548640" y="3822192"/>
            <a:ext cx="3529584" cy="1417320"/>
          </a:xfrm>
          <a:prstGeom prst="roundRect">
            <a:avLst>
              <a:gd name="adj" fmla="val 6452"/>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8" name="Shape 16"/>
          <p:cNvSpPr/>
          <p:nvPr/>
        </p:nvSpPr>
        <p:spPr>
          <a:xfrm>
            <a:off x="749808" y="3694176"/>
            <a:ext cx="992124" cy="274320"/>
          </a:xfrm>
          <a:prstGeom prst="roundRect">
            <a:avLst>
              <a:gd name="adj" fmla="val 16667"/>
            </a:avLst>
          </a:prstGeom>
          <a:solidFill>
            <a:srgbClr val="2D4880"/>
          </a:solidFill>
          <a:ln/>
        </p:spPr>
      </p:sp>
      <p:sp>
        <p:nvSpPr>
          <p:cNvPr id="19" name="Text 17"/>
          <p:cNvSpPr/>
          <p:nvPr/>
        </p:nvSpPr>
        <p:spPr>
          <a:xfrm>
            <a:off x="749808" y="3694176"/>
            <a:ext cx="992124"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DETAILS</a:t>
            </a:r>
            <a:endParaRPr lang="en-US" sz="1100" dirty="0"/>
          </a:p>
        </p:txBody>
      </p:sp>
      <p:sp>
        <p:nvSpPr>
          <p:cNvPr id="20" name="Text 18"/>
          <p:cNvSpPr/>
          <p:nvPr/>
        </p:nvSpPr>
        <p:spPr>
          <a:xfrm>
            <a:off x="804672" y="4078224"/>
            <a:ext cx="3017520" cy="105156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Title, Link, Description, and the optional Button label the shopper sees.</a:t>
            </a:r>
            <a:endParaRPr lang="en-US" sz="1250" dirty="0"/>
          </a:p>
        </p:txBody>
      </p:sp>
      <p:sp>
        <p:nvSpPr>
          <p:cNvPr id="21" name="Shape 19"/>
          <p:cNvSpPr/>
          <p:nvPr/>
        </p:nvSpPr>
        <p:spPr>
          <a:xfrm>
            <a:off x="4315968" y="3822192"/>
            <a:ext cx="3529584" cy="1417320"/>
          </a:xfrm>
          <a:prstGeom prst="roundRect">
            <a:avLst>
              <a:gd name="adj" fmla="val 6452"/>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2" name="Shape 20"/>
          <p:cNvSpPr/>
          <p:nvPr/>
        </p:nvSpPr>
        <p:spPr>
          <a:xfrm>
            <a:off x="4517136" y="3694176"/>
            <a:ext cx="781812" cy="274320"/>
          </a:xfrm>
          <a:prstGeom prst="roundRect">
            <a:avLst>
              <a:gd name="adj" fmla="val 16667"/>
            </a:avLst>
          </a:prstGeom>
          <a:solidFill>
            <a:srgbClr val="2D4880"/>
          </a:solidFill>
          <a:ln/>
        </p:spPr>
      </p:sp>
      <p:sp>
        <p:nvSpPr>
          <p:cNvPr id="23" name="Text 21"/>
          <p:cNvSpPr/>
          <p:nvPr/>
        </p:nvSpPr>
        <p:spPr>
          <a:xfrm>
            <a:off x="4517136" y="3694176"/>
            <a:ext cx="781812"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SHOPS</a:t>
            </a:r>
            <a:endParaRPr lang="en-US" sz="1100" dirty="0"/>
          </a:p>
        </p:txBody>
      </p:sp>
      <p:sp>
        <p:nvSpPr>
          <p:cNvPr id="24" name="Text 22"/>
          <p:cNvSpPr/>
          <p:nvPr/>
        </p:nvSpPr>
        <p:spPr>
          <a:xfrm>
            <a:off x="4572000" y="4078224"/>
            <a:ext cx="3017520" cy="105156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Which cities this gift appears in — add existing cities or create a new one.</a:t>
            </a:r>
            <a:endParaRPr lang="en-US" sz="1250" dirty="0"/>
          </a:p>
        </p:txBody>
      </p:sp>
      <p:sp>
        <p:nvSpPr>
          <p:cNvPr id="25" name="Shape 23"/>
          <p:cNvSpPr/>
          <p:nvPr/>
        </p:nvSpPr>
        <p:spPr>
          <a:xfrm>
            <a:off x="8083296" y="3822192"/>
            <a:ext cx="3529584" cy="1417320"/>
          </a:xfrm>
          <a:prstGeom prst="roundRect">
            <a:avLst>
              <a:gd name="adj" fmla="val 6452"/>
            </a:avLst>
          </a:prstGeom>
          <a:solidFill>
            <a:srgbClr val="1F3A6B"/>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6" name="Text 24"/>
          <p:cNvSpPr/>
          <p:nvPr/>
        </p:nvSpPr>
        <p:spPr>
          <a:xfrm>
            <a:off x="8339328" y="4023360"/>
            <a:ext cx="301752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SAVE</a:t>
            </a:r>
            <a:endParaRPr lang="en-US" sz="1600" dirty="0"/>
          </a:p>
        </p:txBody>
      </p:sp>
      <p:sp>
        <p:nvSpPr>
          <p:cNvPr id="27" name="Text 25"/>
          <p:cNvSpPr/>
          <p:nvPr/>
        </p:nvSpPr>
        <p:spPr>
          <a:xfrm>
            <a:off x="8339328" y="4370832"/>
            <a:ext cx="3017520" cy="822960"/>
          </a:xfrm>
          <a:prstGeom prst="rect">
            <a:avLst/>
          </a:prstGeom>
          <a:noFill/>
          <a:ln/>
        </p:spPr>
        <p:txBody>
          <a:bodyPr wrap="square" lIns="0" tIns="0" rIns="0" bIns="0" rtlCol="0" anchor="t"/>
          <a:lstStyle/>
          <a:p>
            <a:pPr indent="0" marL="0">
              <a:lnSpc>
                <a:spcPts val="1600"/>
              </a:lnSpc>
              <a:buNone/>
            </a:pPr>
            <a:r>
              <a:rPr lang="en-US" sz="1250" dirty="0">
                <a:solidFill>
                  <a:srgbClr val="CADCFC"/>
                </a:solidFill>
                <a:latin typeface="Calibri" pitchFamily="34" charset="0"/>
                <a:ea typeface="Calibri" pitchFamily="34" charset="-122"/>
                <a:cs typeface="Calibri" pitchFamily="34" charset="-120"/>
              </a:rPr>
              <a:t>Each card has its own SAVE. It writes the fields and applies the chosen status.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THE DETAILS BOX</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The four shopper-facing fields</a:t>
            </a:r>
            <a:endParaRPr lang="en-US" sz="3400" dirty="0"/>
          </a:p>
        </p:txBody>
      </p:sp>
      <p:sp>
        <p:nvSpPr>
          <p:cNvPr id="4" name="Shape 2"/>
          <p:cNvSpPr/>
          <p:nvPr/>
        </p:nvSpPr>
        <p:spPr>
          <a:xfrm>
            <a:off x="548640" y="1572768"/>
            <a:ext cx="6309360" cy="749808"/>
          </a:xfrm>
          <a:prstGeom prst="roundRect">
            <a:avLst>
              <a:gd name="adj" fmla="val 12195"/>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5" name="Text 3"/>
          <p:cNvSpPr/>
          <p:nvPr/>
        </p:nvSpPr>
        <p:spPr>
          <a:xfrm>
            <a:off x="731520" y="1664208"/>
            <a:ext cx="1828800" cy="548640"/>
          </a:xfrm>
          <a:prstGeom prst="rect">
            <a:avLst/>
          </a:prstGeom>
          <a:noFill/>
          <a:ln/>
        </p:spPr>
        <p:txBody>
          <a:bodyPr wrap="square" lIns="0" tIns="0" rIns="0" bIns="0" rtlCol="0" anchor="ctr"/>
          <a:lstStyle/>
          <a:p>
            <a:pPr indent="0" marL="0">
              <a:buNone/>
            </a:pPr>
            <a:r>
              <a:rPr lang="en-US" sz="1550" b="1" dirty="0">
                <a:solidFill>
                  <a:srgbClr val="2D4880"/>
                </a:solidFill>
                <a:latin typeface="Cambria" pitchFamily="34" charset="0"/>
                <a:ea typeface="Cambria" pitchFamily="34" charset="-122"/>
                <a:cs typeface="Cambria" pitchFamily="34" charset="-120"/>
              </a:rPr>
              <a:t>Title</a:t>
            </a:r>
            <a:endParaRPr lang="en-US" sz="1550" dirty="0"/>
          </a:p>
        </p:txBody>
      </p:sp>
      <p:sp>
        <p:nvSpPr>
          <p:cNvPr id="6" name="Text 4"/>
          <p:cNvSpPr/>
          <p:nvPr/>
        </p:nvSpPr>
        <p:spPr>
          <a:xfrm>
            <a:off x="2286000" y="1664208"/>
            <a:ext cx="4480560" cy="566928"/>
          </a:xfrm>
          <a:prstGeom prst="rect">
            <a:avLst/>
          </a:prstGeom>
          <a:noFill/>
          <a:ln/>
        </p:spPr>
        <p:txBody>
          <a:bodyPr wrap="square" lIns="0" tIns="0" rIns="0" bIns="0" rtlCol="0" anchor="ctr"/>
          <a:lstStyle/>
          <a:p>
            <a:pPr indent="0" marL="0">
              <a:lnSpc>
                <a:spcPts val="1500"/>
              </a:lnSpc>
              <a:buNone/>
            </a:pPr>
            <a:r>
              <a:rPr lang="en-US" sz="1200" dirty="0">
                <a:solidFill>
                  <a:srgbClr val="6E7C97"/>
                </a:solidFill>
                <a:latin typeface="Calibri" pitchFamily="34" charset="0"/>
                <a:ea typeface="Calibri" pitchFamily="34" charset="-122"/>
                <a:cs typeface="Calibri" pitchFamily="34" charset="-120"/>
              </a:rPr>
              <a:t>The gift’s name, shown big on the card.</a:t>
            </a:r>
            <a:endParaRPr lang="en-US" sz="1200" dirty="0"/>
          </a:p>
        </p:txBody>
      </p:sp>
      <p:sp>
        <p:nvSpPr>
          <p:cNvPr id="7" name="Shape 5"/>
          <p:cNvSpPr/>
          <p:nvPr/>
        </p:nvSpPr>
        <p:spPr>
          <a:xfrm>
            <a:off x="548640" y="2432304"/>
            <a:ext cx="6309360" cy="749808"/>
          </a:xfrm>
          <a:prstGeom prst="roundRect">
            <a:avLst>
              <a:gd name="adj" fmla="val 12195"/>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8" name="Text 6"/>
          <p:cNvSpPr/>
          <p:nvPr/>
        </p:nvSpPr>
        <p:spPr>
          <a:xfrm>
            <a:off x="731520" y="2523744"/>
            <a:ext cx="1828800" cy="548640"/>
          </a:xfrm>
          <a:prstGeom prst="rect">
            <a:avLst/>
          </a:prstGeom>
          <a:noFill/>
          <a:ln/>
        </p:spPr>
        <p:txBody>
          <a:bodyPr wrap="square" lIns="0" tIns="0" rIns="0" bIns="0" rtlCol="0" anchor="ctr"/>
          <a:lstStyle/>
          <a:p>
            <a:pPr indent="0" marL="0">
              <a:buNone/>
            </a:pPr>
            <a:r>
              <a:rPr lang="en-US" sz="1550" b="1" dirty="0">
                <a:solidFill>
                  <a:srgbClr val="2D4880"/>
                </a:solidFill>
                <a:latin typeface="Cambria" pitchFamily="34" charset="0"/>
                <a:ea typeface="Cambria" pitchFamily="34" charset="-122"/>
                <a:cs typeface="Cambria" pitchFamily="34" charset="-120"/>
              </a:rPr>
              <a:t>Link</a:t>
            </a:r>
            <a:endParaRPr lang="en-US" sz="1550" dirty="0"/>
          </a:p>
        </p:txBody>
      </p:sp>
      <p:sp>
        <p:nvSpPr>
          <p:cNvPr id="9" name="Text 7"/>
          <p:cNvSpPr/>
          <p:nvPr/>
        </p:nvSpPr>
        <p:spPr>
          <a:xfrm>
            <a:off x="2286000" y="2523744"/>
            <a:ext cx="4480560" cy="566928"/>
          </a:xfrm>
          <a:prstGeom prst="rect">
            <a:avLst/>
          </a:prstGeom>
          <a:noFill/>
          <a:ln/>
        </p:spPr>
        <p:txBody>
          <a:bodyPr wrap="square" lIns="0" tIns="0" rIns="0" bIns="0" rtlCol="0" anchor="ctr"/>
          <a:lstStyle/>
          <a:p>
            <a:pPr indent="0" marL="0">
              <a:lnSpc>
                <a:spcPts val="1500"/>
              </a:lnSpc>
              <a:buNone/>
            </a:pPr>
            <a:r>
              <a:rPr lang="en-US" sz="1200" dirty="0">
                <a:solidFill>
                  <a:srgbClr val="6E7C97"/>
                </a:solidFill>
                <a:latin typeface="Calibri" pitchFamily="34" charset="0"/>
                <a:ea typeface="Calibri" pitchFamily="34" charset="-122"/>
                <a:cs typeface="Calibri" pitchFamily="34" charset="-120"/>
              </a:rPr>
              <a:t>Where the button sends the shopper. Three kinds work — see below.</a:t>
            </a:r>
            <a:endParaRPr lang="en-US" sz="1200" dirty="0"/>
          </a:p>
        </p:txBody>
      </p:sp>
      <p:sp>
        <p:nvSpPr>
          <p:cNvPr id="10" name="Shape 8"/>
          <p:cNvSpPr/>
          <p:nvPr/>
        </p:nvSpPr>
        <p:spPr>
          <a:xfrm>
            <a:off x="548640" y="3291840"/>
            <a:ext cx="6309360" cy="749808"/>
          </a:xfrm>
          <a:prstGeom prst="roundRect">
            <a:avLst>
              <a:gd name="adj" fmla="val 12195"/>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1" name="Text 9"/>
          <p:cNvSpPr/>
          <p:nvPr/>
        </p:nvSpPr>
        <p:spPr>
          <a:xfrm>
            <a:off x="731520" y="3383280"/>
            <a:ext cx="1828800" cy="548640"/>
          </a:xfrm>
          <a:prstGeom prst="rect">
            <a:avLst/>
          </a:prstGeom>
          <a:noFill/>
          <a:ln/>
        </p:spPr>
        <p:txBody>
          <a:bodyPr wrap="square" lIns="0" tIns="0" rIns="0" bIns="0" rtlCol="0" anchor="ctr"/>
          <a:lstStyle/>
          <a:p>
            <a:pPr indent="0" marL="0">
              <a:buNone/>
            </a:pPr>
            <a:r>
              <a:rPr lang="en-US" sz="1550" b="1" dirty="0">
                <a:solidFill>
                  <a:srgbClr val="2D4880"/>
                </a:solidFill>
                <a:latin typeface="Cambria" pitchFamily="34" charset="0"/>
                <a:ea typeface="Cambria" pitchFamily="34" charset="-122"/>
                <a:cs typeface="Cambria" pitchFamily="34" charset="-120"/>
              </a:rPr>
              <a:t>Description</a:t>
            </a:r>
            <a:endParaRPr lang="en-US" sz="1550" dirty="0"/>
          </a:p>
        </p:txBody>
      </p:sp>
      <p:sp>
        <p:nvSpPr>
          <p:cNvPr id="12" name="Text 10"/>
          <p:cNvSpPr/>
          <p:nvPr/>
        </p:nvSpPr>
        <p:spPr>
          <a:xfrm>
            <a:off x="2286000" y="3383280"/>
            <a:ext cx="4480560" cy="566928"/>
          </a:xfrm>
          <a:prstGeom prst="rect">
            <a:avLst/>
          </a:prstGeom>
          <a:noFill/>
          <a:ln/>
        </p:spPr>
        <p:txBody>
          <a:bodyPr wrap="square" lIns="0" tIns="0" rIns="0" bIns="0" rtlCol="0" anchor="ctr"/>
          <a:lstStyle/>
          <a:p>
            <a:pPr indent="0" marL="0">
              <a:lnSpc>
                <a:spcPts val="1500"/>
              </a:lnSpc>
              <a:buNone/>
            </a:pPr>
            <a:r>
              <a:rPr lang="en-US" sz="1200" dirty="0">
                <a:solidFill>
                  <a:srgbClr val="6E7C97"/>
                </a:solidFill>
                <a:latin typeface="Calibri" pitchFamily="34" charset="0"/>
                <a:ea typeface="Calibri" pitchFamily="34" charset="-122"/>
                <a:cs typeface="Calibri" pitchFamily="34" charset="-120"/>
              </a:rPr>
              <a:t>Short blurb under the title. Write it by hand or refetch (↻) from the link.</a:t>
            </a:r>
            <a:endParaRPr lang="en-US" sz="1200" dirty="0"/>
          </a:p>
        </p:txBody>
      </p:sp>
      <p:sp>
        <p:nvSpPr>
          <p:cNvPr id="13" name="Shape 11"/>
          <p:cNvSpPr/>
          <p:nvPr/>
        </p:nvSpPr>
        <p:spPr>
          <a:xfrm>
            <a:off x="548640" y="4151376"/>
            <a:ext cx="6309360" cy="749808"/>
          </a:xfrm>
          <a:prstGeom prst="roundRect">
            <a:avLst>
              <a:gd name="adj" fmla="val 12195"/>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4" name="Text 12"/>
          <p:cNvSpPr/>
          <p:nvPr/>
        </p:nvSpPr>
        <p:spPr>
          <a:xfrm>
            <a:off x="731520" y="4242816"/>
            <a:ext cx="1828800" cy="548640"/>
          </a:xfrm>
          <a:prstGeom prst="rect">
            <a:avLst/>
          </a:prstGeom>
          <a:noFill/>
          <a:ln/>
        </p:spPr>
        <p:txBody>
          <a:bodyPr wrap="square" lIns="0" tIns="0" rIns="0" bIns="0" rtlCol="0" anchor="ctr"/>
          <a:lstStyle/>
          <a:p>
            <a:pPr indent="0" marL="0">
              <a:buNone/>
            </a:pPr>
            <a:r>
              <a:rPr lang="en-US" sz="1550" b="1" dirty="0">
                <a:solidFill>
                  <a:srgbClr val="2D4880"/>
                </a:solidFill>
                <a:latin typeface="Cambria" pitchFamily="34" charset="0"/>
                <a:ea typeface="Cambria" pitchFamily="34" charset="-122"/>
                <a:cs typeface="Cambria" pitchFamily="34" charset="-120"/>
              </a:rPr>
              <a:t>Button label</a:t>
            </a:r>
            <a:endParaRPr lang="en-US" sz="1550" dirty="0"/>
          </a:p>
        </p:txBody>
      </p:sp>
      <p:sp>
        <p:nvSpPr>
          <p:cNvPr id="15" name="Text 13"/>
          <p:cNvSpPr/>
          <p:nvPr/>
        </p:nvSpPr>
        <p:spPr>
          <a:xfrm>
            <a:off x="2286000" y="4242816"/>
            <a:ext cx="4480560" cy="566928"/>
          </a:xfrm>
          <a:prstGeom prst="rect">
            <a:avLst/>
          </a:prstGeom>
          <a:noFill/>
          <a:ln/>
        </p:spPr>
        <p:txBody>
          <a:bodyPr wrap="square" lIns="0" tIns="0" rIns="0" bIns="0" rtlCol="0" anchor="ctr"/>
          <a:lstStyle/>
          <a:p>
            <a:pPr indent="0" marL="0">
              <a:lnSpc>
                <a:spcPts val="1500"/>
              </a:lnSpc>
              <a:buNone/>
            </a:pPr>
            <a:r>
              <a:rPr lang="en-US" sz="1200" dirty="0">
                <a:solidFill>
                  <a:srgbClr val="6E7C97"/>
                </a:solidFill>
                <a:latin typeface="Calibri" pitchFamily="34" charset="0"/>
                <a:ea typeface="Calibri" pitchFamily="34" charset="-122"/>
                <a:cs typeface="Calibri" pitchFamily="34" charset="-120"/>
              </a:rPr>
              <a:t>Optional. Blank auto-labels by link type.</a:t>
            </a:r>
            <a:endParaRPr lang="en-US" sz="1200" dirty="0"/>
          </a:p>
        </p:txBody>
      </p:sp>
      <p:sp>
        <p:nvSpPr>
          <p:cNvPr id="16" name="Shape 14"/>
          <p:cNvSpPr/>
          <p:nvPr/>
        </p:nvSpPr>
        <p:spPr>
          <a:xfrm>
            <a:off x="7086600" y="1572768"/>
            <a:ext cx="4544568" cy="4041648"/>
          </a:xfrm>
          <a:prstGeom prst="roundRect">
            <a:avLst>
              <a:gd name="adj" fmla="val 2262"/>
            </a:avLst>
          </a:prstGeom>
          <a:solidFill>
            <a:srgbClr val="FBFAF3"/>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7" name="Text 15"/>
          <p:cNvSpPr/>
          <p:nvPr/>
        </p:nvSpPr>
        <p:spPr>
          <a:xfrm>
            <a:off x="7406640" y="1737360"/>
            <a:ext cx="3904488" cy="274320"/>
          </a:xfrm>
          <a:prstGeom prst="rect">
            <a:avLst/>
          </a:prstGeom>
          <a:noFill/>
          <a:ln/>
        </p:spPr>
        <p:txBody>
          <a:bodyPr wrap="square" lIns="0" tIns="0" rIns="0" bIns="0" rtlCol="0" anchor="ctr"/>
          <a:lstStyle/>
          <a:p>
            <a:pPr indent="0" marL="0">
              <a:buNone/>
            </a:pPr>
            <a:r>
              <a:rPr lang="en-US" sz="1200" b="1" spc="200" kern="0" dirty="0">
                <a:solidFill>
                  <a:srgbClr val="C23737"/>
                </a:solidFill>
                <a:latin typeface="Calibri" pitchFamily="34" charset="0"/>
                <a:ea typeface="Calibri" pitchFamily="34" charset="-122"/>
                <a:cs typeface="Calibri" pitchFamily="34" charset="-120"/>
              </a:rPr>
              <a:t>THREE KINDS OF LINK</a:t>
            </a:r>
            <a:endParaRPr lang="en-US" sz="1200" dirty="0"/>
          </a:p>
        </p:txBody>
      </p:sp>
      <p:sp>
        <p:nvSpPr>
          <p:cNvPr id="18" name="Shape 16"/>
          <p:cNvSpPr/>
          <p:nvPr/>
        </p:nvSpPr>
        <p:spPr>
          <a:xfrm>
            <a:off x="7406640" y="2148840"/>
            <a:ext cx="91440" cy="868680"/>
          </a:xfrm>
          <a:prstGeom prst="roundRect">
            <a:avLst>
              <a:gd name="adj" fmla="val 40000"/>
            </a:avLst>
          </a:prstGeom>
          <a:solidFill>
            <a:srgbClr val="2D4880"/>
          </a:solidFill>
          <a:ln/>
        </p:spPr>
      </p:sp>
      <p:sp>
        <p:nvSpPr>
          <p:cNvPr id="19" name="Text 17"/>
          <p:cNvSpPr/>
          <p:nvPr/>
        </p:nvSpPr>
        <p:spPr>
          <a:xfrm>
            <a:off x="7635240" y="2103120"/>
            <a:ext cx="3721608" cy="310896"/>
          </a:xfrm>
          <a:prstGeom prst="rect">
            <a:avLst/>
          </a:prstGeom>
          <a:noFill/>
          <a:ln/>
        </p:spPr>
        <p:txBody>
          <a:bodyPr wrap="square" lIns="0" tIns="0" rIns="0" bIns="0" rtlCol="0" anchor="ctr"/>
          <a:lstStyle/>
          <a:p>
            <a:pPr indent="0" marL="0">
              <a:buNone/>
            </a:pPr>
            <a:r>
              <a:rPr lang="en-US" sz="1500" b="1" dirty="0">
                <a:solidFill>
                  <a:srgbClr val="243449"/>
                </a:solidFill>
                <a:latin typeface="Cambria" pitchFamily="34" charset="0"/>
                <a:ea typeface="Cambria" pitchFamily="34" charset="-122"/>
                <a:cs typeface="Cambria" pitchFamily="34" charset="-120"/>
              </a:rPr>
              <a:t>Amazon</a:t>
            </a:r>
            <a:endParaRPr lang="en-US" sz="1500" dirty="0"/>
          </a:p>
        </p:txBody>
      </p:sp>
      <p:sp>
        <p:nvSpPr>
          <p:cNvPr id="20" name="Text 18"/>
          <p:cNvSpPr/>
          <p:nvPr/>
        </p:nvSpPr>
        <p:spPr>
          <a:xfrm>
            <a:off x="7635240" y="2414016"/>
            <a:ext cx="3675888" cy="603504"/>
          </a:xfrm>
          <a:prstGeom prst="rect">
            <a:avLst/>
          </a:prstGeom>
          <a:noFill/>
          <a:ln/>
        </p:spPr>
        <p:txBody>
          <a:bodyPr wrap="square" lIns="0" tIns="0" rIns="0" bIns="0" rtlCol="0" anchor="t"/>
          <a:lstStyle/>
          <a:p>
            <a:pPr indent="0" marL="0">
              <a:lnSpc>
                <a:spcPts val="1500"/>
              </a:lnSpc>
              <a:buNone/>
            </a:pPr>
            <a:r>
              <a:rPr lang="en-US" sz="1250" dirty="0">
                <a:solidFill>
                  <a:srgbClr val="6E7C97"/>
                </a:solidFill>
                <a:latin typeface="Calibri" pitchFamily="34" charset="0"/>
                <a:ea typeface="Calibri" pitchFamily="34" charset="-122"/>
                <a:cs typeface="Calibri" pitchFamily="34" charset="-120"/>
              </a:rPr>
              <a:t>Affiliate (paid). Auto-labels “View on Amazon.”</a:t>
            </a:r>
            <a:endParaRPr lang="en-US" sz="1250" dirty="0"/>
          </a:p>
        </p:txBody>
      </p:sp>
      <p:sp>
        <p:nvSpPr>
          <p:cNvPr id="21" name="Shape 19"/>
          <p:cNvSpPr/>
          <p:nvPr/>
        </p:nvSpPr>
        <p:spPr>
          <a:xfrm>
            <a:off x="7406640" y="3200400"/>
            <a:ext cx="91440" cy="868680"/>
          </a:xfrm>
          <a:prstGeom prst="roundRect">
            <a:avLst>
              <a:gd name="adj" fmla="val 40000"/>
            </a:avLst>
          </a:prstGeom>
          <a:solidFill>
            <a:srgbClr val="2D4880"/>
          </a:solidFill>
          <a:ln/>
        </p:spPr>
      </p:sp>
      <p:sp>
        <p:nvSpPr>
          <p:cNvPr id="22" name="Text 20"/>
          <p:cNvSpPr/>
          <p:nvPr/>
        </p:nvSpPr>
        <p:spPr>
          <a:xfrm>
            <a:off x="7635240" y="3154680"/>
            <a:ext cx="3721608" cy="310896"/>
          </a:xfrm>
          <a:prstGeom prst="rect">
            <a:avLst/>
          </a:prstGeom>
          <a:noFill/>
          <a:ln/>
        </p:spPr>
        <p:txBody>
          <a:bodyPr wrap="square" lIns="0" tIns="0" rIns="0" bIns="0" rtlCol="0" anchor="ctr"/>
          <a:lstStyle/>
          <a:p>
            <a:pPr indent="0" marL="0">
              <a:buNone/>
            </a:pPr>
            <a:r>
              <a:rPr lang="en-US" sz="1500" b="1" dirty="0">
                <a:solidFill>
                  <a:srgbClr val="243449"/>
                </a:solidFill>
                <a:latin typeface="Cambria" pitchFamily="34" charset="0"/>
                <a:ea typeface="Cambria" pitchFamily="34" charset="-122"/>
                <a:cs typeface="Cambria" pitchFamily="34" charset="-120"/>
              </a:rPr>
              <a:t>Bookshop.org</a:t>
            </a:r>
            <a:endParaRPr lang="en-US" sz="1500" dirty="0"/>
          </a:p>
        </p:txBody>
      </p:sp>
      <p:sp>
        <p:nvSpPr>
          <p:cNvPr id="23" name="Text 21"/>
          <p:cNvSpPr/>
          <p:nvPr/>
        </p:nvSpPr>
        <p:spPr>
          <a:xfrm>
            <a:off x="7635240" y="3465576"/>
            <a:ext cx="3675888" cy="603504"/>
          </a:xfrm>
          <a:prstGeom prst="rect">
            <a:avLst/>
          </a:prstGeom>
          <a:noFill/>
          <a:ln/>
        </p:spPr>
        <p:txBody>
          <a:bodyPr wrap="square" lIns="0" tIns="0" rIns="0" bIns="0" rtlCol="0" anchor="t"/>
          <a:lstStyle/>
          <a:p>
            <a:pPr indent="0" marL="0">
              <a:lnSpc>
                <a:spcPts val="1500"/>
              </a:lnSpc>
              <a:buNone/>
            </a:pPr>
            <a:r>
              <a:rPr lang="en-US" sz="1250" dirty="0">
                <a:solidFill>
                  <a:srgbClr val="6E7C97"/>
                </a:solidFill>
                <a:latin typeface="Calibri" pitchFamily="34" charset="0"/>
                <a:ea typeface="Calibri" pitchFamily="34" charset="-122"/>
                <a:cs typeface="Calibri" pitchFamily="34" charset="-120"/>
              </a:rPr>
              <a:t>Affiliate (paid). Auto-labels “View on Bookshop.”</a:t>
            </a:r>
            <a:endParaRPr lang="en-US" sz="1250" dirty="0"/>
          </a:p>
        </p:txBody>
      </p:sp>
      <p:sp>
        <p:nvSpPr>
          <p:cNvPr id="24" name="Shape 22"/>
          <p:cNvSpPr/>
          <p:nvPr/>
        </p:nvSpPr>
        <p:spPr>
          <a:xfrm>
            <a:off x="7406640" y="4251960"/>
            <a:ext cx="91440" cy="868680"/>
          </a:xfrm>
          <a:prstGeom prst="roundRect">
            <a:avLst>
              <a:gd name="adj" fmla="val 40000"/>
            </a:avLst>
          </a:prstGeom>
          <a:solidFill>
            <a:srgbClr val="2F6B3D"/>
          </a:solidFill>
          <a:ln/>
        </p:spPr>
      </p:sp>
      <p:sp>
        <p:nvSpPr>
          <p:cNvPr id="25" name="Text 23"/>
          <p:cNvSpPr/>
          <p:nvPr/>
        </p:nvSpPr>
        <p:spPr>
          <a:xfrm>
            <a:off x="7635240" y="4206240"/>
            <a:ext cx="3721608" cy="310896"/>
          </a:xfrm>
          <a:prstGeom prst="rect">
            <a:avLst/>
          </a:prstGeom>
          <a:noFill/>
          <a:ln/>
        </p:spPr>
        <p:txBody>
          <a:bodyPr wrap="square" lIns="0" tIns="0" rIns="0" bIns="0" rtlCol="0" anchor="ctr"/>
          <a:lstStyle/>
          <a:p>
            <a:pPr indent="0" marL="0">
              <a:buNone/>
            </a:pPr>
            <a:r>
              <a:rPr lang="en-US" sz="1500" b="1" dirty="0">
                <a:solidFill>
                  <a:srgbClr val="243449"/>
                </a:solidFill>
                <a:latin typeface="Cambria" pitchFamily="34" charset="0"/>
                <a:ea typeface="Cambria" pitchFamily="34" charset="-122"/>
                <a:cs typeface="Cambria" pitchFamily="34" charset="-120"/>
              </a:rPr>
              <a:t>Destination</a:t>
            </a:r>
            <a:endParaRPr lang="en-US" sz="1500" dirty="0"/>
          </a:p>
        </p:txBody>
      </p:sp>
      <p:sp>
        <p:nvSpPr>
          <p:cNvPr id="26" name="Text 24"/>
          <p:cNvSpPr/>
          <p:nvPr/>
        </p:nvSpPr>
        <p:spPr>
          <a:xfrm>
            <a:off x="7635240" y="4517136"/>
            <a:ext cx="3675888" cy="603504"/>
          </a:xfrm>
          <a:prstGeom prst="rect">
            <a:avLst/>
          </a:prstGeom>
          <a:noFill/>
          <a:ln/>
        </p:spPr>
        <p:txBody>
          <a:bodyPr wrap="square" lIns="0" tIns="0" rIns="0" bIns="0" rtlCol="0" anchor="t"/>
          <a:lstStyle/>
          <a:p>
            <a:pPr indent="0" marL="0">
              <a:lnSpc>
                <a:spcPts val="1500"/>
              </a:lnSpc>
              <a:buNone/>
            </a:pPr>
            <a:r>
              <a:rPr lang="en-US" sz="1250" dirty="0">
                <a:solidFill>
                  <a:srgbClr val="6E7C97"/>
                </a:solidFill>
                <a:latin typeface="Calibri" pitchFamily="34" charset="0"/>
                <a:ea typeface="Calibri" pitchFamily="34" charset="-122"/>
                <a:cs typeface="Calibri" pitchFamily="34" charset="-120"/>
              </a:rPr>
              <a:t>A city guide, tickets, an experience. Labels “Visit Site.”</a:t>
            </a:r>
            <a:endParaRPr lang="en-US" sz="1250" dirty="0"/>
          </a:p>
        </p:txBody>
      </p:sp>
      <p:sp>
        <p:nvSpPr>
          <p:cNvPr id="27" name="Text 25"/>
          <p:cNvSpPr/>
          <p:nvPr/>
        </p:nvSpPr>
        <p:spPr>
          <a:xfrm>
            <a:off x="7406640" y="5257800"/>
            <a:ext cx="3904488" cy="320040"/>
          </a:xfrm>
          <a:prstGeom prst="rect">
            <a:avLst/>
          </a:prstGeom>
          <a:noFill/>
          <a:ln/>
        </p:spPr>
        <p:txBody>
          <a:bodyPr wrap="square" lIns="0" tIns="0" rIns="0" bIns="0" rtlCol="0" anchor="ctr"/>
          <a:lstStyle/>
          <a:p>
            <a:pPr indent="0" marL="0">
              <a:buNone/>
            </a:pPr>
            <a:r>
              <a:rPr lang="en-US" sz="1150" i="1" dirty="0">
                <a:solidFill>
                  <a:srgbClr val="6E7C97"/>
                </a:solidFill>
                <a:latin typeface="Calibri" pitchFamily="34" charset="0"/>
                <a:ea typeface="Calibri" pitchFamily="34" charset="-122"/>
                <a:cs typeface="Calibri" pitchFamily="34" charset="-120"/>
              </a:rPr>
              <a:t>Leave Button label blank and the shop labels it for you by link type.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IMAGE + VERIFY BOXES</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Getting the picture right</a:t>
            </a:r>
            <a:endParaRPr lang="en-US" sz="3400" dirty="0"/>
          </a:p>
        </p:txBody>
      </p:sp>
      <p:sp>
        <p:nvSpPr>
          <p:cNvPr id="4" name="Text 2"/>
          <p:cNvSpPr/>
          <p:nvPr/>
        </p:nvSpPr>
        <p:spPr>
          <a:xfrm>
            <a:off x="548640" y="1554480"/>
            <a:ext cx="10972800" cy="365760"/>
          </a:xfrm>
          <a:prstGeom prst="rect">
            <a:avLst/>
          </a:prstGeom>
          <a:noFill/>
          <a:ln/>
        </p:spPr>
        <p:txBody>
          <a:bodyPr wrap="square" lIns="0" tIns="0" rIns="0" bIns="0" rtlCol="0" anchor="ctr"/>
          <a:lstStyle/>
          <a:p>
            <a:pPr indent="0" marL="0">
              <a:buNone/>
            </a:pPr>
            <a:r>
              <a:rPr lang="en-US" sz="1500" dirty="0">
                <a:solidFill>
                  <a:srgbClr val="243449"/>
                </a:solidFill>
                <a:latin typeface="Calibri" pitchFamily="34" charset="0"/>
                <a:ea typeface="Calibri" pitchFamily="34" charset="-122"/>
                <a:cs typeface="Calibri" pitchFamily="34" charset="-120"/>
              </a:rPr>
              <a:t>The image is the card. These tools help you fetch it, check it, and fix a broken one.</a:t>
            </a:r>
            <a:endParaRPr lang="en-US" sz="1500" dirty="0"/>
          </a:p>
        </p:txBody>
      </p:sp>
      <p:sp>
        <p:nvSpPr>
          <p:cNvPr id="5" name="Shape 3"/>
          <p:cNvSpPr/>
          <p:nvPr/>
        </p:nvSpPr>
        <p:spPr>
          <a:xfrm>
            <a:off x="548640" y="2240280"/>
            <a:ext cx="3529584" cy="1481328"/>
          </a:xfrm>
          <a:prstGeom prst="roundRect">
            <a:avLst>
              <a:gd name="adj" fmla="val 6173"/>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6" name="Shape 4"/>
          <p:cNvSpPr/>
          <p:nvPr/>
        </p:nvSpPr>
        <p:spPr>
          <a:xfrm>
            <a:off x="804672" y="2478024"/>
            <a:ext cx="1609344" cy="310896"/>
          </a:xfrm>
          <a:prstGeom prst="roundRect">
            <a:avLst>
              <a:gd name="adj" fmla="val 50000"/>
            </a:avLst>
          </a:prstGeom>
          <a:solidFill>
            <a:srgbClr val="C23737"/>
          </a:solidFill>
          <a:ln/>
        </p:spPr>
      </p:sp>
      <p:sp>
        <p:nvSpPr>
          <p:cNvPr id="7" name="Text 5"/>
          <p:cNvSpPr/>
          <p:nvPr/>
        </p:nvSpPr>
        <p:spPr>
          <a:xfrm>
            <a:off x="804672" y="2478024"/>
            <a:ext cx="1609344"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AUTO FILL</a:t>
            </a:r>
            <a:endParaRPr lang="en-US" sz="1100" dirty="0"/>
          </a:p>
        </p:txBody>
      </p:sp>
      <p:sp>
        <p:nvSpPr>
          <p:cNvPr id="8" name="Text 6"/>
          <p:cNvSpPr/>
          <p:nvPr/>
        </p:nvSpPr>
        <p:spPr>
          <a:xfrm>
            <a:off x="804672" y="2898648"/>
            <a:ext cx="3017520" cy="749808"/>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Scrapes the real product image (and any empty Title/Description) straight from an Amazon or Bookshop link.</a:t>
            </a:r>
            <a:endParaRPr lang="en-US" sz="1250" dirty="0"/>
          </a:p>
        </p:txBody>
      </p:sp>
      <p:sp>
        <p:nvSpPr>
          <p:cNvPr id="9" name="Shape 7"/>
          <p:cNvSpPr/>
          <p:nvPr/>
        </p:nvSpPr>
        <p:spPr>
          <a:xfrm>
            <a:off x="4315968" y="2240280"/>
            <a:ext cx="3529584" cy="1481328"/>
          </a:xfrm>
          <a:prstGeom prst="roundRect">
            <a:avLst>
              <a:gd name="adj" fmla="val 6173"/>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0" name="Shape 8"/>
          <p:cNvSpPr/>
          <p:nvPr/>
        </p:nvSpPr>
        <p:spPr>
          <a:xfrm>
            <a:off x="4572000" y="2478024"/>
            <a:ext cx="1737360" cy="310896"/>
          </a:xfrm>
          <a:prstGeom prst="roundRect">
            <a:avLst>
              <a:gd name="adj" fmla="val 50000"/>
            </a:avLst>
          </a:prstGeom>
          <a:solidFill>
            <a:srgbClr val="2D4880"/>
          </a:solidFill>
          <a:ln/>
        </p:spPr>
      </p:sp>
      <p:sp>
        <p:nvSpPr>
          <p:cNvPr id="11" name="Text 9"/>
          <p:cNvSpPr/>
          <p:nvPr/>
        </p:nvSpPr>
        <p:spPr>
          <a:xfrm>
            <a:off x="4572000" y="2478024"/>
            <a:ext cx="173736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  REFETCH</a:t>
            </a:r>
            <a:endParaRPr lang="en-US" sz="1100" dirty="0"/>
          </a:p>
        </p:txBody>
      </p:sp>
      <p:sp>
        <p:nvSpPr>
          <p:cNvPr id="12" name="Text 10"/>
          <p:cNvSpPr/>
          <p:nvPr/>
        </p:nvSpPr>
        <p:spPr>
          <a:xfrm>
            <a:off x="4572000" y="2898648"/>
            <a:ext cx="3017520" cy="749808"/>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The little circle on a field pulls just that one field from the link — so hand-written text is never overwritten.</a:t>
            </a:r>
            <a:endParaRPr lang="en-US" sz="1250" dirty="0"/>
          </a:p>
        </p:txBody>
      </p:sp>
      <p:sp>
        <p:nvSpPr>
          <p:cNvPr id="13" name="Shape 11"/>
          <p:cNvSpPr/>
          <p:nvPr/>
        </p:nvSpPr>
        <p:spPr>
          <a:xfrm>
            <a:off x="8083296" y="2240280"/>
            <a:ext cx="3529584" cy="1481328"/>
          </a:xfrm>
          <a:prstGeom prst="roundRect">
            <a:avLst>
              <a:gd name="adj" fmla="val 6173"/>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4" name="Shape 12"/>
          <p:cNvSpPr/>
          <p:nvPr/>
        </p:nvSpPr>
        <p:spPr>
          <a:xfrm>
            <a:off x="8339328" y="2478024"/>
            <a:ext cx="1993392" cy="310896"/>
          </a:xfrm>
          <a:prstGeom prst="roundRect">
            <a:avLst>
              <a:gd name="adj" fmla="val 50000"/>
            </a:avLst>
          </a:prstGeom>
          <a:solidFill>
            <a:srgbClr val="2D4880"/>
          </a:solidFill>
          <a:ln/>
        </p:spPr>
      </p:sp>
      <p:sp>
        <p:nvSpPr>
          <p:cNvPr id="15" name="Text 13"/>
          <p:cNvSpPr/>
          <p:nvPr/>
        </p:nvSpPr>
        <p:spPr>
          <a:xfrm>
            <a:off x="8339328" y="2478024"/>
            <a:ext cx="199339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UPLOAD IMAGE</a:t>
            </a:r>
            <a:endParaRPr lang="en-US" sz="1100" dirty="0"/>
          </a:p>
        </p:txBody>
      </p:sp>
      <p:sp>
        <p:nvSpPr>
          <p:cNvPr id="16" name="Text 14"/>
          <p:cNvSpPr/>
          <p:nvPr/>
        </p:nvSpPr>
        <p:spPr>
          <a:xfrm>
            <a:off x="8339328" y="2898648"/>
            <a:ext cx="3017520" cy="749808"/>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Appears inside the preview when a URL won’t load. Upload the picture to Storage as a fallback.</a:t>
            </a:r>
            <a:endParaRPr lang="en-US" sz="1250" dirty="0"/>
          </a:p>
        </p:txBody>
      </p:sp>
      <p:sp>
        <p:nvSpPr>
          <p:cNvPr id="17" name="Shape 15"/>
          <p:cNvSpPr/>
          <p:nvPr/>
        </p:nvSpPr>
        <p:spPr>
          <a:xfrm>
            <a:off x="548640" y="3977640"/>
            <a:ext cx="3529584" cy="1481328"/>
          </a:xfrm>
          <a:prstGeom prst="roundRect">
            <a:avLst>
              <a:gd name="adj" fmla="val 6173"/>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8" name="Shape 16"/>
          <p:cNvSpPr/>
          <p:nvPr/>
        </p:nvSpPr>
        <p:spPr>
          <a:xfrm>
            <a:off x="804672" y="4215384"/>
            <a:ext cx="1225296" cy="310896"/>
          </a:xfrm>
          <a:prstGeom prst="roundRect">
            <a:avLst>
              <a:gd name="adj" fmla="val 50000"/>
            </a:avLst>
          </a:prstGeom>
          <a:solidFill>
            <a:srgbClr val="2F6B3D"/>
          </a:solidFill>
          <a:ln/>
        </p:spPr>
      </p:sp>
      <p:sp>
        <p:nvSpPr>
          <p:cNvPr id="19" name="Text 17"/>
          <p:cNvSpPr/>
          <p:nvPr/>
        </p:nvSpPr>
        <p:spPr>
          <a:xfrm>
            <a:off x="804672" y="4215384"/>
            <a:ext cx="1225296"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TARGET</a:t>
            </a:r>
            <a:endParaRPr lang="en-US" sz="1100" dirty="0"/>
          </a:p>
        </p:txBody>
      </p:sp>
      <p:sp>
        <p:nvSpPr>
          <p:cNvPr id="20" name="Text 18"/>
          <p:cNvSpPr/>
          <p:nvPr/>
        </p:nvSpPr>
        <p:spPr>
          <a:xfrm>
            <a:off x="804672" y="4636008"/>
            <a:ext cx="3017520" cy="749808"/>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Opens the link in a new tab so you can confirm it goes where it should.</a:t>
            </a:r>
            <a:endParaRPr lang="en-US" sz="1250" dirty="0"/>
          </a:p>
        </p:txBody>
      </p:sp>
      <p:sp>
        <p:nvSpPr>
          <p:cNvPr id="21" name="Shape 19"/>
          <p:cNvSpPr/>
          <p:nvPr/>
        </p:nvSpPr>
        <p:spPr>
          <a:xfrm>
            <a:off x="4315968" y="3977640"/>
            <a:ext cx="3529584" cy="1481328"/>
          </a:xfrm>
          <a:prstGeom prst="roundRect">
            <a:avLst>
              <a:gd name="adj" fmla="val 6173"/>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2" name="Shape 20"/>
          <p:cNvSpPr/>
          <p:nvPr/>
        </p:nvSpPr>
        <p:spPr>
          <a:xfrm>
            <a:off x="4572000" y="4215384"/>
            <a:ext cx="969264" cy="310896"/>
          </a:xfrm>
          <a:prstGeom prst="roundRect">
            <a:avLst>
              <a:gd name="adj" fmla="val 50000"/>
            </a:avLst>
          </a:prstGeom>
          <a:solidFill>
            <a:srgbClr val="2F6B3D"/>
          </a:solidFill>
          <a:ln/>
        </p:spPr>
      </p:sp>
      <p:sp>
        <p:nvSpPr>
          <p:cNvPr id="23" name="Text 21"/>
          <p:cNvSpPr/>
          <p:nvPr/>
        </p:nvSpPr>
        <p:spPr>
          <a:xfrm>
            <a:off x="4572000" y="4215384"/>
            <a:ext cx="969264"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SHOP</a:t>
            </a:r>
            <a:endParaRPr lang="en-US" sz="1100" dirty="0"/>
          </a:p>
        </p:txBody>
      </p:sp>
      <p:sp>
        <p:nvSpPr>
          <p:cNvPr id="24" name="Text 22"/>
          <p:cNvSpPr/>
          <p:nvPr/>
        </p:nvSpPr>
        <p:spPr>
          <a:xfrm>
            <a:off x="4572000" y="4636008"/>
            <a:ext cx="3017520" cy="749808"/>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Previews the gift on the actual public card before you make it Live.</a:t>
            </a:r>
            <a:endParaRPr lang="en-US" sz="1250" dirty="0"/>
          </a:p>
        </p:txBody>
      </p:sp>
      <p:sp>
        <p:nvSpPr>
          <p:cNvPr id="25" name="Shape 23"/>
          <p:cNvSpPr/>
          <p:nvPr/>
        </p:nvSpPr>
        <p:spPr>
          <a:xfrm>
            <a:off x="8083296" y="3977640"/>
            <a:ext cx="3529584" cy="1481328"/>
          </a:xfrm>
          <a:prstGeom prst="roundRect">
            <a:avLst>
              <a:gd name="adj" fmla="val 6173"/>
            </a:avLst>
          </a:prstGeom>
          <a:solidFill>
            <a:srgbClr val="F1F5EC"/>
          </a:solidFill>
          <a:ln w="12700">
            <a:solidFill>
              <a:srgbClr val="CFE0C2"/>
            </a:solidFill>
            <a:prstDash val="solid"/>
          </a:ln>
          <a:effectLst>
            <a:outerShdw sx="100000" sy="100000" kx="0" ky="0" algn="bl" rotWithShape="0" blurRad="114300" dist="50800" dir="5400000">
              <a:srgbClr val="1F3A6B">
                <a:alpha val="20000"/>
              </a:srgbClr>
            </a:outerShdw>
          </a:effectLst>
        </p:spPr>
      </p:sp>
      <p:sp>
        <p:nvSpPr>
          <p:cNvPr id="26" name="Text 24"/>
          <p:cNvSpPr/>
          <p:nvPr/>
        </p:nvSpPr>
        <p:spPr>
          <a:xfrm>
            <a:off x="8339328" y="4197096"/>
            <a:ext cx="3017520" cy="274320"/>
          </a:xfrm>
          <a:prstGeom prst="rect">
            <a:avLst/>
          </a:prstGeom>
          <a:noFill/>
          <a:ln/>
        </p:spPr>
        <p:txBody>
          <a:bodyPr wrap="square" lIns="0" tIns="0" rIns="0" bIns="0" rtlCol="0" anchor="ctr"/>
          <a:lstStyle/>
          <a:p>
            <a:pPr indent="0" marL="0">
              <a:buNone/>
            </a:pPr>
            <a:r>
              <a:rPr lang="en-US" sz="1100" b="1" spc="100" kern="0" dirty="0">
                <a:solidFill>
                  <a:srgbClr val="2F6B3D"/>
                </a:solidFill>
                <a:latin typeface="Calibri" pitchFamily="34" charset="0"/>
                <a:ea typeface="Calibri" pitchFamily="34" charset="-122"/>
                <a:cs typeface="Calibri" pitchFamily="34" charset="-120"/>
              </a:rPr>
              <a:t>RULE OF THUMB</a:t>
            </a:r>
            <a:endParaRPr lang="en-US" sz="1100" dirty="0"/>
          </a:p>
        </p:txBody>
      </p:sp>
      <p:sp>
        <p:nvSpPr>
          <p:cNvPr id="27" name="Text 25"/>
          <p:cNvSpPr/>
          <p:nvPr/>
        </p:nvSpPr>
        <p:spPr>
          <a:xfrm>
            <a:off x="8339328" y="4507992"/>
            <a:ext cx="3017520" cy="868680"/>
          </a:xfrm>
          <a:prstGeom prst="rect">
            <a:avLst/>
          </a:prstGeom>
          <a:noFill/>
          <a:ln/>
        </p:spPr>
        <p:txBody>
          <a:bodyPr wrap="square" lIns="0" tIns="0" rIns="0" bIns="0" rtlCol="0" anchor="t"/>
          <a:lstStyle/>
          <a:p>
            <a:pPr indent="0" marL="0">
              <a:lnSpc>
                <a:spcPts val="1600"/>
              </a:lnSpc>
              <a:buNone/>
            </a:pPr>
            <a:r>
              <a:rPr lang="en-US" sz="1250" dirty="0">
                <a:solidFill>
                  <a:srgbClr val="243449"/>
                </a:solidFill>
                <a:latin typeface="Calibri" pitchFamily="34" charset="0"/>
                <a:ea typeface="Calibri" pitchFamily="34" charset="-122"/>
                <a:cs typeface="Calibri" pitchFamily="34" charset="-120"/>
              </a:rPr>
              <a:t>Auto Fill is Amazon / Bookshop only. For destination links, fill Title, Image and Description by hand.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THE SHOPS BOX</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Which cities a gift shows in</a:t>
            </a:r>
            <a:endParaRPr lang="en-US" sz="3400" dirty="0"/>
          </a:p>
        </p:txBody>
      </p:sp>
      <p:sp>
        <p:nvSpPr>
          <p:cNvPr id="4" name="Text 2"/>
          <p:cNvSpPr/>
          <p:nvPr/>
        </p:nvSpPr>
        <p:spPr>
          <a:xfrm>
            <a:off x="548640" y="1572768"/>
            <a:ext cx="10972800" cy="365760"/>
          </a:xfrm>
          <a:prstGeom prst="rect">
            <a:avLst/>
          </a:prstGeom>
          <a:noFill/>
          <a:ln/>
        </p:spPr>
        <p:txBody>
          <a:bodyPr wrap="square" lIns="0" tIns="0" rIns="0" bIns="0" rtlCol="0" anchor="ctr"/>
          <a:lstStyle/>
          <a:p>
            <a:pPr indent="0" marL="0">
              <a:buNone/>
            </a:pPr>
            <a:r>
              <a:rPr lang="en-US" sz="1500" dirty="0">
                <a:solidFill>
                  <a:srgbClr val="243449"/>
                </a:solidFill>
                <a:latin typeface="Calibri" pitchFamily="34" charset="0"/>
                <a:ea typeface="Calibri" pitchFamily="34" charset="-122"/>
                <a:cs typeface="Calibri" pitchFamily="34" charset="-120"/>
              </a:rPr>
              <a:t>A gift can live in </a:t>
            </a:r>
            <a:pPr indent="0" marL="0">
              <a:buNone/>
            </a:pPr>
            <a:r>
              <a:rPr lang="en-US" sz="1500" b="1" dirty="0">
                <a:solidFill>
                  <a:srgbClr val="243449"/>
                </a:solidFill>
                <a:latin typeface="Calibri" pitchFamily="34" charset="0"/>
                <a:ea typeface="Calibri" pitchFamily="34" charset="-122"/>
                <a:cs typeface="Calibri" pitchFamily="34" charset="-120"/>
              </a:rPr>
              <a:t>many cities at once</a:t>
            </a:r>
            <a:pPr indent="0" marL="0">
              <a:buNone/>
            </a:pPr>
            <a:r>
              <a:rPr lang="en-US" sz="1500" dirty="0">
                <a:solidFill>
                  <a:srgbClr val="243449"/>
                </a:solidFill>
                <a:latin typeface="Calibri" pitchFamily="34" charset="0"/>
                <a:ea typeface="Calibri" pitchFamily="34" charset="-122"/>
                <a:cs typeface="Calibri" pitchFamily="34" charset="-120"/>
              </a:rPr>
              <a:t>. The Shops box is where you attach them.</a:t>
            </a:r>
            <a:endParaRPr lang="en-US" sz="1500" dirty="0"/>
          </a:p>
        </p:txBody>
      </p:sp>
      <p:sp>
        <p:nvSpPr>
          <p:cNvPr id="5" name="Shape 3"/>
          <p:cNvSpPr/>
          <p:nvPr/>
        </p:nvSpPr>
        <p:spPr>
          <a:xfrm>
            <a:off x="548640" y="2286000"/>
            <a:ext cx="5943600" cy="914400"/>
          </a:xfrm>
          <a:prstGeom prst="roundRect">
            <a:avLst>
              <a:gd name="adj" fmla="val 10000"/>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6" name="Shape 4"/>
          <p:cNvSpPr/>
          <p:nvPr/>
        </p:nvSpPr>
        <p:spPr>
          <a:xfrm>
            <a:off x="749808" y="2551176"/>
            <a:ext cx="384048" cy="384048"/>
          </a:xfrm>
          <a:prstGeom prst="roundRect">
            <a:avLst>
              <a:gd name="adj" fmla="val 19048"/>
            </a:avLst>
          </a:prstGeom>
          <a:solidFill>
            <a:srgbClr val="2D4880"/>
          </a:solidFill>
          <a:ln/>
          <a:effectLst>
            <a:outerShdw sx="100000" sy="100000" kx="0" ky="0" algn="bl" rotWithShape="0" blurRad="114300" dist="50800" dir="5400000">
              <a:srgbClr val="1F3A6B">
                <a:alpha val="25000"/>
              </a:srgbClr>
            </a:outerShdw>
          </a:effectLst>
        </p:spPr>
      </p:sp>
      <p:sp>
        <p:nvSpPr>
          <p:cNvPr id="7" name="Text 5"/>
          <p:cNvSpPr/>
          <p:nvPr/>
        </p:nvSpPr>
        <p:spPr>
          <a:xfrm>
            <a:off x="749808" y="255117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298448" y="2432304"/>
            <a:ext cx="5029200" cy="310896"/>
          </a:xfrm>
          <a:prstGeom prst="rect">
            <a:avLst/>
          </a:prstGeom>
          <a:noFill/>
          <a:ln/>
        </p:spPr>
        <p:txBody>
          <a:bodyPr wrap="square" lIns="0" tIns="0" rIns="0" bIns="0" rtlCol="0" anchor="ctr"/>
          <a:lstStyle/>
          <a:p>
            <a:pPr indent="0" marL="0">
              <a:buNone/>
            </a:pPr>
            <a:r>
              <a:rPr lang="en-US" sz="1550" b="1" dirty="0">
                <a:solidFill>
                  <a:srgbClr val="2D4880"/>
                </a:solidFill>
                <a:latin typeface="Cambria" pitchFamily="34" charset="0"/>
                <a:ea typeface="Cambria" pitchFamily="34" charset="-122"/>
                <a:cs typeface="Cambria" pitchFamily="34" charset="-120"/>
              </a:rPr>
              <a:t>Add shop</a:t>
            </a:r>
            <a:endParaRPr lang="en-US" sz="1550" dirty="0"/>
          </a:p>
        </p:txBody>
      </p:sp>
      <p:sp>
        <p:nvSpPr>
          <p:cNvPr id="9" name="Text 7"/>
          <p:cNvSpPr/>
          <p:nvPr/>
        </p:nvSpPr>
        <p:spPr>
          <a:xfrm>
            <a:off x="1298448" y="2743200"/>
            <a:ext cx="4983480" cy="402336"/>
          </a:xfrm>
          <a:prstGeom prst="rect">
            <a:avLst/>
          </a:prstGeom>
          <a:noFill/>
          <a:ln/>
        </p:spPr>
        <p:txBody>
          <a:bodyPr wrap="square" lIns="0" tIns="0" rIns="0" bIns="0" rtlCol="0" anchor="ctr"/>
          <a:lstStyle/>
          <a:p>
            <a:pPr indent="0" marL="0">
              <a:lnSpc>
                <a:spcPts val="1500"/>
              </a:lnSpc>
              <a:buNone/>
            </a:pPr>
            <a:r>
              <a:rPr lang="en-US" sz="1250" dirty="0">
                <a:solidFill>
                  <a:srgbClr val="6E7C97"/>
                </a:solidFill>
                <a:latin typeface="Calibri" pitchFamily="34" charset="0"/>
                <a:ea typeface="Calibri" pitchFamily="34" charset="-122"/>
                <a:cs typeface="Calibri" pitchFamily="34" charset="-120"/>
              </a:rPr>
              <a:t>Opens a searchable picker of existing cities. Pick one or several, then Add selected.</a:t>
            </a:r>
            <a:endParaRPr lang="en-US" sz="1250" dirty="0"/>
          </a:p>
        </p:txBody>
      </p:sp>
      <p:sp>
        <p:nvSpPr>
          <p:cNvPr id="10" name="Shape 8"/>
          <p:cNvSpPr/>
          <p:nvPr/>
        </p:nvSpPr>
        <p:spPr>
          <a:xfrm>
            <a:off x="548640" y="3310128"/>
            <a:ext cx="5943600" cy="914400"/>
          </a:xfrm>
          <a:prstGeom prst="roundRect">
            <a:avLst>
              <a:gd name="adj" fmla="val 10000"/>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1" name="Shape 9"/>
          <p:cNvSpPr/>
          <p:nvPr/>
        </p:nvSpPr>
        <p:spPr>
          <a:xfrm>
            <a:off x="749808" y="3575304"/>
            <a:ext cx="384048" cy="384048"/>
          </a:xfrm>
          <a:prstGeom prst="roundRect">
            <a:avLst>
              <a:gd name="adj" fmla="val 19048"/>
            </a:avLst>
          </a:prstGeom>
          <a:solidFill>
            <a:srgbClr val="2D4880"/>
          </a:solidFill>
          <a:ln/>
          <a:effectLst>
            <a:outerShdw sx="100000" sy="100000" kx="0" ky="0" algn="bl" rotWithShape="0" blurRad="114300" dist="50800" dir="5400000">
              <a:srgbClr val="1F3A6B">
                <a:alpha val="25000"/>
              </a:srgbClr>
            </a:outerShdw>
          </a:effectLst>
        </p:spPr>
      </p:sp>
      <p:sp>
        <p:nvSpPr>
          <p:cNvPr id="12" name="Text 10"/>
          <p:cNvSpPr/>
          <p:nvPr/>
        </p:nvSpPr>
        <p:spPr>
          <a:xfrm>
            <a:off x="749808" y="357530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298448" y="3456432"/>
            <a:ext cx="5029200" cy="310896"/>
          </a:xfrm>
          <a:prstGeom prst="rect">
            <a:avLst/>
          </a:prstGeom>
          <a:noFill/>
          <a:ln/>
        </p:spPr>
        <p:txBody>
          <a:bodyPr wrap="square" lIns="0" tIns="0" rIns="0" bIns="0" rtlCol="0" anchor="ctr"/>
          <a:lstStyle/>
          <a:p>
            <a:pPr indent="0" marL="0">
              <a:buNone/>
            </a:pPr>
            <a:r>
              <a:rPr lang="en-US" sz="1550" b="1" dirty="0">
                <a:solidFill>
                  <a:srgbClr val="2D4880"/>
                </a:solidFill>
                <a:latin typeface="Cambria" pitchFamily="34" charset="0"/>
                <a:ea typeface="Cambria" pitchFamily="34" charset="-122"/>
                <a:cs typeface="Cambria" pitchFamily="34" charset="-120"/>
              </a:rPr>
              <a:t>ADD CITY</a:t>
            </a:r>
            <a:endParaRPr lang="en-US" sz="1550" dirty="0"/>
          </a:p>
        </p:txBody>
      </p:sp>
      <p:sp>
        <p:nvSpPr>
          <p:cNvPr id="14" name="Text 12"/>
          <p:cNvSpPr/>
          <p:nvPr/>
        </p:nvSpPr>
        <p:spPr>
          <a:xfrm>
            <a:off x="1298448" y="3767328"/>
            <a:ext cx="4983480" cy="402336"/>
          </a:xfrm>
          <a:prstGeom prst="rect">
            <a:avLst/>
          </a:prstGeom>
          <a:noFill/>
          <a:ln/>
        </p:spPr>
        <p:txBody>
          <a:bodyPr wrap="square" lIns="0" tIns="0" rIns="0" bIns="0" rtlCol="0" anchor="ctr"/>
          <a:lstStyle/>
          <a:p>
            <a:pPr indent="0" marL="0">
              <a:lnSpc>
                <a:spcPts val="1500"/>
              </a:lnSpc>
              <a:buNone/>
            </a:pPr>
            <a:r>
              <a:rPr lang="en-US" sz="1250" dirty="0">
                <a:solidFill>
                  <a:srgbClr val="6E7C97"/>
                </a:solidFill>
                <a:latin typeface="Calibri" pitchFamily="34" charset="0"/>
                <a:ea typeface="Calibri" pitchFamily="34" charset="-122"/>
                <a:cs typeface="Calibri" pitchFamily="34" charset="-120"/>
              </a:rPr>
              <a:t>Creates a brand-new city (name + country + state) and attaches this gift in one go.</a:t>
            </a:r>
            <a:endParaRPr lang="en-US" sz="1250" dirty="0"/>
          </a:p>
        </p:txBody>
      </p:sp>
      <p:sp>
        <p:nvSpPr>
          <p:cNvPr id="15" name="Shape 13"/>
          <p:cNvSpPr/>
          <p:nvPr/>
        </p:nvSpPr>
        <p:spPr>
          <a:xfrm>
            <a:off x="548640" y="4334256"/>
            <a:ext cx="5943600" cy="914400"/>
          </a:xfrm>
          <a:prstGeom prst="roundRect">
            <a:avLst>
              <a:gd name="adj" fmla="val 10000"/>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6" name="Shape 14"/>
          <p:cNvSpPr/>
          <p:nvPr/>
        </p:nvSpPr>
        <p:spPr>
          <a:xfrm>
            <a:off x="749808" y="4599432"/>
            <a:ext cx="384048" cy="384048"/>
          </a:xfrm>
          <a:prstGeom prst="roundRect">
            <a:avLst>
              <a:gd name="adj" fmla="val 19048"/>
            </a:avLst>
          </a:prstGeom>
          <a:solidFill>
            <a:srgbClr val="2D4880"/>
          </a:solidFill>
          <a:ln/>
          <a:effectLst>
            <a:outerShdw sx="100000" sy="100000" kx="0" ky="0" algn="bl" rotWithShape="0" blurRad="114300" dist="50800" dir="5400000">
              <a:srgbClr val="1F3A6B">
                <a:alpha val="25000"/>
              </a:srgbClr>
            </a:outerShdw>
          </a:effectLst>
        </p:spPr>
      </p:sp>
      <p:sp>
        <p:nvSpPr>
          <p:cNvPr id="17" name="Text 15"/>
          <p:cNvSpPr/>
          <p:nvPr/>
        </p:nvSpPr>
        <p:spPr>
          <a:xfrm>
            <a:off x="749808" y="4599432"/>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298448" y="4480560"/>
            <a:ext cx="5029200" cy="310896"/>
          </a:xfrm>
          <a:prstGeom prst="rect">
            <a:avLst/>
          </a:prstGeom>
          <a:noFill/>
          <a:ln/>
        </p:spPr>
        <p:txBody>
          <a:bodyPr wrap="square" lIns="0" tIns="0" rIns="0" bIns="0" rtlCol="0" anchor="ctr"/>
          <a:lstStyle/>
          <a:p>
            <a:pPr indent="0" marL="0">
              <a:buNone/>
            </a:pPr>
            <a:r>
              <a:rPr lang="en-US" sz="1550" b="1" dirty="0">
                <a:solidFill>
                  <a:srgbClr val="2D4880"/>
                </a:solidFill>
                <a:latin typeface="Cambria" pitchFamily="34" charset="0"/>
                <a:ea typeface="Cambria" pitchFamily="34" charset="-122"/>
                <a:cs typeface="Cambria" pitchFamily="34" charset="-120"/>
              </a:rPr>
              <a:t>City chips</a:t>
            </a:r>
            <a:endParaRPr lang="en-US" sz="1550" dirty="0"/>
          </a:p>
        </p:txBody>
      </p:sp>
      <p:sp>
        <p:nvSpPr>
          <p:cNvPr id="19" name="Text 17"/>
          <p:cNvSpPr/>
          <p:nvPr/>
        </p:nvSpPr>
        <p:spPr>
          <a:xfrm>
            <a:off x="1298448" y="4791456"/>
            <a:ext cx="4983480" cy="402336"/>
          </a:xfrm>
          <a:prstGeom prst="rect">
            <a:avLst/>
          </a:prstGeom>
          <a:noFill/>
          <a:ln/>
        </p:spPr>
        <p:txBody>
          <a:bodyPr wrap="square" lIns="0" tIns="0" rIns="0" bIns="0" rtlCol="0" anchor="ctr"/>
          <a:lstStyle/>
          <a:p>
            <a:pPr indent="0" marL="0">
              <a:lnSpc>
                <a:spcPts val="1500"/>
              </a:lnSpc>
              <a:buNone/>
            </a:pPr>
            <a:r>
              <a:rPr lang="en-US" sz="1250" dirty="0">
                <a:solidFill>
                  <a:srgbClr val="6E7C97"/>
                </a:solidFill>
                <a:latin typeface="Calibri" pitchFamily="34" charset="0"/>
                <a:ea typeface="Calibri" pitchFamily="34" charset="-122"/>
                <a:cs typeface="Calibri" pitchFamily="34" charset="-120"/>
              </a:rPr>
              <a:t>Each attached city shows as a chip on the card. Remove one to pull the gift from that city.</a:t>
            </a:r>
            <a:endParaRPr lang="en-US" sz="1250" dirty="0"/>
          </a:p>
        </p:txBody>
      </p:sp>
      <p:sp>
        <p:nvSpPr>
          <p:cNvPr id="20" name="Shape 18"/>
          <p:cNvSpPr/>
          <p:nvPr/>
        </p:nvSpPr>
        <p:spPr>
          <a:xfrm>
            <a:off x="6720840" y="2286000"/>
            <a:ext cx="4910328" cy="2148840"/>
          </a:xfrm>
          <a:prstGeom prst="roundRect">
            <a:avLst>
              <a:gd name="adj" fmla="val 4255"/>
            </a:avLst>
          </a:prstGeom>
          <a:solidFill>
            <a:srgbClr val="FBFAF3"/>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1" name="Text 19"/>
          <p:cNvSpPr/>
          <p:nvPr/>
        </p:nvSpPr>
        <p:spPr>
          <a:xfrm>
            <a:off x="7040880" y="2450592"/>
            <a:ext cx="4270248" cy="274320"/>
          </a:xfrm>
          <a:prstGeom prst="rect">
            <a:avLst/>
          </a:prstGeom>
          <a:noFill/>
          <a:ln/>
        </p:spPr>
        <p:txBody>
          <a:bodyPr wrap="square" lIns="0" tIns="0" rIns="0" bIns="0" rtlCol="0" anchor="ctr"/>
          <a:lstStyle/>
          <a:p>
            <a:pPr indent="0" marL="0">
              <a:buNone/>
            </a:pPr>
            <a:r>
              <a:rPr lang="en-US" sz="1100" b="1" spc="200" kern="0" dirty="0">
                <a:solidFill>
                  <a:srgbClr val="6E7C97"/>
                </a:solidFill>
                <a:latin typeface="Calibri" pitchFamily="34" charset="0"/>
                <a:ea typeface="Calibri" pitchFamily="34" charset="-122"/>
                <a:cs typeface="Calibri" pitchFamily="34" charset="-120"/>
              </a:rPr>
              <a:t>THIS GIFT APPEARS IN</a:t>
            </a:r>
            <a:endParaRPr lang="en-US" sz="1100" dirty="0"/>
          </a:p>
        </p:txBody>
      </p:sp>
      <p:sp>
        <p:nvSpPr>
          <p:cNvPr id="22" name="Shape 20"/>
          <p:cNvSpPr/>
          <p:nvPr/>
        </p:nvSpPr>
        <p:spPr>
          <a:xfrm>
            <a:off x="7040880" y="2816352"/>
            <a:ext cx="1463040" cy="384048"/>
          </a:xfrm>
          <a:prstGeom prst="roundRect">
            <a:avLst>
              <a:gd name="adj" fmla="val 50000"/>
            </a:avLst>
          </a:prstGeom>
          <a:solidFill>
            <a:srgbClr val="E7ECF6"/>
          </a:solidFill>
          <a:ln w="12700">
            <a:solidFill>
              <a:srgbClr val="C6D0E4"/>
            </a:solidFill>
            <a:prstDash val="solid"/>
          </a:ln>
        </p:spPr>
      </p:sp>
      <p:sp>
        <p:nvSpPr>
          <p:cNvPr id="23" name="Text 21"/>
          <p:cNvSpPr/>
          <p:nvPr/>
        </p:nvSpPr>
        <p:spPr>
          <a:xfrm>
            <a:off x="7040880" y="2816352"/>
            <a:ext cx="1463040" cy="384048"/>
          </a:xfrm>
          <a:prstGeom prst="rect">
            <a:avLst/>
          </a:prstGeom>
          <a:noFill/>
          <a:ln/>
        </p:spPr>
        <p:txBody>
          <a:bodyPr wrap="square" lIns="0" tIns="0" rIns="0" bIns="0" rtlCol="0" anchor="ctr"/>
          <a:lstStyle/>
          <a:p>
            <a:pPr algn="ctr" indent="0" marL="0">
              <a:buNone/>
            </a:pPr>
            <a:r>
              <a:rPr lang="en-US" sz="1150" b="1" dirty="0">
                <a:solidFill>
                  <a:srgbClr val="2D4880"/>
                </a:solidFill>
                <a:latin typeface="Calibri" pitchFamily="34" charset="0"/>
                <a:ea typeface="Calibri" pitchFamily="34" charset="-122"/>
                <a:cs typeface="Calibri" pitchFamily="34" charset="-120"/>
              </a:rPr>
              <a:t>New Orleans  ×</a:t>
            </a:r>
            <a:endParaRPr lang="en-US" sz="1150" dirty="0"/>
          </a:p>
        </p:txBody>
      </p:sp>
      <p:sp>
        <p:nvSpPr>
          <p:cNvPr id="24" name="Shape 22"/>
          <p:cNvSpPr/>
          <p:nvPr/>
        </p:nvSpPr>
        <p:spPr>
          <a:xfrm>
            <a:off x="8668512" y="2816352"/>
            <a:ext cx="1280160" cy="384048"/>
          </a:xfrm>
          <a:prstGeom prst="roundRect">
            <a:avLst>
              <a:gd name="adj" fmla="val 50000"/>
            </a:avLst>
          </a:prstGeom>
          <a:solidFill>
            <a:srgbClr val="E7ECF6"/>
          </a:solidFill>
          <a:ln w="12700">
            <a:solidFill>
              <a:srgbClr val="C6D0E4"/>
            </a:solidFill>
            <a:prstDash val="solid"/>
          </a:ln>
        </p:spPr>
      </p:sp>
      <p:sp>
        <p:nvSpPr>
          <p:cNvPr id="25" name="Text 23"/>
          <p:cNvSpPr/>
          <p:nvPr/>
        </p:nvSpPr>
        <p:spPr>
          <a:xfrm>
            <a:off x="8668512" y="2816352"/>
            <a:ext cx="1280160" cy="384048"/>
          </a:xfrm>
          <a:prstGeom prst="rect">
            <a:avLst/>
          </a:prstGeom>
          <a:noFill/>
          <a:ln/>
        </p:spPr>
        <p:txBody>
          <a:bodyPr wrap="square" lIns="0" tIns="0" rIns="0" bIns="0" rtlCol="0" anchor="ctr"/>
          <a:lstStyle/>
          <a:p>
            <a:pPr algn="ctr" indent="0" marL="0">
              <a:buNone/>
            </a:pPr>
            <a:r>
              <a:rPr lang="en-US" sz="1150" b="1" dirty="0">
                <a:solidFill>
                  <a:srgbClr val="2D4880"/>
                </a:solidFill>
                <a:latin typeface="Calibri" pitchFamily="34" charset="0"/>
                <a:ea typeface="Calibri" pitchFamily="34" charset="-122"/>
                <a:cs typeface="Calibri" pitchFamily="34" charset="-120"/>
              </a:rPr>
              <a:t>Nashville  ×</a:t>
            </a:r>
            <a:endParaRPr lang="en-US" sz="1150" dirty="0"/>
          </a:p>
        </p:txBody>
      </p:sp>
      <p:sp>
        <p:nvSpPr>
          <p:cNvPr id="26" name="Shape 24"/>
          <p:cNvSpPr/>
          <p:nvPr/>
        </p:nvSpPr>
        <p:spPr>
          <a:xfrm>
            <a:off x="10113264" y="2816352"/>
            <a:ext cx="1005840" cy="384048"/>
          </a:xfrm>
          <a:prstGeom prst="roundRect">
            <a:avLst>
              <a:gd name="adj" fmla="val 50000"/>
            </a:avLst>
          </a:prstGeom>
          <a:solidFill>
            <a:srgbClr val="E7ECF6"/>
          </a:solidFill>
          <a:ln w="12700">
            <a:solidFill>
              <a:srgbClr val="C6D0E4"/>
            </a:solidFill>
            <a:prstDash val="solid"/>
          </a:ln>
        </p:spPr>
      </p:sp>
      <p:sp>
        <p:nvSpPr>
          <p:cNvPr id="27" name="Text 25"/>
          <p:cNvSpPr/>
          <p:nvPr/>
        </p:nvSpPr>
        <p:spPr>
          <a:xfrm>
            <a:off x="10113264" y="2816352"/>
            <a:ext cx="1005840" cy="384048"/>
          </a:xfrm>
          <a:prstGeom prst="rect">
            <a:avLst/>
          </a:prstGeom>
          <a:noFill/>
          <a:ln/>
        </p:spPr>
        <p:txBody>
          <a:bodyPr wrap="square" lIns="0" tIns="0" rIns="0" bIns="0" rtlCol="0" anchor="ctr"/>
          <a:lstStyle/>
          <a:p>
            <a:pPr algn="ctr" indent="0" marL="0">
              <a:buNone/>
            </a:pPr>
            <a:r>
              <a:rPr lang="en-US" sz="1150" b="1" dirty="0">
                <a:solidFill>
                  <a:srgbClr val="2D4880"/>
                </a:solidFill>
                <a:latin typeface="Calibri" pitchFamily="34" charset="0"/>
                <a:ea typeface="Calibri" pitchFamily="34" charset="-122"/>
                <a:cs typeface="Calibri" pitchFamily="34" charset="-120"/>
              </a:rPr>
              <a:t>Austin  ×</a:t>
            </a:r>
            <a:endParaRPr lang="en-US" sz="1150" dirty="0"/>
          </a:p>
        </p:txBody>
      </p:sp>
      <p:sp>
        <p:nvSpPr>
          <p:cNvPr id="28" name="Shape 26"/>
          <p:cNvSpPr/>
          <p:nvPr/>
        </p:nvSpPr>
        <p:spPr>
          <a:xfrm>
            <a:off x="7040880" y="3319272"/>
            <a:ext cx="1097280" cy="384048"/>
          </a:xfrm>
          <a:prstGeom prst="roundRect">
            <a:avLst>
              <a:gd name="adj" fmla="val 50000"/>
            </a:avLst>
          </a:prstGeom>
          <a:solidFill>
            <a:srgbClr val="E7ECF6"/>
          </a:solidFill>
          <a:ln w="12700">
            <a:solidFill>
              <a:srgbClr val="C6D0E4"/>
            </a:solidFill>
            <a:prstDash val="solid"/>
          </a:ln>
        </p:spPr>
      </p:sp>
      <p:sp>
        <p:nvSpPr>
          <p:cNvPr id="29" name="Text 27"/>
          <p:cNvSpPr/>
          <p:nvPr/>
        </p:nvSpPr>
        <p:spPr>
          <a:xfrm>
            <a:off x="7040880" y="3319272"/>
            <a:ext cx="1097280" cy="384048"/>
          </a:xfrm>
          <a:prstGeom prst="rect">
            <a:avLst/>
          </a:prstGeom>
          <a:noFill/>
          <a:ln/>
        </p:spPr>
        <p:txBody>
          <a:bodyPr wrap="square" lIns="0" tIns="0" rIns="0" bIns="0" rtlCol="0" anchor="ctr"/>
          <a:lstStyle/>
          <a:p>
            <a:pPr algn="ctr" indent="0" marL="0">
              <a:buNone/>
            </a:pPr>
            <a:r>
              <a:rPr lang="en-US" sz="1150" b="1" dirty="0">
                <a:solidFill>
                  <a:srgbClr val="2D4880"/>
                </a:solidFill>
                <a:latin typeface="Calibri" pitchFamily="34" charset="0"/>
                <a:ea typeface="Calibri" pitchFamily="34" charset="-122"/>
                <a:cs typeface="Calibri" pitchFamily="34" charset="-120"/>
              </a:rPr>
              <a:t>Memphis  ×</a:t>
            </a:r>
            <a:endParaRPr lang="en-US" sz="1150" dirty="0"/>
          </a:p>
        </p:txBody>
      </p:sp>
      <p:sp>
        <p:nvSpPr>
          <p:cNvPr id="30" name="Shape 28"/>
          <p:cNvSpPr/>
          <p:nvPr/>
        </p:nvSpPr>
        <p:spPr>
          <a:xfrm>
            <a:off x="6720840" y="4617720"/>
            <a:ext cx="4910328" cy="1005840"/>
          </a:xfrm>
          <a:prstGeom prst="roundRect">
            <a:avLst>
              <a:gd name="adj" fmla="val 9091"/>
            </a:avLst>
          </a:prstGeom>
          <a:solidFill>
            <a:srgbClr val="1F3A6B"/>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31" name="Text 29"/>
          <p:cNvSpPr/>
          <p:nvPr/>
        </p:nvSpPr>
        <p:spPr>
          <a:xfrm>
            <a:off x="7040880" y="4754880"/>
            <a:ext cx="4270248" cy="77724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libri" pitchFamily="34" charset="0"/>
                <a:ea typeface="Calibri" pitchFamily="34" charset="-122"/>
                <a:cs typeface="Calibri" pitchFamily="34" charset="-120"/>
              </a:rPr>
              <a:t>Venue-only cities are greyed. </a:t>
            </a:r>
            <a:pPr indent="0" marL="0">
              <a:lnSpc>
                <a:spcPts val="1600"/>
              </a:lnSpc>
              <a:buNone/>
            </a:pPr>
            <a:r>
              <a:rPr lang="en-US" sz="1300" dirty="0">
                <a:solidFill>
                  <a:srgbClr val="CADCFC"/>
                </a:solidFill>
                <a:latin typeface="Calibri" pitchFamily="34" charset="0"/>
                <a:ea typeface="Calibri" pitchFamily="34" charset="-122"/>
                <a:cs typeface="Calibri" pitchFamily="34" charset="-120"/>
              </a:rPr>
              <a:t>A place a team plays but we don’t sell gifts for still shows in the admin picker — in grey — so you can attach it deliberately.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THE ADD BAR</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Three ways to add a gift</a:t>
            </a:r>
            <a:endParaRPr lang="en-US" sz="3400" dirty="0"/>
          </a:p>
        </p:txBody>
      </p:sp>
      <p:sp>
        <p:nvSpPr>
          <p:cNvPr id="4" name="Shape 2"/>
          <p:cNvSpPr/>
          <p:nvPr/>
        </p:nvSpPr>
        <p:spPr>
          <a:xfrm>
            <a:off x="548640" y="1783080"/>
            <a:ext cx="3566160" cy="3383280"/>
          </a:xfrm>
          <a:prstGeom prst="roundRect">
            <a:avLst>
              <a:gd name="adj" fmla="val 2703"/>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5" name="Shape 3"/>
          <p:cNvSpPr/>
          <p:nvPr/>
        </p:nvSpPr>
        <p:spPr>
          <a:xfrm>
            <a:off x="822960" y="2075688"/>
            <a:ext cx="3017520" cy="566928"/>
          </a:xfrm>
          <a:prstGeom prst="roundRect">
            <a:avLst>
              <a:gd name="adj" fmla="val 16129"/>
            </a:avLst>
          </a:prstGeom>
          <a:solidFill>
            <a:srgbClr val="C23737"/>
          </a:solidFill>
          <a:ln/>
          <a:effectLst>
            <a:outerShdw sx="100000" sy="100000" kx="0" ky="0" algn="bl" rotWithShape="0" blurRad="114300" dist="50800" dir="5400000">
              <a:srgbClr val="1F3A6B">
                <a:alpha val="20000"/>
              </a:srgbClr>
            </a:outerShdw>
          </a:effectLst>
        </p:spPr>
      </p:sp>
      <p:sp>
        <p:nvSpPr>
          <p:cNvPr id="6" name="Text 4"/>
          <p:cNvSpPr/>
          <p:nvPr/>
        </p:nvSpPr>
        <p:spPr>
          <a:xfrm>
            <a:off x="822960" y="2075688"/>
            <a:ext cx="3017520" cy="566928"/>
          </a:xfrm>
          <a:prstGeom prst="rect">
            <a:avLst/>
          </a:prstGeom>
          <a:noFill/>
          <a:ln/>
        </p:spPr>
        <p:txBody>
          <a:bodyPr wrap="square" lIns="0" tIns="0" rIns="0" bIns="0" rtlCol="0" anchor="ctr"/>
          <a:lstStyle/>
          <a:p>
            <a:pPr algn="ctr" indent="0" marL="0">
              <a:buNone/>
            </a:pPr>
            <a:r>
              <a:rPr lang="en-US" sz="2000" b="1" spc="100" kern="0" dirty="0">
                <a:solidFill>
                  <a:srgbClr val="FFFFFF"/>
                </a:solidFill>
                <a:latin typeface="Cambria" pitchFamily="34" charset="0"/>
                <a:ea typeface="Cambria" pitchFamily="34" charset="-122"/>
                <a:cs typeface="Cambria" pitchFamily="34" charset="-120"/>
              </a:rPr>
              <a:t>MANUAL</a:t>
            </a:r>
            <a:endParaRPr lang="en-US" sz="2000" dirty="0"/>
          </a:p>
        </p:txBody>
      </p:sp>
      <p:sp>
        <p:nvSpPr>
          <p:cNvPr id="7" name="Text 5"/>
          <p:cNvSpPr/>
          <p:nvPr/>
        </p:nvSpPr>
        <p:spPr>
          <a:xfrm>
            <a:off x="822960" y="2770632"/>
            <a:ext cx="3017520" cy="320040"/>
          </a:xfrm>
          <a:prstGeom prst="rect">
            <a:avLst/>
          </a:prstGeom>
          <a:noFill/>
          <a:ln/>
        </p:spPr>
        <p:txBody>
          <a:bodyPr wrap="square" lIns="0" tIns="0" rIns="0" bIns="0" rtlCol="0" anchor="ctr"/>
          <a:lstStyle/>
          <a:p>
            <a:pPr algn="ctr" indent="0" marL="0">
              <a:buNone/>
            </a:pPr>
            <a:r>
              <a:rPr lang="en-US" sz="1350" b="1" i="1" dirty="0">
                <a:solidFill>
                  <a:srgbClr val="C23737"/>
                </a:solidFill>
                <a:latin typeface="Calibri" pitchFamily="34" charset="0"/>
                <a:ea typeface="Calibri" pitchFamily="34" charset="-122"/>
                <a:cs typeface="Calibri" pitchFamily="34" charset="-120"/>
              </a:rPr>
              <a:t>You type everything</a:t>
            </a:r>
            <a:endParaRPr lang="en-US" sz="1350" dirty="0"/>
          </a:p>
        </p:txBody>
      </p:sp>
      <p:sp>
        <p:nvSpPr>
          <p:cNvPr id="8" name="Text 6"/>
          <p:cNvSpPr/>
          <p:nvPr/>
        </p:nvSpPr>
        <p:spPr>
          <a:xfrm>
            <a:off x="822960" y="3154680"/>
            <a:ext cx="3017520" cy="1828800"/>
          </a:xfrm>
          <a:prstGeom prst="rect">
            <a:avLst/>
          </a:prstGeom>
          <a:noFill/>
          <a:ln/>
        </p:spPr>
        <p:txBody>
          <a:bodyPr wrap="square" lIns="0" tIns="0" rIns="0" bIns="0" rtlCol="0" anchor="t"/>
          <a:lstStyle/>
          <a:p>
            <a:pPr algn="l" indent="0" marL="0">
              <a:lnSpc>
                <a:spcPts val="1800"/>
              </a:lnSpc>
              <a:buNone/>
            </a:pPr>
            <a:r>
              <a:rPr lang="en-US" sz="1300" dirty="0">
                <a:solidFill>
                  <a:srgbClr val="6E7C97"/>
                </a:solidFill>
                <a:latin typeface="Calibri" pitchFamily="34" charset="0"/>
                <a:ea typeface="Calibri" pitchFamily="34" charset="-122"/>
                <a:cs typeface="Calibri" pitchFamily="34" charset="-120"/>
              </a:rPr>
              <a:t>Open a blank card and fill Title, Link, Image, Description yourself. Best for a specific gift you already have in mind.</a:t>
            </a:r>
            <a:endParaRPr lang="en-US" sz="1300" dirty="0"/>
          </a:p>
        </p:txBody>
      </p:sp>
      <p:sp>
        <p:nvSpPr>
          <p:cNvPr id="9" name="Shape 7"/>
          <p:cNvSpPr/>
          <p:nvPr/>
        </p:nvSpPr>
        <p:spPr>
          <a:xfrm>
            <a:off x="4334256" y="1783080"/>
            <a:ext cx="3566160" cy="3383280"/>
          </a:xfrm>
          <a:prstGeom prst="roundRect">
            <a:avLst>
              <a:gd name="adj" fmla="val 2703"/>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0" name="Shape 8"/>
          <p:cNvSpPr/>
          <p:nvPr/>
        </p:nvSpPr>
        <p:spPr>
          <a:xfrm>
            <a:off x="4608576" y="2075688"/>
            <a:ext cx="3017520" cy="566928"/>
          </a:xfrm>
          <a:prstGeom prst="roundRect">
            <a:avLst>
              <a:gd name="adj" fmla="val 16129"/>
            </a:avLst>
          </a:prstGeom>
          <a:solidFill>
            <a:srgbClr val="2D4880"/>
          </a:solidFill>
          <a:ln/>
          <a:effectLst>
            <a:outerShdw sx="100000" sy="100000" kx="0" ky="0" algn="bl" rotWithShape="0" blurRad="114300" dist="50800" dir="5400000">
              <a:srgbClr val="1F3A6B">
                <a:alpha val="20000"/>
              </a:srgbClr>
            </a:outerShdw>
          </a:effectLst>
        </p:spPr>
      </p:sp>
      <p:sp>
        <p:nvSpPr>
          <p:cNvPr id="11" name="Text 9"/>
          <p:cNvSpPr/>
          <p:nvPr/>
        </p:nvSpPr>
        <p:spPr>
          <a:xfrm>
            <a:off x="4608576" y="2075688"/>
            <a:ext cx="3017520" cy="566928"/>
          </a:xfrm>
          <a:prstGeom prst="rect">
            <a:avLst/>
          </a:prstGeom>
          <a:noFill/>
          <a:ln/>
        </p:spPr>
        <p:txBody>
          <a:bodyPr wrap="square" lIns="0" tIns="0" rIns="0" bIns="0" rtlCol="0" anchor="ctr"/>
          <a:lstStyle/>
          <a:p>
            <a:pPr algn="ctr" indent="0" marL="0">
              <a:buNone/>
            </a:pPr>
            <a:r>
              <a:rPr lang="en-US" sz="2000" b="1" spc="100" kern="0" dirty="0">
                <a:solidFill>
                  <a:srgbClr val="FFFFFF"/>
                </a:solidFill>
                <a:latin typeface="Cambria" pitchFamily="34" charset="0"/>
                <a:ea typeface="Cambria" pitchFamily="34" charset="-122"/>
                <a:cs typeface="Cambria" pitchFamily="34" charset="-120"/>
              </a:rPr>
              <a:t>WITH AI</a:t>
            </a:r>
            <a:endParaRPr lang="en-US" sz="2000" dirty="0"/>
          </a:p>
        </p:txBody>
      </p:sp>
      <p:sp>
        <p:nvSpPr>
          <p:cNvPr id="12" name="Text 10"/>
          <p:cNvSpPr/>
          <p:nvPr/>
        </p:nvSpPr>
        <p:spPr>
          <a:xfrm>
            <a:off x="4608576" y="2770632"/>
            <a:ext cx="3017520" cy="320040"/>
          </a:xfrm>
          <a:prstGeom prst="rect">
            <a:avLst/>
          </a:prstGeom>
          <a:noFill/>
          <a:ln/>
        </p:spPr>
        <p:txBody>
          <a:bodyPr wrap="square" lIns="0" tIns="0" rIns="0" bIns="0" rtlCol="0" anchor="ctr"/>
          <a:lstStyle/>
          <a:p>
            <a:pPr algn="ctr" indent="0" marL="0">
              <a:buNone/>
            </a:pPr>
            <a:r>
              <a:rPr lang="en-US" sz="1350" b="1" i="1" dirty="0">
                <a:solidFill>
                  <a:srgbClr val="2D4880"/>
                </a:solidFill>
                <a:latin typeface="Calibri" pitchFamily="34" charset="0"/>
                <a:ea typeface="Calibri" pitchFamily="34" charset="-122"/>
                <a:cs typeface="Calibri" pitchFamily="34" charset="-120"/>
              </a:rPr>
              <a:t>Generate a prompt</a:t>
            </a:r>
            <a:endParaRPr lang="en-US" sz="1350" dirty="0"/>
          </a:p>
        </p:txBody>
      </p:sp>
      <p:sp>
        <p:nvSpPr>
          <p:cNvPr id="13" name="Text 11"/>
          <p:cNvSpPr/>
          <p:nvPr/>
        </p:nvSpPr>
        <p:spPr>
          <a:xfrm>
            <a:off x="4608576" y="3154680"/>
            <a:ext cx="3017520" cy="1828800"/>
          </a:xfrm>
          <a:prstGeom prst="rect">
            <a:avLst/>
          </a:prstGeom>
          <a:noFill/>
          <a:ln/>
        </p:spPr>
        <p:txBody>
          <a:bodyPr wrap="square" lIns="0" tIns="0" rIns="0" bIns="0" rtlCol="0" anchor="t"/>
          <a:lstStyle/>
          <a:p>
            <a:pPr algn="l" indent="0" marL="0">
              <a:lnSpc>
                <a:spcPts val="1800"/>
              </a:lnSpc>
              <a:buNone/>
            </a:pPr>
            <a:r>
              <a:rPr lang="en-US" sz="1300" dirty="0">
                <a:solidFill>
                  <a:srgbClr val="6E7C97"/>
                </a:solidFill>
                <a:latin typeface="Calibri" pitchFamily="34" charset="0"/>
                <a:ea typeface="Calibri" pitchFamily="34" charset="-122"/>
                <a:cs typeface="Calibri" pitchFamily="34" charset="-120"/>
              </a:rPr>
              <a:t>Pick a source (Bookshop / Amazon / City Guides) and keywords; copy the ready-made prompt into a web assistant, then paste the SQL it returns into the database.</a:t>
            </a:r>
            <a:endParaRPr lang="en-US" sz="1300" dirty="0"/>
          </a:p>
        </p:txBody>
      </p:sp>
      <p:sp>
        <p:nvSpPr>
          <p:cNvPr id="14" name="Shape 12"/>
          <p:cNvSpPr/>
          <p:nvPr/>
        </p:nvSpPr>
        <p:spPr>
          <a:xfrm>
            <a:off x="8119872" y="1783080"/>
            <a:ext cx="3566160" cy="3383280"/>
          </a:xfrm>
          <a:prstGeom prst="roundRect">
            <a:avLst>
              <a:gd name="adj" fmla="val 2703"/>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5" name="Shape 13"/>
          <p:cNvSpPr/>
          <p:nvPr/>
        </p:nvSpPr>
        <p:spPr>
          <a:xfrm>
            <a:off x="8394192" y="2075688"/>
            <a:ext cx="3017520" cy="566928"/>
          </a:xfrm>
          <a:prstGeom prst="roundRect">
            <a:avLst>
              <a:gd name="adj" fmla="val 16129"/>
            </a:avLst>
          </a:prstGeom>
          <a:solidFill>
            <a:srgbClr val="2F6B3D"/>
          </a:solidFill>
          <a:ln/>
          <a:effectLst>
            <a:outerShdw sx="100000" sy="100000" kx="0" ky="0" algn="bl" rotWithShape="0" blurRad="114300" dist="50800" dir="5400000">
              <a:srgbClr val="1F3A6B">
                <a:alpha val="20000"/>
              </a:srgbClr>
            </a:outerShdw>
          </a:effectLst>
        </p:spPr>
      </p:sp>
      <p:sp>
        <p:nvSpPr>
          <p:cNvPr id="16" name="Text 14"/>
          <p:cNvSpPr/>
          <p:nvPr/>
        </p:nvSpPr>
        <p:spPr>
          <a:xfrm>
            <a:off x="8394192" y="2075688"/>
            <a:ext cx="3017520" cy="566928"/>
          </a:xfrm>
          <a:prstGeom prst="rect">
            <a:avLst/>
          </a:prstGeom>
          <a:noFill/>
          <a:ln/>
        </p:spPr>
        <p:txBody>
          <a:bodyPr wrap="square" lIns="0" tIns="0" rIns="0" bIns="0" rtlCol="0" anchor="ctr"/>
          <a:lstStyle/>
          <a:p>
            <a:pPr algn="ctr" indent="0" marL="0">
              <a:buNone/>
            </a:pPr>
            <a:r>
              <a:rPr lang="en-US" sz="2000" b="1" spc="100" kern="0" dirty="0">
                <a:solidFill>
                  <a:srgbClr val="FFFFFF"/>
                </a:solidFill>
                <a:latin typeface="Cambria" pitchFamily="34" charset="0"/>
                <a:ea typeface="Cambria" pitchFamily="34" charset="-122"/>
                <a:cs typeface="Cambria" pitchFamily="34" charset="-120"/>
              </a:rPr>
              <a:t>NIGHTLY</a:t>
            </a:r>
            <a:endParaRPr lang="en-US" sz="2000" dirty="0"/>
          </a:p>
        </p:txBody>
      </p:sp>
      <p:sp>
        <p:nvSpPr>
          <p:cNvPr id="17" name="Text 15"/>
          <p:cNvSpPr/>
          <p:nvPr/>
        </p:nvSpPr>
        <p:spPr>
          <a:xfrm>
            <a:off x="8394192" y="2770632"/>
            <a:ext cx="3017520" cy="320040"/>
          </a:xfrm>
          <a:prstGeom prst="rect">
            <a:avLst/>
          </a:prstGeom>
          <a:noFill/>
          <a:ln/>
        </p:spPr>
        <p:txBody>
          <a:bodyPr wrap="square" lIns="0" tIns="0" rIns="0" bIns="0" rtlCol="0" anchor="ctr"/>
          <a:lstStyle/>
          <a:p>
            <a:pPr algn="ctr" indent="0" marL="0">
              <a:buNone/>
            </a:pPr>
            <a:r>
              <a:rPr lang="en-US" sz="1350" b="1" i="1" dirty="0">
                <a:solidFill>
                  <a:srgbClr val="2F6B3D"/>
                </a:solidFill>
                <a:latin typeface="Calibri" pitchFamily="34" charset="0"/>
                <a:ea typeface="Calibri" pitchFamily="34" charset="-122"/>
                <a:cs typeface="Calibri" pitchFamily="34" charset="-120"/>
              </a:rPr>
              <a:t>It runs itself</a:t>
            </a:r>
            <a:endParaRPr lang="en-US" sz="1350" dirty="0"/>
          </a:p>
        </p:txBody>
      </p:sp>
      <p:sp>
        <p:nvSpPr>
          <p:cNvPr id="18" name="Text 16"/>
          <p:cNvSpPr/>
          <p:nvPr/>
        </p:nvSpPr>
        <p:spPr>
          <a:xfrm>
            <a:off x="8394192" y="3154680"/>
            <a:ext cx="3017520" cy="1828800"/>
          </a:xfrm>
          <a:prstGeom prst="rect">
            <a:avLst/>
          </a:prstGeom>
          <a:noFill/>
          <a:ln/>
        </p:spPr>
        <p:txBody>
          <a:bodyPr wrap="square" lIns="0" tIns="0" rIns="0" bIns="0" rtlCol="0" anchor="t"/>
          <a:lstStyle/>
          <a:p>
            <a:pPr algn="l" indent="0" marL="0">
              <a:lnSpc>
                <a:spcPts val="1800"/>
              </a:lnSpc>
              <a:buNone/>
            </a:pPr>
            <a:r>
              <a:rPr lang="en-US" sz="1300" dirty="0">
                <a:solidFill>
                  <a:srgbClr val="6E7C97"/>
                </a:solidFill>
                <a:latin typeface="Calibri" pitchFamily="34" charset="0"/>
                <a:ea typeface="Calibri" pitchFamily="34" charset="-122"/>
                <a:cs typeface="Calibri" pitchFamily="34" charset="-120"/>
              </a:rPr>
              <a:t>A reference popup explaining the automation that adds gifts on its own each night. Nothing to do here — it’s informational.</a:t>
            </a:r>
            <a:endParaRPr lang="en-US" sz="1300" dirty="0"/>
          </a:p>
        </p:txBody>
      </p:sp>
      <p:sp>
        <p:nvSpPr>
          <p:cNvPr id="19" name="Shape 17"/>
          <p:cNvSpPr/>
          <p:nvPr/>
        </p:nvSpPr>
        <p:spPr>
          <a:xfrm>
            <a:off x="548640" y="5394960"/>
            <a:ext cx="11082528" cy="566928"/>
          </a:xfrm>
          <a:prstGeom prst="roundRect">
            <a:avLst>
              <a:gd name="adj" fmla="val 16129"/>
            </a:avLst>
          </a:prstGeom>
          <a:solidFill>
            <a:srgbClr val="FBFAF3"/>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0" name="Text 18"/>
          <p:cNvSpPr/>
          <p:nvPr/>
        </p:nvSpPr>
        <p:spPr>
          <a:xfrm>
            <a:off x="548640" y="5394960"/>
            <a:ext cx="11082528" cy="566928"/>
          </a:xfrm>
          <a:prstGeom prst="rect">
            <a:avLst/>
          </a:prstGeom>
          <a:noFill/>
          <a:ln/>
        </p:spPr>
        <p:txBody>
          <a:bodyPr wrap="square" lIns="0" tIns="0" rIns="0" bIns="0" rtlCol="0" anchor="ctr"/>
          <a:lstStyle/>
          <a:p>
            <a:pPr algn="ctr" indent="0" marL="0">
              <a:buNone/>
            </a:pPr>
            <a:r>
              <a:rPr lang="en-US" sz="1350" b="1" dirty="0">
                <a:solidFill>
                  <a:srgbClr val="C23737"/>
                </a:solidFill>
                <a:latin typeface="Calibri" pitchFamily="34" charset="0"/>
                <a:ea typeface="Calibri" pitchFamily="34" charset="-122"/>
                <a:cs typeface="Calibri" pitchFamily="34" charset="-120"/>
              </a:rPr>
              <a:t>However a gift arrives, it starts in REVIEW. </a:t>
            </a:r>
            <a:pPr algn="ctr" indent="0" marL="0">
              <a:buNone/>
            </a:pPr>
            <a:r>
              <a:rPr lang="en-US" sz="1350" dirty="0">
                <a:solidFill>
                  <a:srgbClr val="243449"/>
                </a:solidFill>
                <a:latin typeface="Calibri" pitchFamily="34" charset="0"/>
                <a:ea typeface="Calibri" pitchFamily="34" charset="-122"/>
                <a:cs typeface="Calibri" pitchFamily="34" charset="-120"/>
              </a:rPr>
              <a:t>You always decide what goes Live — nothing publishes itself.</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SEARCH, FILTER &amp; SORT</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Finding a gift in the list</a:t>
            </a:r>
            <a:endParaRPr lang="en-US" sz="3400" dirty="0"/>
          </a:p>
        </p:txBody>
      </p:sp>
      <p:sp>
        <p:nvSpPr>
          <p:cNvPr id="4" name="Text 2"/>
          <p:cNvSpPr/>
          <p:nvPr/>
        </p:nvSpPr>
        <p:spPr>
          <a:xfrm>
            <a:off x="548640" y="1554480"/>
            <a:ext cx="10972800" cy="365760"/>
          </a:xfrm>
          <a:prstGeom prst="rect">
            <a:avLst/>
          </a:prstGeom>
          <a:noFill/>
          <a:ln/>
        </p:spPr>
        <p:txBody>
          <a:bodyPr wrap="square" lIns="0" tIns="0" rIns="0" bIns="0" rtlCol="0" anchor="ctr"/>
          <a:lstStyle/>
          <a:p>
            <a:pPr indent="0" marL="0">
              <a:buNone/>
            </a:pPr>
            <a:r>
              <a:rPr lang="en-US" sz="1500" dirty="0">
                <a:solidFill>
                  <a:srgbClr val="243449"/>
                </a:solidFill>
                <a:latin typeface="Calibri" pitchFamily="34" charset="0"/>
                <a:ea typeface="Calibri" pitchFamily="34" charset="-122"/>
                <a:cs typeface="Calibri" pitchFamily="34" charset="-120"/>
              </a:rPr>
              <a:t>The catalog is large. The toolbar row narrows it fast.</a:t>
            </a:r>
            <a:endParaRPr lang="en-US" sz="1500" dirty="0"/>
          </a:p>
        </p:txBody>
      </p:sp>
      <p:sp>
        <p:nvSpPr>
          <p:cNvPr id="5" name="Shape 3"/>
          <p:cNvSpPr/>
          <p:nvPr/>
        </p:nvSpPr>
        <p:spPr>
          <a:xfrm>
            <a:off x="548640" y="2148840"/>
            <a:ext cx="6035040" cy="640080"/>
          </a:xfrm>
          <a:prstGeom prst="roundRect">
            <a:avLst>
              <a:gd name="adj" fmla="val 1428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6" name="Text 4"/>
          <p:cNvSpPr/>
          <p:nvPr/>
        </p:nvSpPr>
        <p:spPr>
          <a:xfrm>
            <a:off x="731520" y="2203704"/>
            <a:ext cx="1920240" cy="530352"/>
          </a:xfrm>
          <a:prstGeom prst="rect">
            <a:avLst/>
          </a:prstGeom>
          <a:noFill/>
          <a:ln/>
        </p:spPr>
        <p:txBody>
          <a:bodyPr wrap="square" lIns="0" tIns="0" rIns="0" bIns="0" rtlCol="0" anchor="ctr"/>
          <a:lstStyle/>
          <a:p>
            <a:pPr indent="0" marL="0">
              <a:buNone/>
            </a:pPr>
            <a:r>
              <a:rPr lang="en-US" sz="1450" b="1" dirty="0">
                <a:solidFill>
                  <a:srgbClr val="2D4880"/>
                </a:solidFill>
                <a:latin typeface="Cambria" pitchFamily="34" charset="0"/>
                <a:ea typeface="Cambria" pitchFamily="34" charset="-122"/>
                <a:cs typeface="Cambria" pitchFamily="34" charset="-120"/>
              </a:rPr>
              <a:t>Search</a:t>
            </a:r>
            <a:endParaRPr lang="en-US" sz="1450" dirty="0"/>
          </a:p>
        </p:txBody>
      </p:sp>
      <p:sp>
        <p:nvSpPr>
          <p:cNvPr id="7" name="Text 5"/>
          <p:cNvSpPr/>
          <p:nvPr/>
        </p:nvSpPr>
        <p:spPr>
          <a:xfrm>
            <a:off x="2514600" y="2203704"/>
            <a:ext cx="3977640" cy="530352"/>
          </a:xfrm>
          <a:prstGeom prst="rect">
            <a:avLst/>
          </a:prstGeom>
          <a:noFill/>
          <a:ln/>
        </p:spPr>
        <p:txBody>
          <a:bodyPr wrap="square" lIns="0" tIns="0" rIns="0" bIns="0" rtlCol="0" anchor="ctr"/>
          <a:lstStyle/>
          <a:p>
            <a:pPr indent="0" marL="0">
              <a:buNone/>
            </a:pPr>
            <a:r>
              <a:rPr lang="en-US" sz="1250" dirty="0">
                <a:solidFill>
                  <a:srgbClr val="6E7C97"/>
                </a:solidFill>
                <a:latin typeface="Calibri" pitchFamily="34" charset="0"/>
                <a:ea typeface="Calibri" pitchFamily="34" charset="-122"/>
                <a:cs typeface="Calibri" pitchFamily="34" charset="-120"/>
              </a:rPr>
              <a:t>Match by title or description text.</a:t>
            </a:r>
            <a:endParaRPr lang="en-US" sz="1250" dirty="0"/>
          </a:p>
        </p:txBody>
      </p:sp>
      <p:sp>
        <p:nvSpPr>
          <p:cNvPr id="8" name="Shape 6"/>
          <p:cNvSpPr/>
          <p:nvPr/>
        </p:nvSpPr>
        <p:spPr>
          <a:xfrm>
            <a:off x="548640" y="2880360"/>
            <a:ext cx="6035040" cy="640080"/>
          </a:xfrm>
          <a:prstGeom prst="roundRect">
            <a:avLst>
              <a:gd name="adj" fmla="val 1428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9" name="Text 7"/>
          <p:cNvSpPr/>
          <p:nvPr/>
        </p:nvSpPr>
        <p:spPr>
          <a:xfrm>
            <a:off x="731520" y="2935224"/>
            <a:ext cx="1920240" cy="530352"/>
          </a:xfrm>
          <a:prstGeom prst="rect">
            <a:avLst/>
          </a:prstGeom>
          <a:noFill/>
          <a:ln/>
        </p:spPr>
        <p:txBody>
          <a:bodyPr wrap="square" lIns="0" tIns="0" rIns="0" bIns="0" rtlCol="0" anchor="ctr"/>
          <a:lstStyle/>
          <a:p>
            <a:pPr indent="0" marL="0">
              <a:buNone/>
            </a:pPr>
            <a:r>
              <a:rPr lang="en-US" sz="1450" b="1" dirty="0">
                <a:solidFill>
                  <a:srgbClr val="2D4880"/>
                </a:solidFill>
                <a:latin typeface="Cambria" pitchFamily="34" charset="0"/>
                <a:ea typeface="Cambria" pitchFamily="34" charset="-122"/>
                <a:cs typeface="Cambria" pitchFamily="34" charset="-120"/>
              </a:rPr>
              <a:t>City filter</a:t>
            </a:r>
            <a:endParaRPr lang="en-US" sz="1450" dirty="0"/>
          </a:p>
        </p:txBody>
      </p:sp>
      <p:sp>
        <p:nvSpPr>
          <p:cNvPr id="10" name="Text 8"/>
          <p:cNvSpPr/>
          <p:nvPr/>
        </p:nvSpPr>
        <p:spPr>
          <a:xfrm>
            <a:off x="2514600" y="2935224"/>
            <a:ext cx="3977640" cy="530352"/>
          </a:xfrm>
          <a:prstGeom prst="rect">
            <a:avLst/>
          </a:prstGeom>
          <a:noFill/>
          <a:ln/>
        </p:spPr>
        <p:txBody>
          <a:bodyPr wrap="square" lIns="0" tIns="0" rIns="0" bIns="0" rtlCol="0" anchor="ctr"/>
          <a:lstStyle/>
          <a:p>
            <a:pPr indent="0" marL="0">
              <a:buNone/>
            </a:pPr>
            <a:r>
              <a:rPr lang="en-US" sz="1250" dirty="0">
                <a:solidFill>
                  <a:srgbClr val="6E7C97"/>
                </a:solidFill>
                <a:latin typeface="Calibri" pitchFamily="34" charset="0"/>
                <a:ea typeface="Calibri" pitchFamily="34" charset="-122"/>
                <a:cs typeface="Calibri" pitchFamily="34" charset="-120"/>
              </a:rPr>
              <a:t>Multi-select popover — tick one or many cities.</a:t>
            </a:r>
            <a:endParaRPr lang="en-US" sz="1250" dirty="0"/>
          </a:p>
        </p:txBody>
      </p:sp>
      <p:sp>
        <p:nvSpPr>
          <p:cNvPr id="11" name="Shape 9"/>
          <p:cNvSpPr/>
          <p:nvPr/>
        </p:nvSpPr>
        <p:spPr>
          <a:xfrm>
            <a:off x="548640" y="3611880"/>
            <a:ext cx="6035040" cy="640080"/>
          </a:xfrm>
          <a:prstGeom prst="roundRect">
            <a:avLst>
              <a:gd name="adj" fmla="val 1428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2" name="Text 10"/>
          <p:cNvSpPr/>
          <p:nvPr/>
        </p:nvSpPr>
        <p:spPr>
          <a:xfrm>
            <a:off x="731520" y="3666744"/>
            <a:ext cx="1920240" cy="530352"/>
          </a:xfrm>
          <a:prstGeom prst="rect">
            <a:avLst/>
          </a:prstGeom>
          <a:noFill/>
          <a:ln/>
        </p:spPr>
        <p:txBody>
          <a:bodyPr wrap="square" lIns="0" tIns="0" rIns="0" bIns="0" rtlCol="0" anchor="ctr"/>
          <a:lstStyle/>
          <a:p>
            <a:pPr indent="0" marL="0">
              <a:buNone/>
            </a:pPr>
            <a:r>
              <a:rPr lang="en-US" sz="1450" b="1" dirty="0">
                <a:solidFill>
                  <a:srgbClr val="2D4880"/>
                </a:solidFill>
                <a:latin typeface="Cambria" pitchFamily="34" charset="0"/>
                <a:ea typeface="Cambria" pitchFamily="34" charset="-122"/>
                <a:cs typeface="Cambria" pitchFamily="34" charset="-120"/>
              </a:rPr>
              <a:t>Status filter</a:t>
            </a:r>
            <a:endParaRPr lang="en-US" sz="1450" dirty="0"/>
          </a:p>
        </p:txBody>
      </p:sp>
      <p:sp>
        <p:nvSpPr>
          <p:cNvPr id="13" name="Text 11"/>
          <p:cNvSpPr/>
          <p:nvPr/>
        </p:nvSpPr>
        <p:spPr>
          <a:xfrm>
            <a:off x="2514600" y="3666744"/>
            <a:ext cx="3977640" cy="530352"/>
          </a:xfrm>
          <a:prstGeom prst="rect">
            <a:avLst/>
          </a:prstGeom>
          <a:noFill/>
          <a:ln/>
        </p:spPr>
        <p:txBody>
          <a:bodyPr wrap="square" lIns="0" tIns="0" rIns="0" bIns="0" rtlCol="0" anchor="ctr"/>
          <a:lstStyle/>
          <a:p>
            <a:pPr indent="0" marL="0">
              <a:buNone/>
            </a:pPr>
            <a:r>
              <a:rPr lang="en-US" sz="1250" dirty="0">
                <a:solidFill>
                  <a:srgbClr val="6E7C97"/>
                </a:solidFill>
                <a:latin typeface="Calibri" pitchFamily="34" charset="0"/>
                <a:ea typeface="Calibri" pitchFamily="34" charset="-122"/>
                <a:cs typeface="Calibri" pitchFamily="34" charset="-120"/>
              </a:rPr>
              <a:t>Any / Not shelved / Live / Review / Shelved.</a:t>
            </a:r>
            <a:endParaRPr lang="en-US" sz="1250" dirty="0"/>
          </a:p>
        </p:txBody>
      </p:sp>
      <p:sp>
        <p:nvSpPr>
          <p:cNvPr id="14" name="Shape 12"/>
          <p:cNvSpPr/>
          <p:nvPr/>
        </p:nvSpPr>
        <p:spPr>
          <a:xfrm>
            <a:off x="548640" y="4343400"/>
            <a:ext cx="6035040" cy="640080"/>
          </a:xfrm>
          <a:prstGeom prst="roundRect">
            <a:avLst>
              <a:gd name="adj" fmla="val 1428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5" name="Text 13"/>
          <p:cNvSpPr/>
          <p:nvPr/>
        </p:nvSpPr>
        <p:spPr>
          <a:xfrm>
            <a:off x="731520" y="4398264"/>
            <a:ext cx="1920240" cy="530352"/>
          </a:xfrm>
          <a:prstGeom prst="rect">
            <a:avLst/>
          </a:prstGeom>
          <a:noFill/>
          <a:ln/>
        </p:spPr>
        <p:txBody>
          <a:bodyPr wrap="square" lIns="0" tIns="0" rIns="0" bIns="0" rtlCol="0" anchor="ctr"/>
          <a:lstStyle/>
          <a:p>
            <a:pPr indent="0" marL="0">
              <a:buNone/>
            </a:pPr>
            <a:r>
              <a:rPr lang="en-US" sz="1450" b="1" dirty="0">
                <a:solidFill>
                  <a:srgbClr val="2D4880"/>
                </a:solidFill>
                <a:latin typeface="Cambria" pitchFamily="34" charset="0"/>
                <a:ea typeface="Cambria" pitchFamily="34" charset="-122"/>
                <a:cs typeface="Cambria" pitchFamily="34" charset="-120"/>
              </a:rPr>
              <a:t>Sort</a:t>
            </a:r>
            <a:endParaRPr lang="en-US" sz="1450" dirty="0"/>
          </a:p>
        </p:txBody>
      </p:sp>
      <p:sp>
        <p:nvSpPr>
          <p:cNvPr id="16" name="Text 14"/>
          <p:cNvSpPr/>
          <p:nvPr/>
        </p:nvSpPr>
        <p:spPr>
          <a:xfrm>
            <a:off x="2514600" y="4398264"/>
            <a:ext cx="3977640" cy="530352"/>
          </a:xfrm>
          <a:prstGeom prst="rect">
            <a:avLst/>
          </a:prstGeom>
          <a:noFill/>
          <a:ln/>
        </p:spPr>
        <p:txBody>
          <a:bodyPr wrap="square" lIns="0" tIns="0" rIns="0" bIns="0" rtlCol="0" anchor="ctr"/>
          <a:lstStyle/>
          <a:p>
            <a:pPr indent="0" marL="0">
              <a:buNone/>
            </a:pPr>
            <a:r>
              <a:rPr lang="en-US" sz="1250" dirty="0">
                <a:solidFill>
                  <a:srgbClr val="6E7C97"/>
                </a:solidFill>
                <a:latin typeface="Calibri" pitchFamily="34" charset="0"/>
                <a:ea typeface="Calibri" pitchFamily="34" charset="-122"/>
                <a:cs typeface="Calibri" pitchFamily="34" charset="-120"/>
              </a:rPr>
              <a:t>A→Z, by city, most cities, or by status.</a:t>
            </a:r>
            <a:endParaRPr lang="en-US" sz="1250" dirty="0"/>
          </a:p>
        </p:txBody>
      </p:sp>
      <p:sp>
        <p:nvSpPr>
          <p:cNvPr id="17" name="Shape 15"/>
          <p:cNvSpPr/>
          <p:nvPr/>
        </p:nvSpPr>
        <p:spPr>
          <a:xfrm>
            <a:off x="548640" y="5074920"/>
            <a:ext cx="6035040" cy="640080"/>
          </a:xfrm>
          <a:prstGeom prst="roundRect">
            <a:avLst>
              <a:gd name="adj" fmla="val 14286"/>
            </a:avLst>
          </a:prstGeom>
          <a:solidFill>
            <a:srgbClr val="EEF1F6"/>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8" name="Text 16"/>
          <p:cNvSpPr/>
          <p:nvPr/>
        </p:nvSpPr>
        <p:spPr>
          <a:xfrm>
            <a:off x="731520" y="5129784"/>
            <a:ext cx="1920240" cy="530352"/>
          </a:xfrm>
          <a:prstGeom prst="rect">
            <a:avLst/>
          </a:prstGeom>
          <a:noFill/>
          <a:ln/>
        </p:spPr>
        <p:txBody>
          <a:bodyPr wrap="square" lIns="0" tIns="0" rIns="0" bIns="0" rtlCol="0" anchor="ctr"/>
          <a:lstStyle/>
          <a:p>
            <a:pPr indent="0" marL="0">
              <a:buNone/>
            </a:pPr>
            <a:r>
              <a:rPr lang="en-US" sz="1450" b="1" dirty="0">
                <a:solidFill>
                  <a:srgbClr val="2D4880"/>
                </a:solidFill>
                <a:latin typeface="Cambria" pitchFamily="34" charset="0"/>
                <a:ea typeface="Cambria" pitchFamily="34" charset="-122"/>
                <a:cs typeface="Cambria" pitchFamily="34" charset="-120"/>
              </a:rPr>
              <a:t>CLEAR</a:t>
            </a:r>
            <a:endParaRPr lang="en-US" sz="1450" dirty="0"/>
          </a:p>
        </p:txBody>
      </p:sp>
      <p:sp>
        <p:nvSpPr>
          <p:cNvPr id="19" name="Text 17"/>
          <p:cNvSpPr/>
          <p:nvPr/>
        </p:nvSpPr>
        <p:spPr>
          <a:xfrm>
            <a:off x="2514600" y="5129784"/>
            <a:ext cx="3977640" cy="530352"/>
          </a:xfrm>
          <a:prstGeom prst="rect">
            <a:avLst/>
          </a:prstGeom>
          <a:noFill/>
          <a:ln/>
        </p:spPr>
        <p:txBody>
          <a:bodyPr wrap="square" lIns="0" tIns="0" rIns="0" bIns="0" rtlCol="0" anchor="ctr"/>
          <a:lstStyle/>
          <a:p>
            <a:pPr indent="0" marL="0">
              <a:buNone/>
            </a:pPr>
            <a:r>
              <a:rPr lang="en-US" sz="1250" dirty="0">
                <a:solidFill>
                  <a:srgbClr val="6E7C97"/>
                </a:solidFill>
                <a:latin typeface="Calibri" pitchFamily="34" charset="0"/>
                <a:ea typeface="Calibri" pitchFamily="34" charset="-122"/>
                <a:cs typeface="Calibri" pitchFamily="34" charset="-120"/>
              </a:rPr>
              <a:t>Resets all four back to the default view.</a:t>
            </a:r>
            <a:endParaRPr lang="en-US" sz="1250" dirty="0"/>
          </a:p>
        </p:txBody>
      </p:sp>
      <p:sp>
        <p:nvSpPr>
          <p:cNvPr id="20" name="Shape 18"/>
          <p:cNvSpPr/>
          <p:nvPr/>
        </p:nvSpPr>
        <p:spPr>
          <a:xfrm>
            <a:off x="6949440" y="2148840"/>
            <a:ext cx="4681728" cy="1965960"/>
          </a:xfrm>
          <a:prstGeom prst="roundRect">
            <a:avLst>
              <a:gd name="adj" fmla="val 4651"/>
            </a:avLst>
          </a:prstGeom>
          <a:solidFill>
            <a:srgbClr val="1F3A6B"/>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1" name="Text 19"/>
          <p:cNvSpPr/>
          <p:nvPr/>
        </p:nvSpPr>
        <p:spPr>
          <a:xfrm>
            <a:off x="7269480" y="2331720"/>
            <a:ext cx="4041648" cy="274320"/>
          </a:xfrm>
          <a:prstGeom prst="rect">
            <a:avLst/>
          </a:prstGeom>
          <a:noFill/>
          <a:ln/>
        </p:spPr>
        <p:txBody>
          <a:bodyPr wrap="square" lIns="0" tIns="0" rIns="0" bIns="0" rtlCol="0" anchor="ctr"/>
          <a:lstStyle/>
          <a:p>
            <a:pPr indent="0" marL="0">
              <a:buNone/>
            </a:pPr>
            <a:r>
              <a:rPr lang="en-US" sz="1150" b="1" spc="200" kern="0" dirty="0">
                <a:solidFill>
                  <a:srgbClr val="CADCFC"/>
                </a:solidFill>
                <a:latin typeface="Calibri" pitchFamily="34" charset="0"/>
                <a:ea typeface="Calibri" pitchFamily="34" charset="-122"/>
                <a:cs typeface="Calibri" pitchFamily="34" charset="-120"/>
              </a:rPr>
              <a:t>HANDY DEFAULT</a:t>
            </a:r>
            <a:endParaRPr lang="en-US" sz="1150" dirty="0"/>
          </a:p>
        </p:txBody>
      </p:sp>
      <p:sp>
        <p:nvSpPr>
          <p:cNvPr id="22" name="Text 20"/>
          <p:cNvSpPr/>
          <p:nvPr/>
        </p:nvSpPr>
        <p:spPr>
          <a:xfrm>
            <a:off x="7269480" y="2651760"/>
            <a:ext cx="4041648" cy="1280160"/>
          </a:xfrm>
          <a:prstGeom prst="rect">
            <a:avLst/>
          </a:prstGeom>
          <a:noFill/>
          <a:ln/>
        </p:spPr>
        <p:txBody>
          <a:bodyPr wrap="square" lIns="0" tIns="0" rIns="0" bIns="0" rtlCol="0" anchor="t"/>
          <a:lstStyle/>
          <a:p>
            <a:pPr indent="0" marL="0">
              <a:lnSpc>
                <a:spcPts val="2000"/>
              </a:lnSpc>
              <a:buNone/>
            </a:pPr>
            <a:r>
              <a:rPr lang="en-US" sz="1400" dirty="0">
                <a:solidFill>
                  <a:srgbClr val="CADCFC"/>
                </a:solidFill>
                <a:latin typeface="Calibri" pitchFamily="34" charset="0"/>
                <a:ea typeface="Calibri" pitchFamily="34" charset="-122"/>
                <a:cs typeface="Calibri" pitchFamily="34" charset="-120"/>
              </a:rPr>
              <a:t>Filter to </a:t>
            </a:r>
            <a:pPr indent="0" marL="0">
              <a:lnSpc>
                <a:spcPts val="2000"/>
              </a:lnSpc>
              <a:buNone/>
            </a:pPr>
            <a:r>
              <a:rPr lang="en-US" sz="1400" b="1" dirty="0">
                <a:solidFill>
                  <a:srgbClr val="FFFFFF"/>
                </a:solidFill>
                <a:latin typeface="Calibri" pitchFamily="34" charset="0"/>
                <a:ea typeface="Calibri" pitchFamily="34" charset="-122"/>
                <a:cs typeface="Calibri" pitchFamily="34" charset="-120"/>
              </a:rPr>
              <a:t>“Review”</a:t>
            </a:r>
            <a:pPr indent="0" marL="0">
              <a:lnSpc>
                <a:spcPts val="2000"/>
              </a:lnSpc>
              <a:buNone/>
            </a:pPr>
            <a:r>
              <a:rPr lang="en-US" sz="1400" dirty="0">
                <a:solidFill>
                  <a:srgbClr val="CADCFC"/>
                </a:solidFill>
                <a:latin typeface="Calibri" pitchFamily="34" charset="0"/>
                <a:ea typeface="Calibri" pitchFamily="34" charset="-122"/>
                <a:cs typeface="Calibri" pitchFamily="34" charset="-120"/>
              </a:rPr>
              <a:t> to see exactly what’s waiting on your decision — the nightly book job’s fresh candidates all land there.</a:t>
            </a:r>
            <a:endParaRPr lang="en-US" sz="1400" dirty="0"/>
          </a:p>
        </p:txBody>
      </p:sp>
      <p:sp>
        <p:nvSpPr>
          <p:cNvPr id="23" name="Shape 21"/>
          <p:cNvSpPr/>
          <p:nvPr/>
        </p:nvSpPr>
        <p:spPr>
          <a:xfrm>
            <a:off x="6949440" y="4251960"/>
            <a:ext cx="4681728" cy="1371600"/>
          </a:xfrm>
          <a:prstGeom prst="roundRect">
            <a:avLst>
              <a:gd name="adj" fmla="val 6667"/>
            </a:avLst>
          </a:prstGeom>
          <a:solidFill>
            <a:srgbClr val="FBFAF3"/>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4" name="Text 22"/>
          <p:cNvSpPr/>
          <p:nvPr/>
        </p:nvSpPr>
        <p:spPr>
          <a:xfrm>
            <a:off x="7269480" y="4407408"/>
            <a:ext cx="4041648" cy="292608"/>
          </a:xfrm>
          <a:prstGeom prst="rect">
            <a:avLst/>
          </a:prstGeom>
          <a:noFill/>
          <a:ln/>
        </p:spPr>
        <p:txBody>
          <a:bodyPr wrap="square" lIns="0" tIns="0" rIns="0" bIns="0" rtlCol="0" anchor="ctr"/>
          <a:lstStyle/>
          <a:p>
            <a:pPr indent="0" marL="0">
              <a:buNone/>
            </a:pPr>
            <a:r>
              <a:rPr lang="en-US" sz="1500" b="1" dirty="0">
                <a:solidFill>
                  <a:srgbClr val="2D4880"/>
                </a:solidFill>
                <a:latin typeface="Cambria" pitchFamily="34" charset="0"/>
                <a:ea typeface="Cambria" pitchFamily="34" charset="-122"/>
                <a:cs typeface="Cambria" pitchFamily="34" charset="-120"/>
              </a:rPr>
              <a:t>LOAD MORE</a:t>
            </a:r>
            <a:endParaRPr lang="en-US" sz="1500" dirty="0"/>
          </a:p>
        </p:txBody>
      </p:sp>
      <p:sp>
        <p:nvSpPr>
          <p:cNvPr id="25" name="Text 23"/>
          <p:cNvSpPr/>
          <p:nvPr/>
        </p:nvSpPr>
        <p:spPr>
          <a:xfrm>
            <a:off x="7269480" y="4736592"/>
            <a:ext cx="4041648" cy="82296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The list renders a page of cards at a time. Click LOAD MORE at the bottom to reveal the rest — the count shows how many remain.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COMMITTING YOUR WORK</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Two ways to save</a:t>
            </a:r>
            <a:endParaRPr lang="en-US" sz="3400" dirty="0"/>
          </a:p>
        </p:txBody>
      </p:sp>
      <p:sp>
        <p:nvSpPr>
          <p:cNvPr id="4" name="Shape 2"/>
          <p:cNvSpPr/>
          <p:nvPr/>
        </p:nvSpPr>
        <p:spPr>
          <a:xfrm>
            <a:off x="548640" y="1828800"/>
            <a:ext cx="5394960" cy="2286000"/>
          </a:xfrm>
          <a:prstGeom prst="roundRect">
            <a:avLst>
              <a:gd name="adj" fmla="val 4000"/>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5" name="Shape 3"/>
          <p:cNvSpPr/>
          <p:nvPr/>
        </p:nvSpPr>
        <p:spPr>
          <a:xfrm>
            <a:off x="868680" y="2139696"/>
            <a:ext cx="1499616" cy="502920"/>
          </a:xfrm>
          <a:prstGeom prst="roundRect">
            <a:avLst>
              <a:gd name="adj" fmla="val 49091"/>
            </a:avLst>
          </a:prstGeom>
          <a:solidFill>
            <a:srgbClr val="2D4880"/>
          </a:solidFill>
          <a:ln/>
          <a:effectLst>
            <a:outerShdw sx="100000" sy="100000" kx="0" ky="0" algn="bl" rotWithShape="0" blurRad="114300" dist="50800" dir="5400000">
              <a:srgbClr val="1F3A6B">
                <a:alpha val="20000"/>
              </a:srgbClr>
            </a:outerShdw>
          </a:effectLst>
        </p:spPr>
      </p:sp>
      <p:sp>
        <p:nvSpPr>
          <p:cNvPr id="6" name="Text 4"/>
          <p:cNvSpPr/>
          <p:nvPr/>
        </p:nvSpPr>
        <p:spPr>
          <a:xfrm>
            <a:off x="868680" y="2139696"/>
            <a:ext cx="1499616" cy="50292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SAVE</a:t>
            </a:r>
            <a:endParaRPr lang="en-US" sz="1400" dirty="0"/>
          </a:p>
        </p:txBody>
      </p:sp>
      <p:sp>
        <p:nvSpPr>
          <p:cNvPr id="7" name="Text 5"/>
          <p:cNvSpPr/>
          <p:nvPr/>
        </p:nvSpPr>
        <p:spPr>
          <a:xfrm>
            <a:off x="868680" y="2761488"/>
            <a:ext cx="4754880" cy="320040"/>
          </a:xfrm>
          <a:prstGeom prst="rect">
            <a:avLst/>
          </a:prstGeom>
          <a:noFill/>
          <a:ln/>
        </p:spPr>
        <p:txBody>
          <a:bodyPr wrap="square" lIns="0" tIns="0" rIns="0" bIns="0" rtlCol="0" anchor="ctr"/>
          <a:lstStyle/>
          <a:p>
            <a:pPr indent="0" marL="0">
              <a:buNone/>
            </a:pPr>
            <a:r>
              <a:rPr lang="en-US" sz="1500" b="1" i="1" dirty="0">
                <a:solidFill>
                  <a:srgbClr val="2D4880"/>
                </a:solidFill>
                <a:latin typeface="Cambria" pitchFamily="34" charset="0"/>
                <a:ea typeface="Cambria" pitchFamily="34" charset="-122"/>
                <a:cs typeface="Cambria" pitchFamily="34" charset="-120"/>
              </a:rPr>
              <a:t>Per card</a:t>
            </a:r>
            <a:endParaRPr lang="en-US" sz="1500" dirty="0"/>
          </a:p>
        </p:txBody>
      </p:sp>
      <p:sp>
        <p:nvSpPr>
          <p:cNvPr id="8" name="Text 6"/>
          <p:cNvSpPr/>
          <p:nvPr/>
        </p:nvSpPr>
        <p:spPr>
          <a:xfrm>
            <a:off x="868680" y="3127248"/>
            <a:ext cx="4754880" cy="868680"/>
          </a:xfrm>
          <a:prstGeom prst="rect">
            <a:avLst/>
          </a:prstGeom>
          <a:noFill/>
          <a:ln/>
        </p:spPr>
        <p:txBody>
          <a:bodyPr wrap="square" lIns="0" tIns="0" rIns="0" bIns="0" rtlCol="0" anchor="t"/>
          <a:lstStyle/>
          <a:p>
            <a:pPr indent="0" marL="0">
              <a:lnSpc>
                <a:spcPts val="1800"/>
              </a:lnSpc>
              <a:buNone/>
            </a:pPr>
            <a:r>
              <a:rPr lang="en-US" sz="1350" dirty="0">
                <a:solidFill>
                  <a:srgbClr val="6E7C97"/>
                </a:solidFill>
                <a:latin typeface="Calibri" pitchFamily="34" charset="0"/>
                <a:ea typeface="Calibri" pitchFamily="34" charset="-122"/>
                <a:cs typeface="Calibri" pitchFamily="34" charset="-120"/>
              </a:rPr>
              <a:t>The blue SAVE on a card writes that gift’s fields and applies its chosen status. Use it as you finish each gift.</a:t>
            </a:r>
            <a:endParaRPr lang="en-US" sz="1350" dirty="0"/>
          </a:p>
        </p:txBody>
      </p:sp>
      <p:sp>
        <p:nvSpPr>
          <p:cNvPr id="9" name="Shape 7"/>
          <p:cNvSpPr/>
          <p:nvPr/>
        </p:nvSpPr>
        <p:spPr>
          <a:xfrm>
            <a:off x="6236208" y="1828800"/>
            <a:ext cx="5394960" cy="2286000"/>
          </a:xfrm>
          <a:prstGeom prst="roundRect">
            <a:avLst>
              <a:gd name="adj" fmla="val 4000"/>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0" name="Shape 8"/>
          <p:cNvSpPr/>
          <p:nvPr/>
        </p:nvSpPr>
        <p:spPr>
          <a:xfrm>
            <a:off x="6556248" y="2139696"/>
            <a:ext cx="3255264" cy="502920"/>
          </a:xfrm>
          <a:prstGeom prst="roundRect">
            <a:avLst>
              <a:gd name="adj" fmla="val 49091"/>
            </a:avLst>
          </a:prstGeom>
          <a:solidFill>
            <a:srgbClr val="C23737"/>
          </a:solidFill>
          <a:ln/>
          <a:effectLst>
            <a:outerShdw sx="100000" sy="100000" kx="0" ky="0" algn="bl" rotWithShape="0" blurRad="114300" dist="50800" dir="5400000">
              <a:srgbClr val="1F3A6B">
                <a:alpha val="20000"/>
              </a:srgbClr>
            </a:outerShdw>
          </a:effectLst>
        </p:spPr>
      </p:sp>
      <p:sp>
        <p:nvSpPr>
          <p:cNvPr id="11" name="Text 9"/>
          <p:cNvSpPr/>
          <p:nvPr/>
        </p:nvSpPr>
        <p:spPr>
          <a:xfrm>
            <a:off x="6556248" y="2139696"/>
            <a:ext cx="3255264" cy="50292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SAVE ALL CHANGES</a:t>
            </a:r>
            <a:endParaRPr lang="en-US" sz="1400" dirty="0"/>
          </a:p>
        </p:txBody>
      </p:sp>
      <p:sp>
        <p:nvSpPr>
          <p:cNvPr id="12" name="Text 10"/>
          <p:cNvSpPr/>
          <p:nvPr/>
        </p:nvSpPr>
        <p:spPr>
          <a:xfrm>
            <a:off x="6556248" y="2761488"/>
            <a:ext cx="4754880" cy="320040"/>
          </a:xfrm>
          <a:prstGeom prst="rect">
            <a:avLst/>
          </a:prstGeom>
          <a:noFill/>
          <a:ln/>
        </p:spPr>
        <p:txBody>
          <a:bodyPr wrap="square" lIns="0" tIns="0" rIns="0" bIns="0" rtlCol="0" anchor="ctr"/>
          <a:lstStyle/>
          <a:p>
            <a:pPr indent="0" marL="0">
              <a:buNone/>
            </a:pPr>
            <a:r>
              <a:rPr lang="en-US" sz="1500" b="1" i="1" dirty="0">
                <a:solidFill>
                  <a:srgbClr val="C23737"/>
                </a:solidFill>
                <a:latin typeface="Cambria" pitchFamily="34" charset="0"/>
                <a:ea typeface="Cambria" pitchFamily="34" charset="-122"/>
                <a:cs typeface="Cambria" pitchFamily="34" charset="-120"/>
              </a:rPr>
              <a:t>Everything at once</a:t>
            </a:r>
            <a:endParaRPr lang="en-US" sz="1500" dirty="0"/>
          </a:p>
        </p:txBody>
      </p:sp>
      <p:sp>
        <p:nvSpPr>
          <p:cNvPr id="13" name="Text 11"/>
          <p:cNvSpPr/>
          <p:nvPr/>
        </p:nvSpPr>
        <p:spPr>
          <a:xfrm>
            <a:off x="6556248" y="3127248"/>
            <a:ext cx="4754880" cy="868680"/>
          </a:xfrm>
          <a:prstGeom prst="rect">
            <a:avLst/>
          </a:prstGeom>
          <a:noFill/>
          <a:ln/>
        </p:spPr>
        <p:txBody>
          <a:bodyPr wrap="square" lIns="0" tIns="0" rIns="0" bIns="0" rtlCol="0" anchor="t"/>
          <a:lstStyle/>
          <a:p>
            <a:pPr indent="0" marL="0">
              <a:lnSpc>
                <a:spcPts val="1800"/>
              </a:lnSpc>
              <a:buNone/>
            </a:pPr>
            <a:r>
              <a:rPr lang="en-US" sz="1350" dirty="0">
                <a:solidFill>
                  <a:srgbClr val="6E7C97"/>
                </a:solidFill>
                <a:latin typeface="Calibri" pitchFamily="34" charset="0"/>
                <a:ea typeface="Calibri" pitchFamily="34" charset="-122"/>
                <a:cs typeface="Calibri" pitchFamily="34" charset="-120"/>
              </a:rPr>
              <a:t>A red banner appears at the top the moment you have unsaved edits. One click commits every dirty card together.</a:t>
            </a:r>
            <a:endParaRPr lang="en-US" sz="1350" dirty="0"/>
          </a:p>
        </p:txBody>
      </p:sp>
      <p:sp>
        <p:nvSpPr>
          <p:cNvPr id="14" name="Shape 12"/>
          <p:cNvSpPr/>
          <p:nvPr/>
        </p:nvSpPr>
        <p:spPr>
          <a:xfrm>
            <a:off x="548640" y="4434840"/>
            <a:ext cx="11082528" cy="1188720"/>
          </a:xfrm>
          <a:prstGeom prst="roundRect">
            <a:avLst>
              <a:gd name="adj" fmla="val 7692"/>
            </a:avLst>
          </a:prstGeom>
          <a:solidFill>
            <a:srgbClr val="FBFAF3"/>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5" name="Text 13"/>
          <p:cNvSpPr/>
          <p:nvPr/>
        </p:nvSpPr>
        <p:spPr>
          <a:xfrm>
            <a:off x="777240" y="4590288"/>
            <a:ext cx="3657600" cy="274320"/>
          </a:xfrm>
          <a:prstGeom prst="rect">
            <a:avLst/>
          </a:prstGeom>
          <a:noFill/>
          <a:ln/>
        </p:spPr>
        <p:txBody>
          <a:bodyPr wrap="square" lIns="0" tIns="0" rIns="0" bIns="0" rtlCol="0" anchor="ctr"/>
          <a:lstStyle/>
          <a:p>
            <a:pPr indent="0" marL="0">
              <a:buNone/>
            </a:pPr>
            <a:r>
              <a:rPr lang="en-US" sz="1150" b="1" spc="200" kern="0" dirty="0">
                <a:solidFill>
                  <a:srgbClr val="C23737"/>
                </a:solidFill>
                <a:latin typeface="Calibri" pitchFamily="34" charset="0"/>
                <a:ea typeface="Calibri" pitchFamily="34" charset="-122"/>
                <a:cs typeface="Calibri" pitchFamily="34" charset="-120"/>
              </a:rPr>
              <a:t>DIRTY-CARD CUES</a:t>
            </a:r>
            <a:endParaRPr lang="en-US" sz="1150" dirty="0"/>
          </a:p>
        </p:txBody>
      </p:sp>
      <p:sp>
        <p:nvSpPr>
          <p:cNvPr id="16" name="Text 14"/>
          <p:cNvSpPr/>
          <p:nvPr/>
        </p:nvSpPr>
        <p:spPr>
          <a:xfrm>
            <a:off x="777240" y="4882896"/>
            <a:ext cx="10607040" cy="685800"/>
          </a:xfrm>
          <a:prstGeom prst="rect">
            <a:avLst/>
          </a:prstGeom>
          <a:noFill/>
          <a:ln/>
        </p:spPr>
        <p:txBody>
          <a:bodyPr wrap="square" lIns="0" tIns="0" rIns="0" bIns="0" rtlCol="0" anchor="t"/>
          <a:lstStyle/>
          <a:p>
            <a:pPr indent="0" marL="0">
              <a:lnSpc>
                <a:spcPts val="1700"/>
              </a:lnSpc>
              <a:buNone/>
            </a:pPr>
            <a:r>
              <a:rPr lang="en-US" sz="1350" b="1" dirty="0">
                <a:solidFill>
                  <a:srgbClr val="243449"/>
                </a:solidFill>
                <a:latin typeface="Calibri" pitchFamily="34" charset="0"/>
                <a:ea typeface="Calibri" pitchFamily="34" charset="-122"/>
                <a:cs typeface="Calibri" pitchFamily="34" charset="-120"/>
              </a:rPr>
              <a:t>An edited card is outlined in red until saved. </a:t>
            </a:r>
            <a:pPr indent="0" marL="0">
              <a:lnSpc>
                <a:spcPts val="1700"/>
              </a:lnSpc>
              <a:buNone/>
            </a:pPr>
            <a:r>
              <a:rPr lang="en-US" sz="1350" dirty="0">
                <a:solidFill>
                  <a:srgbClr val="6E7C97"/>
                </a:solidFill>
                <a:latin typeface="Calibri" pitchFamily="34" charset="0"/>
                <a:ea typeface="Calibri" pitchFamily="34" charset="-122"/>
                <a:cs typeface="Calibri" pitchFamily="34" charset="-120"/>
              </a:rPr>
              <a:t>If you promote a gift to Live or Shelved while a status filter is on, it may drop out of the current view — that’s the save working, not a bug. Switch the filter to find it again.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F2A6A6"/>
                </a:solidFill>
                <a:latin typeface="Calibri" pitchFamily="34" charset="0"/>
                <a:ea typeface="Calibri" pitchFamily="34" charset="-122"/>
                <a:cs typeface="Calibri" pitchFamily="34" charset="-120"/>
              </a:rPr>
              <a:t>WHAT RUNS WHILE YOU SLEEP</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Nightly automation</a:t>
            </a:r>
            <a:endParaRPr lang="en-US" sz="3400" dirty="0"/>
          </a:p>
        </p:txBody>
      </p:sp>
      <p:sp>
        <p:nvSpPr>
          <p:cNvPr id="4" name="Text 2"/>
          <p:cNvSpPr/>
          <p:nvPr/>
        </p:nvSpPr>
        <p:spPr>
          <a:xfrm>
            <a:off x="548640" y="1481328"/>
            <a:ext cx="10972800" cy="36576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Two jobs run on their own via GitHub Actions and commit results back to the site. Nothing here needs you.</a:t>
            </a:r>
            <a:endParaRPr lang="en-US" sz="1450" dirty="0"/>
          </a:p>
        </p:txBody>
      </p:sp>
      <p:sp>
        <p:nvSpPr>
          <p:cNvPr id="5" name="Shape 3"/>
          <p:cNvSpPr/>
          <p:nvPr/>
        </p:nvSpPr>
        <p:spPr>
          <a:xfrm>
            <a:off x="548640" y="2011680"/>
            <a:ext cx="5394960" cy="3429000"/>
          </a:xfrm>
          <a:prstGeom prst="roundRect">
            <a:avLst>
              <a:gd name="adj" fmla="val 2667"/>
            </a:avLst>
          </a:prstGeom>
          <a:solidFill>
            <a:srgbClr val="20304F"/>
          </a:solidFill>
          <a:ln w="12700">
            <a:solidFill>
              <a:srgbClr val="3A4E74"/>
            </a:solidFill>
            <a:prstDash val="solid"/>
          </a:ln>
          <a:effectLst>
            <a:outerShdw sx="100000" sy="100000" kx="0" ky="0" algn="bl" rotWithShape="0" blurRad="114300" dist="50800" dir="5400000">
              <a:srgbClr val="1F3A6B">
                <a:alpha val="20000"/>
              </a:srgbClr>
            </a:outerShdw>
          </a:effectLst>
        </p:spPr>
      </p:sp>
      <p:sp>
        <p:nvSpPr>
          <p:cNvPr id="6" name="Shape 4"/>
          <p:cNvSpPr/>
          <p:nvPr/>
        </p:nvSpPr>
        <p:spPr>
          <a:xfrm>
            <a:off x="841248" y="2304288"/>
            <a:ext cx="384048" cy="384048"/>
          </a:xfrm>
          <a:prstGeom prst="roundRect">
            <a:avLst>
              <a:gd name="adj" fmla="val 19048"/>
            </a:avLst>
          </a:prstGeom>
          <a:solidFill>
            <a:srgbClr val="C23737"/>
          </a:solidFill>
          <a:ln/>
          <a:effectLst>
            <a:outerShdw sx="100000" sy="100000" kx="0" ky="0" algn="bl" rotWithShape="0" blurRad="114300" dist="50800" dir="5400000">
              <a:srgbClr val="1F3A6B">
                <a:alpha val="25000"/>
              </a:srgbClr>
            </a:outerShdw>
          </a:effectLst>
        </p:spPr>
      </p:sp>
      <p:sp>
        <p:nvSpPr>
          <p:cNvPr id="7" name="Text 5"/>
          <p:cNvSpPr/>
          <p:nvPr/>
        </p:nvSpPr>
        <p:spPr>
          <a:xfrm>
            <a:off x="841248" y="230428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17320" y="2286000"/>
            <a:ext cx="429768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Book pull</a:t>
            </a:r>
            <a:endParaRPr lang="en-US" sz="1900" dirty="0"/>
          </a:p>
        </p:txBody>
      </p:sp>
      <p:sp>
        <p:nvSpPr>
          <p:cNvPr id="9" name="Text 7"/>
          <p:cNvSpPr/>
          <p:nvPr/>
        </p:nvSpPr>
        <p:spPr>
          <a:xfrm>
            <a:off x="1417320" y="2670048"/>
            <a:ext cx="4297680" cy="274320"/>
          </a:xfrm>
          <a:prstGeom prst="rect">
            <a:avLst/>
          </a:prstGeom>
          <a:noFill/>
          <a:ln/>
        </p:spPr>
        <p:txBody>
          <a:bodyPr wrap="square" lIns="0" tIns="0" rIns="0" bIns="0" rtlCol="0" anchor="ctr"/>
          <a:lstStyle/>
          <a:p>
            <a:pPr indent="0" marL="0">
              <a:buNone/>
            </a:pPr>
            <a:r>
              <a:rPr lang="en-US" sz="1150" b="1" spc="100" kern="0" dirty="0">
                <a:solidFill>
                  <a:srgbClr val="F2A6A6"/>
                </a:solidFill>
                <a:latin typeface="Calibri" pitchFamily="34" charset="0"/>
                <a:ea typeface="Calibri" pitchFamily="34" charset="-122"/>
                <a:cs typeface="Calibri" pitchFamily="34" charset="-120"/>
              </a:rPr>
              <a:t>~3:30 AM CT</a:t>
            </a:r>
            <a:endParaRPr lang="en-US" sz="1150" dirty="0"/>
          </a:p>
        </p:txBody>
      </p:sp>
      <p:sp>
        <p:nvSpPr>
          <p:cNvPr id="10" name="Text 8"/>
          <p:cNvSpPr/>
          <p:nvPr/>
        </p:nvSpPr>
        <p:spPr>
          <a:xfrm>
            <a:off x="914400" y="3108960"/>
            <a:ext cx="4709160" cy="2194560"/>
          </a:xfrm>
          <a:prstGeom prst="rect">
            <a:avLst/>
          </a:prstGeom>
          <a:noFill/>
          <a:ln/>
        </p:spPr>
        <p:txBody>
          <a:bodyPr wrap="square" lIns="0" tIns="0" rIns="0" bIns="0" rtlCol="0" anchor="t"/>
          <a:lstStyle/>
          <a:p>
            <a:pPr marL="177800" indent="-177800">
              <a:lnSpc>
                <a:spcPts val="16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Rotates through the shop’s cities — one city per day.</a:t>
            </a:r>
            <a:endParaRPr lang="en-US" sz="1300" dirty="0"/>
          </a:p>
          <a:p>
            <a:pPr marL="177800" indent="-177800">
              <a:lnSpc>
                <a:spcPts val="16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Asks Claude (web search on) for 5 real books tied to that place.</a:t>
            </a:r>
            <a:endParaRPr lang="en-US" sz="1300" dirty="0"/>
          </a:p>
          <a:p>
            <a:pPr marL="177800" indent="-177800">
              <a:lnSpc>
                <a:spcPts val="16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Each is added as a REVIEW candidate — never Live.</a:t>
            </a:r>
            <a:endParaRPr lang="en-US" sz="1300" dirty="0"/>
          </a:p>
          <a:p>
            <a:pPr marL="177800" indent="-177800">
              <a:lnSpc>
                <a:spcPts val="16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It’s told everything you stock or shelved, so shelved books never return.</a:t>
            </a:r>
            <a:endParaRPr lang="en-US" sz="1300" dirty="0"/>
          </a:p>
        </p:txBody>
      </p:sp>
      <p:sp>
        <p:nvSpPr>
          <p:cNvPr id="11" name="Shape 9"/>
          <p:cNvSpPr/>
          <p:nvPr/>
        </p:nvSpPr>
        <p:spPr>
          <a:xfrm>
            <a:off x="6236208" y="2011680"/>
            <a:ext cx="5394960" cy="3429000"/>
          </a:xfrm>
          <a:prstGeom prst="roundRect">
            <a:avLst>
              <a:gd name="adj" fmla="val 2667"/>
            </a:avLst>
          </a:prstGeom>
          <a:solidFill>
            <a:srgbClr val="20304F"/>
          </a:solidFill>
          <a:ln w="12700">
            <a:solidFill>
              <a:srgbClr val="3A4E74"/>
            </a:solidFill>
            <a:prstDash val="solid"/>
          </a:ln>
          <a:effectLst>
            <a:outerShdw sx="100000" sy="100000" kx="0" ky="0" algn="bl" rotWithShape="0" blurRad="114300" dist="50800" dir="5400000">
              <a:srgbClr val="1F3A6B">
                <a:alpha val="20000"/>
              </a:srgbClr>
            </a:outerShdw>
          </a:effectLst>
        </p:spPr>
      </p:sp>
      <p:sp>
        <p:nvSpPr>
          <p:cNvPr id="12" name="Shape 10"/>
          <p:cNvSpPr/>
          <p:nvPr/>
        </p:nvSpPr>
        <p:spPr>
          <a:xfrm>
            <a:off x="6528816" y="2304288"/>
            <a:ext cx="384048" cy="384048"/>
          </a:xfrm>
          <a:prstGeom prst="roundRect">
            <a:avLst>
              <a:gd name="adj" fmla="val 19048"/>
            </a:avLst>
          </a:prstGeom>
          <a:solidFill>
            <a:srgbClr val="C23737"/>
          </a:solidFill>
          <a:ln/>
          <a:effectLst>
            <a:outerShdw sx="100000" sy="100000" kx="0" ky="0" algn="bl" rotWithShape="0" blurRad="114300" dist="50800" dir="5400000">
              <a:srgbClr val="1F3A6B">
                <a:alpha val="25000"/>
              </a:srgbClr>
            </a:outerShdw>
          </a:effectLst>
        </p:spPr>
      </p:sp>
      <p:sp>
        <p:nvSpPr>
          <p:cNvPr id="13" name="Text 11"/>
          <p:cNvSpPr/>
          <p:nvPr/>
        </p:nvSpPr>
        <p:spPr>
          <a:xfrm>
            <a:off x="6528816" y="230428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7104888" y="2286000"/>
            <a:ext cx="429768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Link &amp; image check</a:t>
            </a:r>
            <a:endParaRPr lang="en-US" sz="1900" dirty="0"/>
          </a:p>
        </p:txBody>
      </p:sp>
      <p:sp>
        <p:nvSpPr>
          <p:cNvPr id="15" name="Text 13"/>
          <p:cNvSpPr/>
          <p:nvPr/>
        </p:nvSpPr>
        <p:spPr>
          <a:xfrm>
            <a:off x="7104888" y="2670048"/>
            <a:ext cx="4297680" cy="274320"/>
          </a:xfrm>
          <a:prstGeom prst="rect">
            <a:avLst/>
          </a:prstGeom>
          <a:noFill/>
          <a:ln/>
        </p:spPr>
        <p:txBody>
          <a:bodyPr wrap="square" lIns="0" tIns="0" rIns="0" bIns="0" rtlCol="0" anchor="ctr"/>
          <a:lstStyle/>
          <a:p>
            <a:pPr indent="0" marL="0">
              <a:buNone/>
            </a:pPr>
            <a:r>
              <a:rPr lang="en-US" sz="1150" b="1" spc="100" kern="0" dirty="0">
                <a:solidFill>
                  <a:srgbClr val="F2A6A6"/>
                </a:solidFill>
                <a:latin typeface="Calibri" pitchFamily="34" charset="0"/>
                <a:ea typeface="Calibri" pitchFamily="34" charset="-122"/>
                <a:cs typeface="Calibri" pitchFamily="34" charset="-120"/>
              </a:rPr>
              <a:t>~3:00 AM CT</a:t>
            </a:r>
            <a:endParaRPr lang="en-US" sz="1150" dirty="0"/>
          </a:p>
        </p:txBody>
      </p:sp>
      <p:sp>
        <p:nvSpPr>
          <p:cNvPr id="16" name="Text 14"/>
          <p:cNvSpPr/>
          <p:nvPr/>
        </p:nvSpPr>
        <p:spPr>
          <a:xfrm>
            <a:off x="6601968" y="3108960"/>
            <a:ext cx="4709160" cy="2194560"/>
          </a:xfrm>
          <a:prstGeom prst="rect">
            <a:avLst/>
          </a:prstGeom>
          <a:noFill/>
          <a:ln/>
        </p:spPr>
        <p:txBody>
          <a:bodyPr wrap="square" lIns="0" tIns="0" rIns="0" bIns="0" rtlCol="0" anchor="t"/>
          <a:lstStyle/>
          <a:p>
            <a:pPr marL="177800" indent="-177800">
              <a:lnSpc>
                <a:spcPts val="16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Tries every gift’s link and image like a shopper’s browser.</a:t>
            </a:r>
            <a:endParaRPr lang="en-US" sz="1300" dirty="0"/>
          </a:p>
          <a:p>
            <a:pPr marL="177800" indent="-177800">
              <a:lnSpc>
                <a:spcPts val="16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Checks one-seventh of the catalog a night — all of it weekly.</a:t>
            </a:r>
            <a:endParaRPr lang="en-US" sz="1300" dirty="0"/>
          </a:p>
          <a:p>
            <a:pPr marL="177800" indent="-177800">
              <a:lnSpc>
                <a:spcPts val="16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No AI — it just fetches URLs and records failures.</a:t>
            </a:r>
            <a:endParaRPr lang="en-US" sz="1300" dirty="0"/>
          </a:p>
          <a:p>
            <a:pPr marL="177800" indent="-177800">
              <a:lnSpc>
                <a:spcPts val="16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Results land on the Issues page; the ISSUES badge counts open ones.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KEEPING THE CATALOG HEALTHY</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The Issues page &amp; badge</a:t>
            </a:r>
            <a:endParaRPr lang="en-US" sz="3400" dirty="0"/>
          </a:p>
        </p:txBody>
      </p:sp>
      <p:sp>
        <p:nvSpPr>
          <p:cNvPr id="4" name="Text 2"/>
          <p:cNvSpPr/>
          <p:nvPr/>
        </p:nvSpPr>
        <p:spPr>
          <a:xfrm>
            <a:off x="548640" y="1554480"/>
            <a:ext cx="10972800" cy="365760"/>
          </a:xfrm>
          <a:prstGeom prst="rect">
            <a:avLst/>
          </a:prstGeom>
          <a:noFill/>
          <a:ln/>
        </p:spPr>
        <p:txBody>
          <a:bodyPr wrap="square" lIns="0" tIns="0" rIns="0" bIns="0" rtlCol="0" anchor="ctr"/>
          <a:lstStyle/>
          <a:p>
            <a:pPr indent="0" marL="0">
              <a:buNone/>
            </a:pPr>
            <a:r>
              <a:rPr lang="en-US" sz="1500" dirty="0">
                <a:solidFill>
                  <a:srgbClr val="243449"/>
                </a:solidFill>
                <a:latin typeface="Calibri" pitchFamily="34" charset="0"/>
                <a:ea typeface="Calibri" pitchFamily="34" charset="-122"/>
                <a:cs typeface="Calibri" pitchFamily="34" charset="-120"/>
              </a:rPr>
              <a:t>The nightly link check writes broken links and images to the Issues page. The toolbar keeps score.</a:t>
            </a:r>
            <a:endParaRPr lang="en-US" sz="1500" dirty="0"/>
          </a:p>
        </p:txBody>
      </p:sp>
      <p:sp>
        <p:nvSpPr>
          <p:cNvPr id="5" name="Shape 3"/>
          <p:cNvSpPr/>
          <p:nvPr/>
        </p:nvSpPr>
        <p:spPr>
          <a:xfrm>
            <a:off x="548640" y="2194560"/>
            <a:ext cx="5394960" cy="1371600"/>
          </a:xfrm>
          <a:prstGeom prst="roundRect">
            <a:avLst>
              <a:gd name="adj" fmla="val 6667"/>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6" name="Shape 4"/>
          <p:cNvSpPr/>
          <p:nvPr/>
        </p:nvSpPr>
        <p:spPr>
          <a:xfrm>
            <a:off x="822960" y="2514600"/>
            <a:ext cx="1463040" cy="502920"/>
          </a:xfrm>
          <a:prstGeom prst="roundRect">
            <a:avLst>
              <a:gd name="adj" fmla="val 14545"/>
            </a:avLst>
          </a:prstGeom>
          <a:solidFill>
            <a:srgbClr val="FFFFFF"/>
          </a:solidFill>
          <a:ln w="12700">
            <a:solidFill>
              <a:srgbClr val="D7DEEA"/>
            </a:solidFill>
            <a:prstDash val="solid"/>
          </a:ln>
        </p:spPr>
      </p:sp>
      <p:sp>
        <p:nvSpPr>
          <p:cNvPr id="7" name="Text 5"/>
          <p:cNvSpPr/>
          <p:nvPr/>
        </p:nvSpPr>
        <p:spPr>
          <a:xfrm>
            <a:off x="896112" y="2514600"/>
            <a:ext cx="914400" cy="502920"/>
          </a:xfrm>
          <a:prstGeom prst="rect">
            <a:avLst/>
          </a:prstGeom>
          <a:noFill/>
          <a:ln/>
        </p:spPr>
        <p:txBody>
          <a:bodyPr wrap="square" lIns="0" tIns="0" rIns="0" bIns="0" rtlCol="0" anchor="ctr"/>
          <a:lstStyle/>
          <a:p>
            <a:pPr indent="0" marL="0">
              <a:buNone/>
            </a:pPr>
            <a:r>
              <a:rPr lang="en-US" sz="1200" b="1" dirty="0">
                <a:solidFill>
                  <a:srgbClr val="243449"/>
                </a:solidFill>
                <a:latin typeface="Calibri" pitchFamily="34" charset="0"/>
                <a:ea typeface="Calibri" pitchFamily="34" charset="-122"/>
                <a:cs typeface="Calibri" pitchFamily="34" charset="-120"/>
              </a:rPr>
              <a:t>ISSUES</a:t>
            </a:r>
            <a:endParaRPr lang="en-US" sz="1200" dirty="0"/>
          </a:p>
        </p:txBody>
      </p:sp>
      <p:sp>
        <p:nvSpPr>
          <p:cNvPr id="8" name="Shape 6"/>
          <p:cNvSpPr/>
          <p:nvPr/>
        </p:nvSpPr>
        <p:spPr>
          <a:xfrm>
            <a:off x="1810512" y="2624328"/>
            <a:ext cx="384048" cy="292608"/>
          </a:xfrm>
          <a:prstGeom prst="roundRect">
            <a:avLst>
              <a:gd name="adj" fmla="val 50000"/>
            </a:avLst>
          </a:prstGeom>
          <a:solidFill>
            <a:srgbClr val="C23737"/>
          </a:solidFill>
          <a:ln/>
        </p:spPr>
      </p:sp>
      <p:sp>
        <p:nvSpPr>
          <p:cNvPr id="9" name="Text 7"/>
          <p:cNvSpPr/>
          <p:nvPr/>
        </p:nvSpPr>
        <p:spPr>
          <a:xfrm>
            <a:off x="1810512" y="2624328"/>
            <a:ext cx="38404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10" name="Text 8"/>
          <p:cNvSpPr/>
          <p:nvPr/>
        </p:nvSpPr>
        <p:spPr>
          <a:xfrm>
            <a:off x="822960" y="3063240"/>
            <a:ext cx="4846320" cy="411480"/>
          </a:xfrm>
          <a:prstGeom prst="rect">
            <a:avLst/>
          </a:prstGeom>
          <a:noFill/>
          <a:ln/>
        </p:spPr>
        <p:txBody>
          <a:bodyPr wrap="square" lIns="0" tIns="0" rIns="0" bIns="0" rtlCol="0" anchor="t"/>
          <a:lstStyle/>
          <a:p>
            <a:pPr indent="0" marL="0">
              <a:buNone/>
            </a:pPr>
            <a:r>
              <a:rPr lang="en-US" sz="1250" dirty="0">
                <a:solidFill>
                  <a:srgbClr val="6E7C97"/>
                </a:solidFill>
                <a:latin typeface="Calibri" pitchFamily="34" charset="0"/>
                <a:ea typeface="Calibri" pitchFamily="34" charset="-122"/>
                <a:cs typeface="Calibri" pitchFamily="34" charset="-120"/>
              </a:rPr>
              <a:t>Red badge = open issues to fix. Grey = catalog is clean.</a:t>
            </a:r>
            <a:endParaRPr lang="en-US" sz="1250" dirty="0"/>
          </a:p>
        </p:txBody>
      </p:sp>
      <p:sp>
        <p:nvSpPr>
          <p:cNvPr id="11" name="Shape 9"/>
          <p:cNvSpPr/>
          <p:nvPr/>
        </p:nvSpPr>
        <p:spPr>
          <a:xfrm>
            <a:off x="548640" y="3794760"/>
            <a:ext cx="5394960" cy="640080"/>
          </a:xfrm>
          <a:prstGeom prst="roundRect">
            <a:avLst>
              <a:gd name="adj" fmla="val 1428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2" name="Shape 10"/>
          <p:cNvSpPr/>
          <p:nvPr/>
        </p:nvSpPr>
        <p:spPr>
          <a:xfrm>
            <a:off x="713232" y="3922776"/>
            <a:ext cx="384048" cy="384048"/>
          </a:xfrm>
          <a:prstGeom prst="roundRect">
            <a:avLst>
              <a:gd name="adj" fmla="val 19048"/>
            </a:avLst>
          </a:prstGeom>
          <a:solidFill>
            <a:srgbClr val="2D4880"/>
          </a:solidFill>
          <a:ln/>
          <a:effectLst>
            <a:outerShdw sx="100000" sy="100000" kx="0" ky="0" algn="bl" rotWithShape="0" blurRad="114300" dist="50800" dir="5400000">
              <a:srgbClr val="1F3A6B">
                <a:alpha val="25000"/>
              </a:srgbClr>
            </a:outerShdw>
          </a:effectLst>
        </p:spPr>
      </p:sp>
      <p:sp>
        <p:nvSpPr>
          <p:cNvPr id="13" name="Text 11"/>
          <p:cNvSpPr/>
          <p:nvPr/>
        </p:nvSpPr>
        <p:spPr>
          <a:xfrm>
            <a:off x="713232" y="392277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4" name="Text 12"/>
          <p:cNvSpPr/>
          <p:nvPr/>
        </p:nvSpPr>
        <p:spPr>
          <a:xfrm>
            <a:off x="1234440" y="3813048"/>
            <a:ext cx="4572000" cy="603504"/>
          </a:xfrm>
          <a:prstGeom prst="rect">
            <a:avLst/>
          </a:prstGeom>
          <a:noFill/>
          <a:ln/>
        </p:spPr>
        <p:txBody>
          <a:bodyPr wrap="square" lIns="0" tIns="0" rIns="0" bIns="0" rtlCol="0" anchor="ctr"/>
          <a:lstStyle/>
          <a:p>
            <a:pPr indent="0" marL="0">
              <a:lnSpc>
                <a:spcPts val="1500"/>
              </a:lnSpc>
              <a:buNone/>
            </a:pPr>
            <a:r>
              <a:rPr lang="en-US" sz="1300" b="1" dirty="0">
                <a:solidFill>
                  <a:srgbClr val="2D4880"/>
                </a:solidFill>
                <a:latin typeface="Calibri" pitchFamily="34" charset="0"/>
                <a:ea typeface="Calibri" pitchFamily="34" charset="-122"/>
                <a:cs typeface="Calibri" pitchFamily="34" charset="-120"/>
              </a:rPr>
              <a:t>Open ISSUES  </a:t>
            </a:r>
            <a:pPr indent="0" marL="0">
              <a:lnSpc>
                <a:spcPts val="1500"/>
              </a:lnSpc>
              <a:buNone/>
            </a:pPr>
            <a:r>
              <a:rPr lang="en-US" sz="1200" dirty="0">
                <a:solidFill>
                  <a:srgbClr val="6E7C97"/>
                </a:solidFill>
                <a:latin typeface="Calibri" pitchFamily="34" charset="0"/>
                <a:ea typeface="Calibri" pitchFamily="34" charset="-122"/>
                <a:cs typeface="Calibri" pitchFamily="34" charset="-120"/>
              </a:rPr>
              <a:t>— Click the badge to open the full report of failing links and images.</a:t>
            </a:r>
            <a:endParaRPr lang="en-US" sz="1300" dirty="0"/>
          </a:p>
        </p:txBody>
      </p:sp>
      <p:sp>
        <p:nvSpPr>
          <p:cNvPr id="15" name="Shape 13"/>
          <p:cNvSpPr/>
          <p:nvPr/>
        </p:nvSpPr>
        <p:spPr>
          <a:xfrm>
            <a:off x="548640" y="4526280"/>
            <a:ext cx="5394960" cy="640080"/>
          </a:xfrm>
          <a:prstGeom prst="roundRect">
            <a:avLst>
              <a:gd name="adj" fmla="val 1428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6" name="Shape 14"/>
          <p:cNvSpPr/>
          <p:nvPr/>
        </p:nvSpPr>
        <p:spPr>
          <a:xfrm>
            <a:off x="713232" y="4654296"/>
            <a:ext cx="384048" cy="384048"/>
          </a:xfrm>
          <a:prstGeom prst="roundRect">
            <a:avLst>
              <a:gd name="adj" fmla="val 19048"/>
            </a:avLst>
          </a:prstGeom>
          <a:solidFill>
            <a:srgbClr val="2D4880"/>
          </a:solidFill>
          <a:ln/>
          <a:effectLst>
            <a:outerShdw sx="100000" sy="100000" kx="0" ky="0" algn="bl" rotWithShape="0" blurRad="114300" dist="50800" dir="5400000">
              <a:srgbClr val="1F3A6B">
                <a:alpha val="25000"/>
              </a:srgbClr>
            </a:outerShdw>
          </a:effectLst>
        </p:spPr>
      </p:sp>
      <p:sp>
        <p:nvSpPr>
          <p:cNvPr id="17" name="Text 15"/>
          <p:cNvSpPr/>
          <p:nvPr/>
        </p:nvSpPr>
        <p:spPr>
          <a:xfrm>
            <a:off x="713232" y="465429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8" name="Text 16"/>
          <p:cNvSpPr/>
          <p:nvPr/>
        </p:nvSpPr>
        <p:spPr>
          <a:xfrm>
            <a:off x="1234440" y="4544568"/>
            <a:ext cx="4572000" cy="603504"/>
          </a:xfrm>
          <a:prstGeom prst="rect">
            <a:avLst/>
          </a:prstGeom>
          <a:noFill/>
          <a:ln/>
        </p:spPr>
        <p:txBody>
          <a:bodyPr wrap="square" lIns="0" tIns="0" rIns="0" bIns="0" rtlCol="0" anchor="ctr"/>
          <a:lstStyle/>
          <a:p>
            <a:pPr indent="0" marL="0">
              <a:lnSpc>
                <a:spcPts val="1500"/>
              </a:lnSpc>
              <a:buNone/>
            </a:pPr>
            <a:r>
              <a:rPr lang="en-US" sz="1300" b="1" dirty="0">
                <a:solidFill>
                  <a:srgbClr val="2D4880"/>
                </a:solidFill>
                <a:latin typeface="Calibri" pitchFamily="34" charset="0"/>
                <a:ea typeface="Calibri" pitchFamily="34" charset="-122"/>
                <a:cs typeface="Calibri" pitchFamily="34" charset="-120"/>
              </a:rPr>
              <a:t>Fix at the source  </a:t>
            </a:r>
            <a:pPr indent="0" marL="0">
              <a:lnSpc>
                <a:spcPts val="1500"/>
              </a:lnSpc>
              <a:buNone/>
            </a:pPr>
            <a:r>
              <a:rPr lang="en-US" sz="1200" dirty="0">
                <a:solidFill>
                  <a:srgbClr val="6E7C97"/>
                </a:solidFill>
                <a:latin typeface="Calibri" pitchFamily="34" charset="0"/>
                <a:ea typeface="Calibri" pitchFamily="34" charset="-122"/>
                <a:cs typeface="Calibri" pitchFamily="34" charset="-120"/>
              </a:rPr>
              <a:t>— Find the gift, refetch or replace the bad URL, upload an image if needed.</a:t>
            </a:r>
            <a:endParaRPr lang="en-US" sz="1300" dirty="0"/>
          </a:p>
        </p:txBody>
      </p:sp>
      <p:sp>
        <p:nvSpPr>
          <p:cNvPr id="19" name="Shape 17"/>
          <p:cNvSpPr/>
          <p:nvPr/>
        </p:nvSpPr>
        <p:spPr>
          <a:xfrm>
            <a:off x="548640" y="5257800"/>
            <a:ext cx="5394960" cy="640080"/>
          </a:xfrm>
          <a:prstGeom prst="roundRect">
            <a:avLst>
              <a:gd name="adj" fmla="val 14286"/>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0" name="Shape 18"/>
          <p:cNvSpPr/>
          <p:nvPr/>
        </p:nvSpPr>
        <p:spPr>
          <a:xfrm>
            <a:off x="713232" y="5385816"/>
            <a:ext cx="384048" cy="384048"/>
          </a:xfrm>
          <a:prstGeom prst="roundRect">
            <a:avLst>
              <a:gd name="adj" fmla="val 19048"/>
            </a:avLst>
          </a:prstGeom>
          <a:solidFill>
            <a:srgbClr val="2D4880"/>
          </a:solidFill>
          <a:ln/>
          <a:effectLst>
            <a:outerShdw sx="100000" sy="100000" kx="0" ky="0" algn="bl" rotWithShape="0" blurRad="114300" dist="50800" dir="5400000">
              <a:srgbClr val="1F3A6B">
                <a:alpha val="25000"/>
              </a:srgbClr>
            </a:outerShdw>
          </a:effectLst>
        </p:spPr>
      </p:sp>
      <p:sp>
        <p:nvSpPr>
          <p:cNvPr id="21" name="Text 19"/>
          <p:cNvSpPr/>
          <p:nvPr/>
        </p:nvSpPr>
        <p:spPr>
          <a:xfrm>
            <a:off x="713232" y="538581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2" name="Text 20"/>
          <p:cNvSpPr/>
          <p:nvPr/>
        </p:nvSpPr>
        <p:spPr>
          <a:xfrm>
            <a:off x="1234440" y="5276088"/>
            <a:ext cx="4572000" cy="603504"/>
          </a:xfrm>
          <a:prstGeom prst="rect">
            <a:avLst/>
          </a:prstGeom>
          <a:noFill/>
          <a:ln/>
        </p:spPr>
        <p:txBody>
          <a:bodyPr wrap="square" lIns="0" tIns="0" rIns="0" bIns="0" rtlCol="0" anchor="ctr"/>
          <a:lstStyle/>
          <a:p>
            <a:pPr indent="0" marL="0">
              <a:lnSpc>
                <a:spcPts val="1500"/>
              </a:lnSpc>
              <a:buNone/>
            </a:pPr>
            <a:r>
              <a:rPr lang="en-US" sz="1300" b="1" dirty="0">
                <a:solidFill>
                  <a:srgbClr val="2D4880"/>
                </a:solidFill>
                <a:latin typeface="Calibri" pitchFamily="34" charset="0"/>
                <a:ea typeface="Calibri" pitchFamily="34" charset="-122"/>
                <a:cs typeface="Calibri" pitchFamily="34" charset="-120"/>
              </a:rPr>
              <a:t>Re-verify  </a:t>
            </a:r>
            <a:pPr indent="0" marL="0">
              <a:lnSpc>
                <a:spcPts val="1500"/>
              </a:lnSpc>
              <a:buNone/>
            </a:pPr>
            <a:r>
              <a:rPr lang="en-US" sz="1200" dirty="0">
                <a:solidFill>
                  <a:srgbClr val="6E7C97"/>
                </a:solidFill>
                <a:latin typeface="Calibri" pitchFamily="34" charset="0"/>
                <a:ea typeface="Calibri" pitchFamily="34" charset="-122"/>
                <a:cs typeface="Calibri" pitchFamily="34" charset="-120"/>
              </a:rPr>
              <a:t>— Use TARGET and SHOP to confirm, then save. The badge falls as issues clear.</a:t>
            </a:r>
            <a:endParaRPr lang="en-US" sz="1300" dirty="0"/>
          </a:p>
        </p:txBody>
      </p:sp>
      <p:sp>
        <p:nvSpPr>
          <p:cNvPr id="23" name="Shape 21"/>
          <p:cNvSpPr/>
          <p:nvPr/>
        </p:nvSpPr>
        <p:spPr>
          <a:xfrm>
            <a:off x="6172200" y="2194560"/>
            <a:ext cx="5458968" cy="3429000"/>
          </a:xfrm>
          <a:prstGeom prst="roundRect">
            <a:avLst>
              <a:gd name="adj" fmla="val 2667"/>
            </a:avLst>
          </a:prstGeom>
          <a:solidFill>
            <a:srgbClr val="FBFAF3"/>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4" name="Text 22"/>
          <p:cNvSpPr/>
          <p:nvPr/>
        </p:nvSpPr>
        <p:spPr>
          <a:xfrm>
            <a:off x="6492240" y="2359152"/>
            <a:ext cx="4818888" cy="274320"/>
          </a:xfrm>
          <a:prstGeom prst="rect">
            <a:avLst/>
          </a:prstGeom>
          <a:noFill/>
          <a:ln/>
        </p:spPr>
        <p:txBody>
          <a:bodyPr wrap="square" lIns="0" tIns="0" rIns="0" bIns="0" rtlCol="0" anchor="ctr"/>
          <a:lstStyle/>
          <a:p>
            <a:pPr indent="0" marL="0">
              <a:buNone/>
            </a:pPr>
            <a:r>
              <a:rPr lang="en-US" sz="1200" b="1" spc="200" kern="0" dirty="0">
                <a:solidFill>
                  <a:srgbClr val="C23737"/>
                </a:solidFill>
                <a:latin typeface="Calibri" pitchFamily="34" charset="0"/>
                <a:ea typeface="Calibri" pitchFamily="34" charset="-122"/>
                <a:cs typeface="Calibri" pitchFamily="34" charset="-120"/>
              </a:rPr>
              <a:t>OTHER TOOLBAR LINKS</a:t>
            </a:r>
            <a:endParaRPr lang="en-US" sz="1200" dirty="0"/>
          </a:p>
        </p:txBody>
      </p:sp>
      <p:sp>
        <p:nvSpPr>
          <p:cNvPr id="25" name="Shape 23"/>
          <p:cNvSpPr/>
          <p:nvPr/>
        </p:nvSpPr>
        <p:spPr>
          <a:xfrm>
            <a:off x="6519672" y="2770632"/>
            <a:ext cx="146304" cy="146304"/>
          </a:xfrm>
          <a:prstGeom prst="ellipse">
            <a:avLst/>
          </a:prstGeom>
          <a:solidFill>
            <a:srgbClr val="2D4880"/>
          </a:solidFill>
          <a:ln/>
        </p:spPr>
      </p:sp>
      <p:sp>
        <p:nvSpPr>
          <p:cNvPr id="26" name="Text 24"/>
          <p:cNvSpPr/>
          <p:nvPr/>
        </p:nvSpPr>
        <p:spPr>
          <a:xfrm>
            <a:off x="6812280" y="2670048"/>
            <a:ext cx="4544568" cy="640080"/>
          </a:xfrm>
          <a:prstGeom prst="rect">
            <a:avLst/>
          </a:prstGeom>
          <a:noFill/>
          <a:ln/>
        </p:spPr>
        <p:txBody>
          <a:bodyPr wrap="square" lIns="0" tIns="0" rIns="0" bIns="0" rtlCol="0" anchor="t"/>
          <a:lstStyle/>
          <a:p>
            <a:pPr indent="0" marL="0">
              <a:lnSpc>
                <a:spcPts val="1500"/>
              </a:lnSpc>
              <a:buNone/>
            </a:pPr>
            <a:r>
              <a:rPr lang="en-US" sz="1350" b="1" dirty="0">
                <a:solidFill>
                  <a:srgbClr val="243449"/>
                </a:solidFill>
                <a:latin typeface="Calibri" pitchFamily="34" charset="0"/>
                <a:ea typeface="Calibri" pitchFamily="34" charset="-122"/>
                <a:cs typeface="Calibri" pitchFamily="34" charset="-120"/>
              </a:rPr>
              <a:t>Amazon Associates  </a:t>
            </a:r>
            <a:pPr indent="0" marL="0">
              <a:lnSpc>
                <a:spcPts val="1500"/>
              </a:lnSpc>
              <a:buNone/>
            </a:pPr>
            <a:r>
              <a:rPr lang="en-US" sz="1250" dirty="0">
                <a:solidFill>
                  <a:srgbClr val="6E7C97"/>
                </a:solidFill>
                <a:latin typeface="Calibri" pitchFamily="34" charset="0"/>
                <a:ea typeface="Calibri" pitchFamily="34" charset="-122"/>
                <a:cs typeface="Calibri" pitchFamily="34" charset="-120"/>
              </a:rPr>
              <a:t>— Your affiliate dashboard — grab tagged product links.</a:t>
            </a:r>
            <a:endParaRPr lang="en-US" sz="1350" dirty="0"/>
          </a:p>
        </p:txBody>
      </p:sp>
      <p:sp>
        <p:nvSpPr>
          <p:cNvPr id="27" name="Shape 25"/>
          <p:cNvSpPr/>
          <p:nvPr/>
        </p:nvSpPr>
        <p:spPr>
          <a:xfrm>
            <a:off x="6519672" y="3483864"/>
            <a:ext cx="146304" cy="146304"/>
          </a:xfrm>
          <a:prstGeom prst="ellipse">
            <a:avLst/>
          </a:prstGeom>
          <a:solidFill>
            <a:srgbClr val="2D4880"/>
          </a:solidFill>
          <a:ln/>
        </p:spPr>
      </p:sp>
      <p:sp>
        <p:nvSpPr>
          <p:cNvPr id="28" name="Text 26"/>
          <p:cNvSpPr/>
          <p:nvPr/>
        </p:nvSpPr>
        <p:spPr>
          <a:xfrm>
            <a:off x="6812280" y="3383280"/>
            <a:ext cx="4544568" cy="640080"/>
          </a:xfrm>
          <a:prstGeom prst="rect">
            <a:avLst/>
          </a:prstGeom>
          <a:noFill/>
          <a:ln/>
        </p:spPr>
        <p:txBody>
          <a:bodyPr wrap="square" lIns="0" tIns="0" rIns="0" bIns="0" rtlCol="0" anchor="t"/>
          <a:lstStyle/>
          <a:p>
            <a:pPr indent="0" marL="0">
              <a:lnSpc>
                <a:spcPts val="1500"/>
              </a:lnSpc>
              <a:buNone/>
            </a:pPr>
            <a:r>
              <a:rPr lang="en-US" sz="1350" b="1" dirty="0">
                <a:solidFill>
                  <a:srgbClr val="243449"/>
                </a:solidFill>
                <a:latin typeface="Calibri" pitchFamily="34" charset="0"/>
                <a:ea typeface="Calibri" pitchFamily="34" charset="-122"/>
                <a:cs typeface="Calibri" pitchFamily="34" charset="-120"/>
              </a:rPr>
              <a:t>Bookshop.org affiliates  </a:t>
            </a:r>
            <a:pPr indent="0" marL="0">
              <a:lnSpc>
                <a:spcPts val="1500"/>
              </a:lnSpc>
              <a:buNone/>
            </a:pPr>
            <a:r>
              <a:rPr lang="en-US" sz="1250" dirty="0">
                <a:solidFill>
                  <a:srgbClr val="6E7C97"/>
                </a:solidFill>
                <a:latin typeface="Calibri" pitchFamily="34" charset="0"/>
                <a:ea typeface="Calibri" pitchFamily="34" charset="-122"/>
                <a:cs typeface="Calibri" pitchFamily="34" charset="-120"/>
              </a:rPr>
              <a:t>— Affiliate dashboard for book links.</a:t>
            </a:r>
            <a:endParaRPr lang="en-US" sz="1350" dirty="0"/>
          </a:p>
        </p:txBody>
      </p:sp>
      <p:sp>
        <p:nvSpPr>
          <p:cNvPr id="29" name="Shape 27"/>
          <p:cNvSpPr/>
          <p:nvPr/>
        </p:nvSpPr>
        <p:spPr>
          <a:xfrm>
            <a:off x="6519672" y="4197096"/>
            <a:ext cx="146304" cy="146304"/>
          </a:xfrm>
          <a:prstGeom prst="ellipse">
            <a:avLst/>
          </a:prstGeom>
          <a:solidFill>
            <a:srgbClr val="2D4880"/>
          </a:solidFill>
          <a:ln/>
        </p:spPr>
      </p:sp>
      <p:sp>
        <p:nvSpPr>
          <p:cNvPr id="30" name="Text 28"/>
          <p:cNvSpPr/>
          <p:nvPr/>
        </p:nvSpPr>
        <p:spPr>
          <a:xfrm>
            <a:off x="6812280" y="4096512"/>
            <a:ext cx="4544568" cy="640080"/>
          </a:xfrm>
          <a:prstGeom prst="rect">
            <a:avLst/>
          </a:prstGeom>
          <a:noFill/>
          <a:ln/>
        </p:spPr>
        <p:txBody>
          <a:bodyPr wrap="square" lIns="0" tIns="0" rIns="0" bIns="0" rtlCol="0" anchor="t"/>
          <a:lstStyle/>
          <a:p>
            <a:pPr indent="0" marL="0">
              <a:lnSpc>
                <a:spcPts val="1500"/>
              </a:lnSpc>
              <a:buNone/>
            </a:pPr>
            <a:r>
              <a:rPr lang="en-US" sz="1350" b="1" dirty="0">
                <a:solidFill>
                  <a:srgbClr val="243449"/>
                </a:solidFill>
                <a:latin typeface="Calibri" pitchFamily="34" charset="0"/>
                <a:ea typeface="Calibri" pitchFamily="34" charset="-122"/>
                <a:cs typeface="Calibri" pitchFamily="34" charset="-120"/>
              </a:rPr>
              <a:t>Google Cloud Console  </a:t>
            </a:r>
            <a:pPr indent="0" marL="0">
              <a:lnSpc>
                <a:spcPts val="1500"/>
              </a:lnSpc>
              <a:buNone/>
            </a:pPr>
            <a:r>
              <a:rPr lang="en-US" sz="1250" dirty="0">
                <a:solidFill>
                  <a:srgbClr val="6E7C97"/>
                </a:solidFill>
                <a:latin typeface="Calibri" pitchFamily="34" charset="0"/>
                <a:ea typeface="Calibri" pitchFamily="34" charset="-122"/>
                <a:cs typeface="Calibri" pitchFamily="34" charset="-120"/>
              </a:rPr>
              <a:t>— Where the scrape / image functions run.</a:t>
            </a:r>
            <a:endParaRPr lang="en-US" sz="1350" dirty="0"/>
          </a:p>
        </p:txBody>
      </p:sp>
      <p:sp>
        <p:nvSpPr>
          <p:cNvPr id="31" name="Shape 29"/>
          <p:cNvSpPr/>
          <p:nvPr/>
        </p:nvSpPr>
        <p:spPr>
          <a:xfrm>
            <a:off x="6519672" y="4910328"/>
            <a:ext cx="146304" cy="146304"/>
          </a:xfrm>
          <a:prstGeom prst="ellipse">
            <a:avLst/>
          </a:prstGeom>
          <a:solidFill>
            <a:srgbClr val="2D4880"/>
          </a:solidFill>
          <a:ln/>
        </p:spPr>
      </p:sp>
      <p:sp>
        <p:nvSpPr>
          <p:cNvPr id="32" name="Text 30"/>
          <p:cNvSpPr/>
          <p:nvPr/>
        </p:nvSpPr>
        <p:spPr>
          <a:xfrm>
            <a:off x="6812280" y="4809744"/>
            <a:ext cx="4544568" cy="640080"/>
          </a:xfrm>
          <a:prstGeom prst="rect">
            <a:avLst/>
          </a:prstGeom>
          <a:noFill/>
          <a:ln/>
        </p:spPr>
        <p:txBody>
          <a:bodyPr wrap="square" lIns="0" tIns="0" rIns="0" bIns="0" rtlCol="0" anchor="t"/>
          <a:lstStyle/>
          <a:p>
            <a:pPr indent="0" marL="0">
              <a:lnSpc>
                <a:spcPts val="1500"/>
              </a:lnSpc>
              <a:buNone/>
            </a:pPr>
            <a:r>
              <a:rPr lang="en-US" sz="1350" b="1" dirty="0">
                <a:solidFill>
                  <a:srgbClr val="243449"/>
                </a:solidFill>
                <a:latin typeface="Calibri" pitchFamily="34" charset="0"/>
                <a:ea typeface="Calibri" pitchFamily="34" charset="-122"/>
                <a:cs typeface="Calibri" pitchFamily="34" charset="-120"/>
              </a:rPr>
              <a:t>Supabase database  </a:t>
            </a:r>
            <a:pPr indent="0" marL="0">
              <a:lnSpc>
                <a:spcPts val="1500"/>
              </a:lnSpc>
              <a:buNone/>
            </a:pPr>
            <a:r>
              <a:rPr lang="en-US" sz="1250" dirty="0">
                <a:solidFill>
                  <a:srgbClr val="6E7C97"/>
                </a:solidFill>
                <a:latin typeface="Calibri" pitchFamily="34" charset="0"/>
                <a:ea typeface="Calibri" pitchFamily="34" charset="-122"/>
                <a:cs typeface="Calibri" pitchFamily="34" charset="-120"/>
              </a:rPr>
              <a:t>— From WITH AI — paste the generated import SQL here.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92608"/>
          </a:xfrm>
          <a:prstGeom prst="rect">
            <a:avLst/>
          </a:prstGeom>
          <a:noFill/>
          <a:ln/>
        </p:spPr>
        <p:txBody>
          <a:bodyPr wrap="square" lIns="0" tIns="0" rIns="0" bIns="0" rtlCol="0" anchor="ctr"/>
          <a:lstStyle/>
          <a:p>
            <a:pPr algn="l" indent="0" marL="0">
              <a:buNone/>
            </a:pPr>
            <a:r>
              <a:rPr lang="en-US" sz="1200" b="1" spc="300" kern="0" dirty="0">
                <a:solidFill>
                  <a:srgbClr val="C23737"/>
                </a:solidFill>
                <a:latin typeface="Calibri" pitchFamily="34" charset="0"/>
                <a:ea typeface="Calibri" pitchFamily="34" charset="-122"/>
                <a:cs typeface="Calibri" pitchFamily="34" charset="-120"/>
              </a:rPr>
              <a:t>PUTTING IT TOGETHER</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algn="l" indent="0" marL="0">
              <a:buNone/>
            </a:pPr>
            <a:r>
              <a:rPr lang="en-US" sz="3400" b="1" dirty="0">
                <a:solidFill>
                  <a:srgbClr val="2D4880"/>
                </a:solidFill>
                <a:latin typeface="Cambria" pitchFamily="34" charset="0"/>
                <a:ea typeface="Cambria" pitchFamily="34" charset="-122"/>
                <a:cs typeface="Cambria" pitchFamily="34" charset="-120"/>
              </a:rPr>
              <a:t>A typical session</a:t>
            </a:r>
            <a:endParaRPr lang="en-US" sz="3400" dirty="0"/>
          </a:p>
        </p:txBody>
      </p:sp>
      <p:sp>
        <p:nvSpPr>
          <p:cNvPr id="4" name="Shape 2"/>
          <p:cNvSpPr/>
          <p:nvPr/>
        </p:nvSpPr>
        <p:spPr>
          <a:xfrm>
            <a:off x="548640" y="1783080"/>
            <a:ext cx="3529584" cy="1371600"/>
          </a:xfrm>
          <a:prstGeom prst="roundRect">
            <a:avLst>
              <a:gd name="adj" fmla="val 6667"/>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5" name="Shape 3"/>
          <p:cNvSpPr/>
          <p:nvPr/>
        </p:nvSpPr>
        <p:spPr>
          <a:xfrm>
            <a:off x="786384" y="2020824"/>
            <a:ext cx="384048" cy="384048"/>
          </a:xfrm>
          <a:prstGeom prst="roundRect">
            <a:avLst>
              <a:gd name="adj" fmla="val 19048"/>
            </a:avLst>
          </a:prstGeom>
          <a:solidFill>
            <a:srgbClr val="C23737"/>
          </a:solidFill>
          <a:ln/>
          <a:effectLst>
            <a:outerShdw sx="100000" sy="100000" kx="0" ky="0" algn="bl" rotWithShape="0" blurRad="114300" dist="50800" dir="5400000">
              <a:srgbClr val="1F3A6B">
                <a:alpha val="25000"/>
              </a:srgbClr>
            </a:outerShdw>
          </a:effectLst>
        </p:spPr>
      </p:sp>
      <p:sp>
        <p:nvSpPr>
          <p:cNvPr id="6" name="Text 4"/>
          <p:cNvSpPr/>
          <p:nvPr/>
        </p:nvSpPr>
        <p:spPr>
          <a:xfrm>
            <a:off x="786384" y="202082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325880" y="2039112"/>
            <a:ext cx="2523744" cy="365760"/>
          </a:xfrm>
          <a:prstGeom prst="rect">
            <a:avLst/>
          </a:prstGeom>
          <a:noFill/>
          <a:ln/>
        </p:spPr>
        <p:txBody>
          <a:bodyPr wrap="square" lIns="0" tIns="0" rIns="0" bIns="0" rtlCol="0" anchor="ctr"/>
          <a:lstStyle/>
          <a:p>
            <a:pPr indent="0" marL="0">
              <a:buNone/>
            </a:pPr>
            <a:r>
              <a:rPr lang="en-US" sz="1600" b="1" dirty="0">
                <a:solidFill>
                  <a:srgbClr val="2D4880"/>
                </a:solidFill>
                <a:latin typeface="Cambria" pitchFamily="34" charset="0"/>
                <a:ea typeface="Cambria" pitchFamily="34" charset="-122"/>
                <a:cs typeface="Cambria" pitchFamily="34" charset="-120"/>
              </a:rPr>
              <a:t>Sign in</a:t>
            </a:r>
            <a:endParaRPr lang="en-US" sz="1600" dirty="0"/>
          </a:p>
        </p:txBody>
      </p:sp>
      <p:sp>
        <p:nvSpPr>
          <p:cNvPr id="8" name="Text 6"/>
          <p:cNvSpPr/>
          <p:nvPr/>
        </p:nvSpPr>
        <p:spPr>
          <a:xfrm>
            <a:off x="804672" y="2532888"/>
            <a:ext cx="3017520" cy="54864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ADMIN LOGON, top-right.</a:t>
            </a:r>
            <a:endParaRPr lang="en-US" sz="1250" dirty="0"/>
          </a:p>
        </p:txBody>
      </p:sp>
      <p:sp>
        <p:nvSpPr>
          <p:cNvPr id="9" name="Shape 7"/>
          <p:cNvSpPr/>
          <p:nvPr/>
        </p:nvSpPr>
        <p:spPr>
          <a:xfrm>
            <a:off x="4315968" y="1783080"/>
            <a:ext cx="3529584" cy="1371600"/>
          </a:xfrm>
          <a:prstGeom prst="roundRect">
            <a:avLst>
              <a:gd name="adj" fmla="val 6667"/>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0" name="Shape 8"/>
          <p:cNvSpPr/>
          <p:nvPr/>
        </p:nvSpPr>
        <p:spPr>
          <a:xfrm>
            <a:off x="4553712" y="2020824"/>
            <a:ext cx="384048" cy="384048"/>
          </a:xfrm>
          <a:prstGeom prst="roundRect">
            <a:avLst>
              <a:gd name="adj" fmla="val 19048"/>
            </a:avLst>
          </a:prstGeom>
          <a:solidFill>
            <a:srgbClr val="C23737"/>
          </a:solidFill>
          <a:ln/>
          <a:effectLst>
            <a:outerShdw sx="100000" sy="100000" kx="0" ky="0" algn="bl" rotWithShape="0" blurRad="114300" dist="50800" dir="5400000">
              <a:srgbClr val="1F3A6B">
                <a:alpha val="25000"/>
              </a:srgbClr>
            </a:outerShdw>
          </a:effectLst>
        </p:spPr>
      </p:sp>
      <p:sp>
        <p:nvSpPr>
          <p:cNvPr id="11" name="Text 9"/>
          <p:cNvSpPr/>
          <p:nvPr/>
        </p:nvSpPr>
        <p:spPr>
          <a:xfrm>
            <a:off x="4553712" y="202082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5093208" y="2039112"/>
            <a:ext cx="2523744" cy="365760"/>
          </a:xfrm>
          <a:prstGeom prst="rect">
            <a:avLst/>
          </a:prstGeom>
          <a:noFill/>
          <a:ln/>
        </p:spPr>
        <p:txBody>
          <a:bodyPr wrap="square" lIns="0" tIns="0" rIns="0" bIns="0" rtlCol="0" anchor="ctr"/>
          <a:lstStyle/>
          <a:p>
            <a:pPr indent="0" marL="0">
              <a:buNone/>
            </a:pPr>
            <a:r>
              <a:rPr lang="en-US" sz="1600" b="1" dirty="0">
                <a:solidFill>
                  <a:srgbClr val="2D4880"/>
                </a:solidFill>
                <a:latin typeface="Cambria" pitchFamily="34" charset="0"/>
                <a:ea typeface="Cambria" pitchFamily="34" charset="-122"/>
                <a:cs typeface="Cambria" pitchFamily="34" charset="-120"/>
              </a:rPr>
              <a:t>Clear the queue</a:t>
            </a:r>
            <a:endParaRPr lang="en-US" sz="1600" dirty="0"/>
          </a:p>
        </p:txBody>
      </p:sp>
      <p:sp>
        <p:nvSpPr>
          <p:cNvPr id="13" name="Text 11"/>
          <p:cNvSpPr/>
          <p:nvPr/>
        </p:nvSpPr>
        <p:spPr>
          <a:xfrm>
            <a:off x="4572000" y="2532888"/>
            <a:ext cx="3017520" cy="54864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Filter to Review; work the nightly candidates.</a:t>
            </a:r>
            <a:endParaRPr lang="en-US" sz="1250" dirty="0"/>
          </a:p>
        </p:txBody>
      </p:sp>
      <p:sp>
        <p:nvSpPr>
          <p:cNvPr id="14" name="Shape 12"/>
          <p:cNvSpPr/>
          <p:nvPr/>
        </p:nvSpPr>
        <p:spPr>
          <a:xfrm>
            <a:off x="8083296" y="1783080"/>
            <a:ext cx="3529584" cy="1371600"/>
          </a:xfrm>
          <a:prstGeom prst="roundRect">
            <a:avLst>
              <a:gd name="adj" fmla="val 6667"/>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15" name="Shape 13"/>
          <p:cNvSpPr/>
          <p:nvPr/>
        </p:nvSpPr>
        <p:spPr>
          <a:xfrm>
            <a:off x="8321040" y="2020824"/>
            <a:ext cx="384048" cy="384048"/>
          </a:xfrm>
          <a:prstGeom prst="roundRect">
            <a:avLst>
              <a:gd name="adj" fmla="val 19048"/>
            </a:avLst>
          </a:prstGeom>
          <a:solidFill>
            <a:srgbClr val="C23737"/>
          </a:solidFill>
          <a:ln/>
          <a:effectLst>
            <a:outerShdw sx="100000" sy="100000" kx="0" ky="0" algn="bl" rotWithShape="0" blurRad="114300" dist="50800" dir="5400000">
              <a:srgbClr val="1F3A6B">
                <a:alpha val="25000"/>
              </a:srgbClr>
            </a:outerShdw>
          </a:effectLst>
        </p:spPr>
      </p:sp>
      <p:sp>
        <p:nvSpPr>
          <p:cNvPr id="16" name="Text 14"/>
          <p:cNvSpPr/>
          <p:nvPr/>
        </p:nvSpPr>
        <p:spPr>
          <a:xfrm>
            <a:off x="8321040" y="202082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860536" y="2039112"/>
            <a:ext cx="2523744" cy="365760"/>
          </a:xfrm>
          <a:prstGeom prst="rect">
            <a:avLst/>
          </a:prstGeom>
          <a:noFill/>
          <a:ln/>
        </p:spPr>
        <p:txBody>
          <a:bodyPr wrap="square" lIns="0" tIns="0" rIns="0" bIns="0" rtlCol="0" anchor="ctr"/>
          <a:lstStyle/>
          <a:p>
            <a:pPr indent="0" marL="0">
              <a:buNone/>
            </a:pPr>
            <a:r>
              <a:rPr lang="en-US" sz="1600" b="1" dirty="0">
                <a:solidFill>
                  <a:srgbClr val="2D4880"/>
                </a:solidFill>
                <a:latin typeface="Cambria" pitchFamily="34" charset="0"/>
                <a:ea typeface="Cambria" pitchFamily="34" charset="-122"/>
                <a:cs typeface="Cambria" pitchFamily="34" charset="-120"/>
              </a:rPr>
              <a:t>Curate each gift</a:t>
            </a:r>
            <a:endParaRPr lang="en-US" sz="1600" dirty="0"/>
          </a:p>
        </p:txBody>
      </p:sp>
      <p:sp>
        <p:nvSpPr>
          <p:cNvPr id="18" name="Text 16"/>
          <p:cNvSpPr/>
          <p:nvPr/>
        </p:nvSpPr>
        <p:spPr>
          <a:xfrm>
            <a:off x="8339328" y="2532888"/>
            <a:ext cx="3017520" cy="54864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Verify link, Auto Fill image, tidy Title &amp; blurb.</a:t>
            </a:r>
            <a:endParaRPr lang="en-US" sz="1250" dirty="0"/>
          </a:p>
        </p:txBody>
      </p:sp>
      <p:sp>
        <p:nvSpPr>
          <p:cNvPr id="19" name="Shape 17"/>
          <p:cNvSpPr/>
          <p:nvPr/>
        </p:nvSpPr>
        <p:spPr>
          <a:xfrm>
            <a:off x="548640" y="3429000"/>
            <a:ext cx="3529584" cy="1371600"/>
          </a:xfrm>
          <a:prstGeom prst="roundRect">
            <a:avLst>
              <a:gd name="adj" fmla="val 6667"/>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0" name="Shape 18"/>
          <p:cNvSpPr/>
          <p:nvPr/>
        </p:nvSpPr>
        <p:spPr>
          <a:xfrm>
            <a:off x="786384" y="3666744"/>
            <a:ext cx="384048" cy="384048"/>
          </a:xfrm>
          <a:prstGeom prst="roundRect">
            <a:avLst>
              <a:gd name="adj" fmla="val 19048"/>
            </a:avLst>
          </a:prstGeom>
          <a:solidFill>
            <a:srgbClr val="2F6B3D"/>
          </a:solidFill>
          <a:ln/>
          <a:effectLst>
            <a:outerShdw sx="100000" sy="100000" kx="0" ky="0" algn="bl" rotWithShape="0" blurRad="114300" dist="50800" dir="5400000">
              <a:srgbClr val="1F3A6B">
                <a:alpha val="25000"/>
              </a:srgbClr>
            </a:outerShdw>
          </a:effectLst>
        </p:spPr>
      </p:sp>
      <p:sp>
        <p:nvSpPr>
          <p:cNvPr id="21" name="Text 19"/>
          <p:cNvSpPr/>
          <p:nvPr/>
        </p:nvSpPr>
        <p:spPr>
          <a:xfrm>
            <a:off x="786384" y="366674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1325880" y="3685032"/>
            <a:ext cx="2523744" cy="365760"/>
          </a:xfrm>
          <a:prstGeom prst="rect">
            <a:avLst/>
          </a:prstGeom>
          <a:noFill/>
          <a:ln/>
        </p:spPr>
        <p:txBody>
          <a:bodyPr wrap="square" lIns="0" tIns="0" rIns="0" bIns="0" rtlCol="0" anchor="ctr"/>
          <a:lstStyle/>
          <a:p>
            <a:pPr indent="0" marL="0">
              <a:buNone/>
            </a:pPr>
            <a:r>
              <a:rPr lang="en-US" sz="1600" b="1" dirty="0">
                <a:solidFill>
                  <a:srgbClr val="2D4880"/>
                </a:solidFill>
                <a:latin typeface="Cambria" pitchFamily="34" charset="0"/>
                <a:ea typeface="Cambria" pitchFamily="34" charset="-122"/>
                <a:cs typeface="Cambria" pitchFamily="34" charset="-120"/>
              </a:rPr>
              <a:t>Assign cities</a:t>
            </a:r>
            <a:endParaRPr lang="en-US" sz="1600" dirty="0"/>
          </a:p>
        </p:txBody>
      </p:sp>
      <p:sp>
        <p:nvSpPr>
          <p:cNvPr id="23" name="Text 21"/>
          <p:cNvSpPr/>
          <p:nvPr/>
        </p:nvSpPr>
        <p:spPr>
          <a:xfrm>
            <a:off x="804672" y="4178808"/>
            <a:ext cx="3017520" cy="54864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Attach the right Shops.</a:t>
            </a:r>
            <a:endParaRPr lang="en-US" sz="1250" dirty="0"/>
          </a:p>
        </p:txBody>
      </p:sp>
      <p:sp>
        <p:nvSpPr>
          <p:cNvPr id="24" name="Shape 22"/>
          <p:cNvSpPr/>
          <p:nvPr/>
        </p:nvSpPr>
        <p:spPr>
          <a:xfrm>
            <a:off x="4315968" y="3429000"/>
            <a:ext cx="3529584" cy="1371600"/>
          </a:xfrm>
          <a:prstGeom prst="roundRect">
            <a:avLst>
              <a:gd name="adj" fmla="val 6667"/>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25" name="Shape 23"/>
          <p:cNvSpPr/>
          <p:nvPr/>
        </p:nvSpPr>
        <p:spPr>
          <a:xfrm>
            <a:off x="4553712" y="3666744"/>
            <a:ext cx="384048" cy="384048"/>
          </a:xfrm>
          <a:prstGeom prst="roundRect">
            <a:avLst>
              <a:gd name="adj" fmla="val 19048"/>
            </a:avLst>
          </a:prstGeom>
          <a:solidFill>
            <a:srgbClr val="2F6B3D"/>
          </a:solidFill>
          <a:ln/>
          <a:effectLst>
            <a:outerShdw sx="100000" sy="100000" kx="0" ky="0" algn="bl" rotWithShape="0" blurRad="114300" dist="50800" dir="5400000">
              <a:srgbClr val="1F3A6B">
                <a:alpha val="25000"/>
              </a:srgbClr>
            </a:outerShdw>
          </a:effectLst>
        </p:spPr>
      </p:sp>
      <p:sp>
        <p:nvSpPr>
          <p:cNvPr id="26" name="Text 24"/>
          <p:cNvSpPr/>
          <p:nvPr/>
        </p:nvSpPr>
        <p:spPr>
          <a:xfrm>
            <a:off x="4553712" y="366674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5093208" y="3685032"/>
            <a:ext cx="2523744" cy="365760"/>
          </a:xfrm>
          <a:prstGeom prst="rect">
            <a:avLst/>
          </a:prstGeom>
          <a:noFill/>
          <a:ln/>
        </p:spPr>
        <p:txBody>
          <a:bodyPr wrap="square" lIns="0" tIns="0" rIns="0" bIns="0" rtlCol="0" anchor="ctr"/>
          <a:lstStyle/>
          <a:p>
            <a:pPr indent="0" marL="0">
              <a:buNone/>
            </a:pPr>
            <a:r>
              <a:rPr lang="en-US" sz="1600" b="1" dirty="0">
                <a:solidFill>
                  <a:srgbClr val="2D4880"/>
                </a:solidFill>
                <a:latin typeface="Cambria" pitchFamily="34" charset="0"/>
                <a:ea typeface="Cambria" pitchFamily="34" charset="-122"/>
                <a:cs typeface="Cambria" pitchFamily="34" charset="-120"/>
              </a:rPr>
              <a:t>Publish</a:t>
            </a:r>
            <a:endParaRPr lang="en-US" sz="1600" dirty="0"/>
          </a:p>
        </p:txBody>
      </p:sp>
      <p:sp>
        <p:nvSpPr>
          <p:cNvPr id="28" name="Text 26"/>
          <p:cNvSpPr/>
          <p:nvPr/>
        </p:nvSpPr>
        <p:spPr>
          <a:xfrm>
            <a:off x="4572000" y="4178808"/>
            <a:ext cx="3017520" cy="54864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Set Live and Save. Preview with SHOP first.</a:t>
            </a:r>
            <a:endParaRPr lang="en-US" sz="1250" dirty="0"/>
          </a:p>
        </p:txBody>
      </p:sp>
      <p:sp>
        <p:nvSpPr>
          <p:cNvPr id="29" name="Shape 27"/>
          <p:cNvSpPr/>
          <p:nvPr/>
        </p:nvSpPr>
        <p:spPr>
          <a:xfrm>
            <a:off x="8083296" y="3429000"/>
            <a:ext cx="3529584" cy="1371600"/>
          </a:xfrm>
          <a:prstGeom prst="roundRect">
            <a:avLst>
              <a:gd name="adj" fmla="val 6667"/>
            </a:avLst>
          </a:prstGeom>
          <a:solidFill>
            <a:srgbClr val="FFFFFF"/>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30" name="Shape 28"/>
          <p:cNvSpPr/>
          <p:nvPr/>
        </p:nvSpPr>
        <p:spPr>
          <a:xfrm>
            <a:off x="8321040" y="3666744"/>
            <a:ext cx="384048" cy="384048"/>
          </a:xfrm>
          <a:prstGeom prst="roundRect">
            <a:avLst>
              <a:gd name="adj" fmla="val 19048"/>
            </a:avLst>
          </a:prstGeom>
          <a:solidFill>
            <a:srgbClr val="2F6B3D"/>
          </a:solidFill>
          <a:ln/>
          <a:effectLst>
            <a:outerShdw sx="100000" sy="100000" kx="0" ky="0" algn="bl" rotWithShape="0" blurRad="114300" dist="50800" dir="5400000">
              <a:srgbClr val="1F3A6B">
                <a:alpha val="25000"/>
              </a:srgbClr>
            </a:outerShdw>
          </a:effectLst>
        </p:spPr>
      </p:sp>
      <p:sp>
        <p:nvSpPr>
          <p:cNvPr id="31" name="Text 29"/>
          <p:cNvSpPr/>
          <p:nvPr/>
        </p:nvSpPr>
        <p:spPr>
          <a:xfrm>
            <a:off x="8321040" y="366674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2" name="Text 30"/>
          <p:cNvSpPr/>
          <p:nvPr/>
        </p:nvSpPr>
        <p:spPr>
          <a:xfrm>
            <a:off x="8860536" y="3685032"/>
            <a:ext cx="2523744" cy="365760"/>
          </a:xfrm>
          <a:prstGeom prst="rect">
            <a:avLst/>
          </a:prstGeom>
          <a:noFill/>
          <a:ln/>
        </p:spPr>
        <p:txBody>
          <a:bodyPr wrap="square" lIns="0" tIns="0" rIns="0" bIns="0" rtlCol="0" anchor="ctr"/>
          <a:lstStyle/>
          <a:p>
            <a:pPr indent="0" marL="0">
              <a:buNone/>
            </a:pPr>
            <a:r>
              <a:rPr lang="en-US" sz="1600" b="1" dirty="0">
                <a:solidFill>
                  <a:srgbClr val="2D4880"/>
                </a:solidFill>
                <a:latin typeface="Cambria" pitchFamily="34" charset="0"/>
                <a:ea typeface="Cambria" pitchFamily="34" charset="-122"/>
                <a:cs typeface="Cambria" pitchFamily="34" charset="-120"/>
              </a:rPr>
              <a:t>Check health</a:t>
            </a:r>
            <a:endParaRPr lang="en-US" sz="1600" dirty="0"/>
          </a:p>
        </p:txBody>
      </p:sp>
      <p:sp>
        <p:nvSpPr>
          <p:cNvPr id="33" name="Text 31"/>
          <p:cNvSpPr/>
          <p:nvPr/>
        </p:nvSpPr>
        <p:spPr>
          <a:xfrm>
            <a:off x="8339328" y="4178808"/>
            <a:ext cx="3017520" cy="548640"/>
          </a:xfrm>
          <a:prstGeom prst="rect">
            <a:avLst/>
          </a:prstGeom>
          <a:noFill/>
          <a:ln/>
        </p:spPr>
        <p:txBody>
          <a:bodyPr wrap="square" lIns="0" tIns="0" rIns="0" bIns="0" rtlCol="0" anchor="t"/>
          <a:lstStyle/>
          <a:p>
            <a:pPr indent="0" marL="0">
              <a:lnSpc>
                <a:spcPts val="1600"/>
              </a:lnSpc>
              <a:buNone/>
            </a:pPr>
            <a:r>
              <a:rPr lang="en-US" sz="1250" dirty="0">
                <a:solidFill>
                  <a:srgbClr val="6E7C97"/>
                </a:solidFill>
                <a:latin typeface="Calibri" pitchFamily="34" charset="0"/>
                <a:ea typeface="Calibri" pitchFamily="34" charset="-122"/>
                <a:cs typeface="Calibri" pitchFamily="34" charset="-120"/>
              </a:rPr>
              <a:t>Clear any red ISSUES badge.</a:t>
            </a:r>
            <a:endParaRPr lang="en-US" sz="1250" dirty="0"/>
          </a:p>
        </p:txBody>
      </p:sp>
      <p:sp>
        <p:nvSpPr>
          <p:cNvPr id="34" name="Shape 32"/>
          <p:cNvSpPr/>
          <p:nvPr/>
        </p:nvSpPr>
        <p:spPr>
          <a:xfrm>
            <a:off x="548640" y="5074920"/>
            <a:ext cx="11082528" cy="566928"/>
          </a:xfrm>
          <a:prstGeom prst="roundRect">
            <a:avLst>
              <a:gd name="adj" fmla="val 16129"/>
            </a:avLst>
          </a:prstGeom>
          <a:solidFill>
            <a:srgbClr val="1F3A6B"/>
          </a:solidFill>
          <a:ln w="12700">
            <a:solidFill>
              <a:srgbClr val="D7DEEA"/>
            </a:solidFill>
            <a:prstDash val="solid"/>
          </a:ln>
          <a:effectLst>
            <a:outerShdw sx="100000" sy="100000" kx="0" ky="0" algn="bl" rotWithShape="0" blurRad="114300" dist="50800" dir="5400000">
              <a:srgbClr val="1F3A6B">
                <a:alpha val="20000"/>
              </a:srgbClr>
            </a:outerShdw>
          </a:effectLst>
        </p:spPr>
      </p:sp>
      <p:sp>
        <p:nvSpPr>
          <p:cNvPr id="35" name="Text 33"/>
          <p:cNvSpPr/>
          <p:nvPr/>
        </p:nvSpPr>
        <p:spPr>
          <a:xfrm>
            <a:off x="548640" y="5074920"/>
            <a:ext cx="11082528" cy="566928"/>
          </a:xfrm>
          <a:prstGeom prst="rect">
            <a:avLst/>
          </a:prstGeom>
          <a:noFill/>
          <a:ln/>
        </p:spPr>
        <p:txBody>
          <a:bodyPr wrap="square" lIns="0" tIns="0" rIns="0" bIns="0" rtlCol="0" anchor="ctr"/>
          <a:lstStyle/>
          <a:p>
            <a:pPr algn="ctr" indent="0" marL="0">
              <a:buNone/>
            </a:pPr>
            <a:r>
              <a:rPr lang="en-US" sz="1400" b="1" dirty="0">
                <a:solidFill>
                  <a:srgbClr val="F2A6A6"/>
                </a:solidFill>
                <a:latin typeface="Calibri" pitchFamily="34" charset="0"/>
                <a:ea typeface="Calibri" pitchFamily="34" charset="-122"/>
                <a:cs typeface="Calibri" pitchFamily="34" charset="-120"/>
              </a:rPr>
              <a:t>Golden rule:  </a:t>
            </a:r>
            <a:pPr algn="ctr" indent="0" marL="0">
              <a:buNone/>
            </a:pPr>
            <a:r>
              <a:rPr lang="en-US" sz="1400" dirty="0">
                <a:solidFill>
                  <a:srgbClr val="FFFFFF"/>
                </a:solidFill>
                <a:latin typeface="Calibri" pitchFamily="34" charset="0"/>
                <a:ea typeface="Calibri" pitchFamily="34" charset="-122"/>
                <a:cs typeface="Calibri" pitchFamily="34" charset="-120"/>
              </a:rPr>
              <a:t>nothing is public until you set it Live — and Shelved, not Delete, is how you retire a gift.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640080"/>
            <a:ext cx="10058400" cy="365760"/>
          </a:xfrm>
          <a:prstGeom prst="rect">
            <a:avLst/>
          </a:prstGeom>
          <a:noFill/>
          <a:ln/>
        </p:spPr>
        <p:txBody>
          <a:bodyPr wrap="square" lIns="0" tIns="0" rIns="0" bIns="0" rtlCol="0" anchor="ctr"/>
          <a:lstStyle/>
          <a:p>
            <a:pPr indent="0" marL="0">
              <a:buNone/>
            </a:pPr>
            <a:r>
              <a:rPr lang="en-US" sz="1300" b="1" spc="300" kern="0" dirty="0">
                <a:solidFill>
                  <a:srgbClr val="F2A6A6"/>
                </a:solidFill>
                <a:latin typeface="Calibri" pitchFamily="34" charset="0"/>
                <a:ea typeface="Calibri" pitchFamily="34" charset="-122"/>
                <a:cs typeface="Calibri" pitchFamily="34" charset="-120"/>
              </a:rPr>
              <a:t>QUICK REFERENCE</a:t>
            </a:r>
            <a:endParaRPr lang="en-US" sz="1300" dirty="0"/>
          </a:p>
        </p:txBody>
      </p:sp>
      <p:sp>
        <p:nvSpPr>
          <p:cNvPr id="3" name="Text 1"/>
          <p:cNvSpPr/>
          <p:nvPr/>
        </p:nvSpPr>
        <p:spPr>
          <a:xfrm>
            <a:off x="777240" y="960120"/>
            <a:ext cx="1060704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Stock Room in one screen</a:t>
            </a:r>
            <a:endParaRPr lang="en-US" sz="3400" dirty="0"/>
          </a:p>
        </p:txBody>
      </p:sp>
      <p:sp>
        <p:nvSpPr>
          <p:cNvPr id="4" name="Shape 2"/>
          <p:cNvSpPr/>
          <p:nvPr/>
        </p:nvSpPr>
        <p:spPr>
          <a:xfrm>
            <a:off x="777240" y="1920240"/>
            <a:ext cx="5349240" cy="786384"/>
          </a:xfrm>
          <a:prstGeom prst="roundRect">
            <a:avLst>
              <a:gd name="adj" fmla="val 9302"/>
            </a:avLst>
          </a:prstGeom>
          <a:solidFill>
            <a:srgbClr val="20304F"/>
          </a:solidFill>
          <a:ln w="12700">
            <a:solidFill>
              <a:srgbClr val="3A4E74"/>
            </a:solidFill>
            <a:prstDash val="solid"/>
          </a:ln>
        </p:spPr>
      </p:sp>
      <p:sp>
        <p:nvSpPr>
          <p:cNvPr id="5" name="Text 3"/>
          <p:cNvSpPr/>
          <p:nvPr/>
        </p:nvSpPr>
        <p:spPr>
          <a:xfrm>
            <a:off x="1033272" y="1965960"/>
            <a:ext cx="4892040" cy="292608"/>
          </a:xfrm>
          <a:prstGeom prst="rect">
            <a:avLst/>
          </a:prstGeom>
          <a:noFill/>
          <a:ln/>
        </p:spPr>
        <p:txBody>
          <a:bodyPr wrap="square" lIns="0" tIns="0" rIns="0" bIns="0" rtlCol="0" anchor="ctr"/>
          <a:lstStyle/>
          <a:p>
            <a:pPr indent="0" marL="0">
              <a:buNone/>
            </a:pPr>
            <a:r>
              <a:rPr lang="en-US" sz="1150" b="1" spc="150" kern="0" dirty="0">
                <a:solidFill>
                  <a:srgbClr val="F2A6A6"/>
                </a:solidFill>
                <a:latin typeface="Calibri" pitchFamily="34" charset="0"/>
                <a:ea typeface="Calibri" pitchFamily="34" charset="-122"/>
                <a:cs typeface="Calibri" pitchFamily="34" charset="-120"/>
              </a:rPr>
              <a:t>Where</a:t>
            </a:r>
            <a:endParaRPr lang="en-US" sz="1150" dirty="0"/>
          </a:p>
        </p:txBody>
      </p:sp>
      <p:sp>
        <p:nvSpPr>
          <p:cNvPr id="6" name="Text 4"/>
          <p:cNvSpPr/>
          <p:nvPr/>
        </p:nvSpPr>
        <p:spPr>
          <a:xfrm>
            <a:off x="1033272" y="2249424"/>
            <a:ext cx="4892040" cy="420624"/>
          </a:xfrm>
          <a:prstGeom prst="rect">
            <a:avLst/>
          </a:prstGeom>
          <a:noFill/>
          <a:ln/>
        </p:spPr>
        <p:txBody>
          <a:bodyPr wrap="square" lIns="0" tIns="0" rIns="0" bIns="0" rtlCol="0" anchor="t"/>
          <a:lstStyle/>
          <a:p>
            <a:pPr indent="0" marL="0">
              <a:lnSpc>
                <a:spcPts val="1500"/>
              </a:lnSpc>
              <a:buNone/>
            </a:pPr>
            <a:r>
              <a:rPr lang="en-US" sz="1300" dirty="0">
                <a:solidFill>
                  <a:srgbClr val="CADCFC"/>
                </a:solidFill>
                <a:latin typeface="Calibri" pitchFamily="34" charset="0"/>
                <a:ea typeface="Calibri" pitchFamily="34" charset="-122"/>
                <a:cs typeface="Calibri" pitchFamily="34" charset="-120"/>
              </a:rPr>
              <a:t>/shop/admin/  ·  public shop at /shop/</a:t>
            </a:r>
            <a:endParaRPr lang="en-US" sz="1300" dirty="0"/>
          </a:p>
        </p:txBody>
      </p:sp>
      <p:sp>
        <p:nvSpPr>
          <p:cNvPr id="7" name="Shape 5"/>
          <p:cNvSpPr/>
          <p:nvPr/>
        </p:nvSpPr>
        <p:spPr>
          <a:xfrm>
            <a:off x="6400800" y="1920240"/>
            <a:ext cx="5349240" cy="786384"/>
          </a:xfrm>
          <a:prstGeom prst="roundRect">
            <a:avLst>
              <a:gd name="adj" fmla="val 9302"/>
            </a:avLst>
          </a:prstGeom>
          <a:solidFill>
            <a:srgbClr val="20304F"/>
          </a:solidFill>
          <a:ln w="12700">
            <a:solidFill>
              <a:srgbClr val="3A4E74"/>
            </a:solidFill>
            <a:prstDash val="solid"/>
          </a:ln>
        </p:spPr>
      </p:sp>
      <p:sp>
        <p:nvSpPr>
          <p:cNvPr id="8" name="Text 6"/>
          <p:cNvSpPr/>
          <p:nvPr/>
        </p:nvSpPr>
        <p:spPr>
          <a:xfrm>
            <a:off x="6656832" y="1965960"/>
            <a:ext cx="4892040" cy="292608"/>
          </a:xfrm>
          <a:prstGeom prst="rect">
            <a:avLst/>
          </a:prstGeom>
          <a:noFill/>
          <a:ln/>
        </p:spPr>
        <p:txBody>
          <a:bodyPr wrap="square" lIns="0" tIns="0" rIns="0" bIns="0" rtlCol="0" anchor="ctr"/>
          <a:lstStyle/>
          <a:p>
            <a:pPr indent="0" marL="0">
              <a:buNone/>
            </a:pPr>
            <a:r>
              <a:rPr lang="en-US" sz="1150" b="1" spc="150" kern="0" dirty="0">
                <a:solidFill>
                  <a:srgbClr val="F2A6A6"/>
                </a:solidFill>
                <a:latin typeface="Calibri" pitchFamily="34" charset="0"/>
                <a:ea typeface="Calibri" pitchFamily="34" charset="-122"/>
                <a:cs typeface="Calibri" pitchFamily="34" charset="-120"/>
              </a:rPr>
              <a:t>Statuses</a:t>
            </a:r>
            <a:endParaRPr lang="en-US" sz="1150" dirty="0"/>
          </a:p>
        </p:txBody>
      </p:sp>
      <p:sp>
        <p:nvSpPr>
          <p:cNvPr id="9" name="Text 7"/>
          <p:cNvSpPr/>
          <p:nvPr/>
        </p:nvSpPr>
        <p:spPr>
          <a:xfrm>
            <a:off x="6656832" y="2249424"/>
            <a:ext cx="4892040" cy="420624"/>
          </a:xfrm>
          <a:prstGeom prst="rect">
            <a:avLst/>
          </a:prstGeom>
          <a:noFill/>
          <a:ln/>
        </p:spPr>
        <p:txBody>
          <a:bodyPr wrap="square" lIns="0" tIns="0" rIns="0" bIns="0" rtlCol="0" anchor="t"/>
          <a:lstStyle/>
          <a:p>
            <a:pPr indent="0" marL="0">
              <a:lnSpc>
                <a:spcPts val="1500"/>
              </a:lnSpc>
              <a:buNone/>
            </a:pPr>
            <a:r>
              <a:rPr lang="en-US" sz="1300" dirty="0">
                <a:solidFill>
                  <a:srgbClr val="CADCFC"/>
                </a:solidFill>
                <a:latin typeface="Calibri" pitchFamily="34" charset="0"/>
                <a:ea typeface="Calibri" pitchFamily="34" charset="-122"/>
                <a:cs typeface="Calibri" pitchFamily="34" charset="-120"/>
              </a:rPr>
              <a:t>Review (waiting) → Live (public) → Shelved (retired, kept)</a:t>
            </a:r>
            <a:endParaRPr lang="en-US" sz="1300" dirty="0"/>
          </a:p>
        </p:txBody>
      </p:sp>
      <p:sp>
        <p:nvSpPr>
          <p:cNvPr id="10" name="Shape 8"/>
          <p:cNvSpPr/>
          <p:nvPr/>
        </p:nvSpPr>
        <p:spPr>
          <a:xfrm>
            <a:off x="777240" y="2907792"/>
            <a:ext cx="5349240" cy="786384"/>
          </a:xfrm>
          <a:prstGeom prst="roundRect">
            <a:avLst>
              <a:gd name="adj" fmla="val 9302"/>
            </a:avLst>
          </a:prstGeom>
          <a:solidFill>
            <a:srgbClr val="20304F"/>
          </a:solidFill>
          <a:ln w="12700">
            <a:solidFill>
              <a:srgbClr val="3A4E74"/>
            </a:solidFill>
            <a:prstDash val="solid"/>
          </a:ln>
        </p:spPr>
      </p:sp>
      <p:sp>
        <p:nvSpPr>
          <p:cNvPr id="11" name="Text 9"/>
          <p:cNvSpPr/>
          <p:nvPr/>
        </p:nvSpPr>
        <p:spPr>
          <a:xfrm>
            <a:off x="1033272" y="2953512"/>
            <a:ext cx="4892040" cy="292608"/>
          </a:xfrm>
          <a:prstGeom prst="rect">
            <a:avLst/>
          </a:prstGeom>
          <a:noFill/>
          <a:ln/>
        </p:spPr>
        <p:txBody>
          <a:bodyPr wrap="square" lIns="0" tIns="0" rIns="0" bIns="0" rtlCol="0" anchor="ctr"/>
          <a:lstStyle/>
          <a:p>
            <a:pPr indent="0" marL="0">
              <a:buNone/>
            </a:pPr>
            <a:r>
              <a:rPr lang="en-US" sz="1150" b="1" spc="150" kern="0" dirty="0">
                <a:solidFill>
                  <a:srgbClr val="F2A6A6"/>
                </a:solidFill>
                <a:latin typeface="Calibri" pitchFamily="34" charset="0"/>
                <a:ea typeface="Calibri" pitchFamily="34" charset="-122"/>
                <a:cs typeface="Calibri" pitchFamily="34" charset="-120"/>
              </a:rPr>
              <a:t>Delete</a:t>
            </a:r>
            <a:endParaRPr lang="en-US" sz="1150" dirty="0"/>
          </a:p>
        </p:txBody>
      </p:sp>
      <p:sp>
        <p:nvSpPr>
          <p:cNvPr id="12" name="Text 10"/>
          <p:cNvSpPr/>
          <p:nvPr/>
        </p:nvSpPr>
        <p:spPr>
          <a:xfrm>
            <a:off x="1033272" y="3236976"/>
            <a:ext cx="4892040" cy="420624"/>
          </a:xfrm>
          <a:prstGeom prst="rect">
            <a:avLst/>
          </a:prstGeom>
          <a:noFill/>
          <a:ln/>
        </p:spPr>
        <p:txBody>
          <a:bodyPr wrap="square" lIns="0" tIns="0" rIns="0" bIns="0" rtlCol="0" anchor="t"/>
          <a:lstStyle/>
          <a:p>
            <a:pPr indent="0" marL="0">
              <a:lnSpc>
                <a:spcPts val="1500"/>
              </a:lnSpc>
              <a:buNone/>
            </a:pPr>
            <a:r>
              <a:rPr lang="en-US" sz="1300" dirty="0">
                <a:solidFill>
                  <a:srgbClr val="CADCFC"/>
                </a:solidFill>
                <a:latin typeface="Calibri" pitchFamily="34" charset="0"/>
                <a:ea typeface="Calibri" pitchFamily="34" charset="-122"/>
                <a:cs typeface="Calibri" pitchFamily="34" charset="-120"/>
              </a:rPr>
              <a:t>Permanent — use Shelved to keep the record</a:t>
            </a:r>
            <a:endParaRPr lang="en-US" sz="1300" dirty="0"/>
          </a:p>
        </p:txBody>
      </p:sp>
      <p:sp>
        <p:nvSpPr>
          <p:cNvPr id="13" name="Shape 11"/>
          <p:cNvSpPr/>
          <p:nvPr/>
        </p:nvSpPr>
        <p:spPr>
          <a:xfrm>
            <a:off x="6400800" y="2907792"/>
            <a:ext cx="5349240" cy="786384"/>
          </a:xfrm>
          <a:prstGeom prst="roundRect">
            <a:avLst>
              <a:gd name="adj" fmla="val 9302"/>
            </a:avLst>
          </a:prstGeom>
          <a:solidFill>
            <a:srgbClr val="20304F"/>
          </a:solidFill>
          <a:ln w="12700">
            <a:solidFill>
              <a:srgbClr val="3A4E74"/>
            </a:solidFill>
            <a:prstDash val="solid"/>
          </a:ln>
        </p:spPr>
      </p:sp>
      <p:sp>
        <p:nvSpPr>
          <p:cNvPr id="14" name="Text 12"/>
          <p:cNvSpPr/>
          <p:nvPr/>
        </p:nvSpPr>
        <p:spPr>
          <a:xfrm>
            <a:off x="6656832" y="2953512"/>
            <a:ext cx="4892040" cy="292608"/>
          </a:xfrm>
          <a:prstGeom prst="rect">
            <a:avLst/>
          </a:prstGeom>
          <a:noFill/>
          <a:ln/>
        </p:spPr>
        <p:txBody>
          <a:bodyPr wrap="square" lIns="0" tIns="0" rIns="0" bIns="0" rtlCol="0" anchor="ctr"/>
          <a:lstStyle/>
          <a:p>
            <a:pPr indent="0" marL="0">
              <a:buNone/>
            </a:pPr>
            <a:r>
              <a:rPr lang="en-US" sz="1150" b="1" spc="150" kern="0" dirty="0">
                <a:solidFill>
                  <a:srgbClr val="F2A6A6"/>
                </a:solidFill>
                <a:latin typeface="Calibri" pitchFamily="34" charset="0"/>
                <a:ea typeface="Calibri" pitchFamily="34" charset="-122"/>
                <a:cs typeface="Calibri" pitchFamily="34" charset="-120"/>
              </a:rPr>
              <a:t>Add gifts</a:t>
            </a:r>
            <a:endParaRPr lang="en-US" sz="1150" dirty="0"/>
          </a:p>
        </p:txBody>
      </p:sp>
      <p:sp>
        <p:nvSpPr>
          <p:cNvPr id="15" name="Text 13"/>
          <p:cNvSpPr/>
          <p:nvPr/>
        </p:nvSpPr>
        <p:spPr>
          <a:xfrm>
            <a:off x="6656832" y="3236976"/>
            <a:ext cx="4892040" cy="420624"/>
          </a:xfrm>
          <a:prstGeom prst="rect">
            <a:avLst/>
          </a:prstGeom>
          <a:noFill/>
          <a:ln/>
        </p:spPr>
        <p:txBody>
          <a:bodyPr wrap="square" lIns="0" tIns="0" rIns="0" bIns="0" rtlCol="0" anchor="t"/>
          <a:lstStyle/>
          <a:p>
            <a:pPr indent="0" marL="0">
              <a:lnSpc>
                <a:spcPts val="1500"/>
              </a:lnSpc>
              <a:buNone/>
            </a:pPr>
            <a:r>
              <a:rPr lang="en-US" sz="1300" dirty="0">
                <a:solidFill>
                  <a:srgbClr val="CADCFC"/>
                </a:solidFill>
                <a:latin typeface="Calibri" pitchFamily="34" charset="0"/>
                <a:ea typeface="Calibri" pitchFamily="34" charset="-122"/>
                <a:cs typeface="Calibri" pitchFamily="34" charset="-120"/>
              </a:rPr>
              <a:t>Manual  ·  With AI  ·  Nightly (auto, Review only)</a:t>
            </a:r>
            <a:endParaRPr lang="en-US" sz="1300" dirty="0"/>
          </a:p>
        </p:txBody>
      </p:sp>
      <p:sp>
        <p:nvSpPr>
          <p:cNvPr id="16" name="Shape 14"/>
          <p:cNvSpPr/>
          <p:nvPr/>
        </p:nvSpPr>
        <p:spPr>
          <a:xfrm>
            <a:off x="777240" y="3895344"/>
            <a:ext cx="5349240" cy="786384"/>
          </a:xfrm>
          <a:prstGeom prst="roundRect">
            <a:avLst>
              <a:gd name="adj" fmla="val 9302"/>
            </a:avLst>
          </a:prstGeom>
          <a:solidFill>
            <a:srgbClr val="20304F"/>
          </a:solidFill>
          <a:ln w="12700">
            <a:solidFill>
              <a:srgbClr val="3A4E74"/>
            </a:solidFill>
            <a:prstDash val="solid"/>
          </a:ln>
        </p:spPr>
      </p:sp>
      <p:sp>
        <p:nvSpPr>
          <p:cNvPr id="17" name="Text 15"/>
          <p:cNvSpPr/>
          <p:nvPr/>
        </p:nvSpPr>
        <p:spPr>
          <a:xfrm>
            <a:off x="1033272" y="3941064"/>
            <a:ext cx="4892040" cy="292608"/>
          </a:xfrm>
          <a:prstGeom prst="rect">
            <a:avLst/>
          </a:prstGeom>
          <a:noFill/>
          <a:ln/>
        </p:spPr>
        <p:txBody>
          <a:bodyPr wrap="square" lIns="0" tIns="0" rIns="0" bIns="0" rtlCol="0" anchor="ctr"/>
          <a:lstStyle/>
          <a:p>
            <a:pPr indent="0" marL="0">
              <a:buNone/>
            </a:pPr>
            <a:r>
              <a:rPr lang="en-US" sz="1150" b="1" spc="150" kern="0" dirty="0">
                <a:solidFill>
                  <a:srgbClr val="F2A6A6"/>
                </a:solidFill>
                <a:latin typeface="Calibri" pitchFamily="34" charset="0"/>
                <a:ea typeface="Calibri" pitchFamily="34" charset="-122"/>
                <a:cs typeface="Calibri" pitchFamily="34" charset="-120"/>
              </a:rPr>
              <a:t>A card</a:t>
            </a:r>
            <a:endParaRPr lang="en-US" sz="1150" dirty="0"/>
          </a:p>
        </p:txBody>
      </p:sp>
      <p:sp>
        <p:nvSpPr>
          <p:cNvPr id="18" name="Text 16"/>
          <p:cNvSpPr/>
          <p:nvPr/>
        </p:nvSpPr>
        <p:spPr>
          <a:xfrm>
            <a:off x="1033272" y="4224528"/>
            <a:ext cx="4892040" cy="420624"/>
          </a:xfrm>
          <a:prstGeom prst="rect">
            <a:avLst/>
          </a:prstGeom>
          <a:noFill/>
          <a:ln/>
        </p:spPr>
        <p:txBody>
          <a:bodyPr wrap="square" lIns="0" tIns="0" rIns="0" bIns="0" rtlCol="0" anchor="t"/>
          <a:lstStyle/>
          <a:p>
            <a:pPr indent="0" marL="0">
              <a:lnSpc>
                <a:spcPts val="1500"/>
              </a:lnSpc>
              <a:buNone/>
            </a:pPr>
            <a:r>
              <a:rPr lang="en-US" sz="1300" dirty="0">
                <a:solidFill>
                  <a:srgbClr val="CADCFC"/>
                </a:solidFill>
                <a:latin typeface="Calibri" pitchFamily="34" charset="0"/>
                <a:ea typeface="Calibri" pitchFamily="34" charset="-122"/>
                <a:cs typeface="Calibri" pitchFamily="34" charset="-120"/>
              </a:rPr>
              <a:t>Status · Image · Verify · Details · Shops · Save</a:t>
            </a:r>
            <a:endParaRPr lang="en-US" sz="1300" dirty="0"/>
          </a:p>
        </p:txBody>
      </p:sp>
      <p:sp>
        <p:nvSpPr>
          <p:cNvPr id="19" name="Shape 17"/>
          <p:cNvSpPr/>
          <p:nvPr/>
        </p:nvSpPr>
        <p:spPr>
          <a:xfrm>
            <a:off x="6400800" y="3895344"/>
            <a:ext cx="5349240" cy="786384"/>
          </a:xfrm>
          <a:prstGeom prst="roundRect">
            <a:avLst>
              <a:gd name="adj" fmla="val 9302"/>
            </a:avLst>
          </a:prstGeom>
          <a:solidFill>
            <a:srgbClr val="20304F"/>
          </a:solidFill>
          <a:ln w="12700">
            <a:solidFill>
              <a:srgbClr val="3A4E74"/>
            </a:solidFill>
            <a:prstDash val="solid"/>
          </a:ln>
        </p:spPr>
      </p:sp>
      <p:sp>
        <p:nvSpPr>
          <p:cNvPr id="20" name="Text 18"/>
          <p:cNvSpPr/>
          <p:nvPr/>
        </p:nvSpPr>
        <p:spPr>
          <a:xfrm>
            <a:off x="6656832" y="3941064"/>
            <a:ext cx="4892040" cy="292608"/>
          </a:xfrm>
          <a:prstGeom prst="rect">
            <a:avLst/>
          </a:prstGeom>
          <a:noFill/>
          <a:ln/>
        </p:spPr>
        <p:txBody>
          <a:bodyPr wrap="square" lIns="0" tIns="0" rIns="0" bIns="0" rtlCol="0" anchor="ctr"/>
          <a:lstStyle/>
          <a:p>
            <a:pPr indent="0" marL="0">
              <a:buNone/>
            </a:pPr>
            <a:r>
              <a:rPr lang="en-US" sz="1150" b="1" spc="150" kern="0" dirty="0">
                <a:solidFill>
                  <a:srgbClr val="F2A6A6"/>
                </a:solidFill>
                <a:latin typeface="Calibri" pitchFamily="34" charset="0"/>
                <a:ea typeface="Calibri" pitchFamily="34" charset="-122"/>
                <a:cs typeface="Calibri" pitchFamily="34" charset="-120"/>
              </a:rPr>
              <a:t>Links</a:t>
            </a:r>
            <a:endParaRPr lang="en-US" sz="1150" dirty="0"/>
          </a:p>
        </p:txBody>
      </p:sp>
      <p:sp>
        <p:nvSpPr>
          <p:cNvPr id="21" name="Text 19"/>
          <p:cNvSpPr/>
          <p:nvPr/>
        </p:nvSpPr>
        <p:spPr>
          <a:xfrm>
            <a:off x="6656832" y="4224528"/>
            <a:ext cx="4892040" cy="420624"/>
          </a:xfrm>
          <a:prstGeom prst="rect">
            <a:avLst/>
          </a:prstGeom>
          <a:noFill/>
          <a:ln/>
        </p:spPr>
        <p:txBody>
          <a:bodyPr wrap="square" lIns="0" tIns="0" rIns="0" bIns="0" rtlCol="0" anchor="t"/>
          <a:lstStyle/>
          <a:p>
            <a:pPr indent="0" marL="0">
              <a:lnSpc>
                <a:spcPts val="1500"/>
              </a:lnSpc>
              <a:buNone/>
            </a:pPr>
            <a:r>
              <a:rPr lang="en-US" sz="1300" dirty="0">
                <a:solidFill>
                  <a:srgbClr val="CADCFC"/>
                </a:solidFill>
                <a:latin typeface="Calibri" pitchFamily="34" charset="0"/>
                <a:ea typeface="Calibri" pitchFamily="34" charset="-122"/>
                <a:cs typeface="Calibri" pitchFamily="34" charset="-120"/>
              </a:rPr>
              <a:t>Amazon / Bookshop (affiliate)  ·  Destination (Visit Site)</a:t>
            </a:r>
            <a:endParaRPr lang="en-US" sz="1300" dirty="0"/>
          </a:p>
        </p:txBody>
      </p:sp>
      <p:sp>
        <p:nvSpPr>
          <p:cNvPr id="22" name="Shape 20"/>
          <p:cNvSpPr/>
          <p:nvPr/>
        </p:nvSpPr>
        <p:spPr>
          <a:xfrm>
            <a:off x="777240" y="4882896"/>
            <a:ext cx="5349240" cy="786384"/>
          </a:xfrm>
          <a:prstGeom prst="roundRect">
            <a:avLst>
              <a:gd name="adj" fmla="val 9302"/>
            </a:avLst>
          </a:prstGeom>
          <a:solidFill>
            <a:srgbClr val="20304F"/>
          </a:solidFill>
          <a:ln w="12700">
            <a:solidFill>
              <a:srgbClr val="3A4E74"/>
            </a:solidFill>
            <a:prstDash val="solid"/>
          </a:ln>
        </p:spPr>
      </p:sp>
      <p:sp>
        <p:nvSpPr>
          <p:cNvPr id="23" name="Text 21"/>
          <p:cNvSpPr/>
          <p:nvPr/>
        </p:nvSpPr>
        <p:spPr>
          <a:xfrm>
            <a:off x="1033272" y="4928616"/>
            <a:ext cx="4892040" cy="292608"/>
          </a:xfrm>
          <a:prstGeom prst="rect">
            <a:avLst/>
          </a:prstGeom>
          <a:noFill/>
          <a:ln/>
        </p:spPr>
        <p:txBody>
          <a:bodyPr wrap="square" lIns="0" tIns="0" rIns="0" bIns="0" rtlCol="0" anchor="ctr"/>
          <a:lstStyle/>
          <a:p>
            <a:pPr indent="0" marL="0">
              <a:buNone/>
            </a:pPr>
            <a:r>
              <a:rPr lang="en-US" sz="1150" b="1" spc="150" kern="0" dirty="0">
                <a:solidFill>
                  <a:srgbClr val="F2A6A6"/>
                </a:solidFill>
                <a:latin typeface="Calibri" pitchFamily="34" charset="0"/>
                <a:ea typeface="Calibri" pitchFamily="34" charset="-122"/>
                <a:cs typeface="Calibri" pitchFamily="34" charset="-120"/>
              </a:rPr>
              <a:t>Save</a:t>
            </a:r>
            <a:endParaRPr lang="en-US" sz="1150" dirty="0"/>
          </a:p>
        </p:txBody>
      </p:sp>
      <p:sp>
        <p:nvSpPr>
          <p:cNvPr id="24" name="Text 22"/>
          <p:cNvSpPr/>
          <p:nvPr/>
        </p:nvSpPr>
        <p:spPr>
          <a:xfrm>
            <a:off x="1033272" y="5212080"/>
            <a:ext cx="4892040" cy="420624"/>
          </a:xfrm>
          <a:prstGeom prst="rect">
            <a:avLst/>
          </a:prstGeom>
          <a:noFill/>
          <a:ln/>
        </p:spPr>
        <p:txBody>
          <a:bodyPr wrap="square" lIns="0" tIns="0" rIns="0" bIns="0" rtlCol="0" anchor="t"/>
          <a:lstStyle/>
          <a:p>
            <a:pPr indent="0" marL="0">
              <a:lnSpc>
                <a:spcPts val="1500"/>
              </a:lnSpc>
              <a:buNone/>
            </a:pPr>
            <a:r>
              <a:rPr lang="en-US" sz="1300" dirty="0">
                <a:solidFill>
                  <a:srgbClr val="CADCFC"/>
                </a:solidFill>
                <a:latin typeface="Calibri" pitchFamily="34" charset="0"/>
                <a:ea typeface="Calibri" pitchFamily="34" charset="-122"/>
                <a:cs typeface="Calibri" pitchFamily="34" charset="-120"/>
              </a:rPr>
              <a:t>Per-card SAVE, or SAVE ALL CHANGES banner</a:t>
            </a:r>
            <a:endParaRPr lang="en-US" sz="1300" dirty="0"/>
          </a:p>
        </p:txBody>
      </p:sp>
      <p:sp>
        <p:nvSpPr>
          <p:cNvPr id="25" name="Shape 23"/>
          <p:cNvSpPr/>
          <p:nvPr/>
        </p:nvSpPr>
        <p:spPr>
          <a:xfrm>
            <a:off x="6400800" y="4882896"/>
            <a:ext cx="5349240" cy="786384"/>
          </a:xfrm>
          <a:prstGeom prst="roundRect">
            <a:avLst>
              <a:gd name="adj" fmla="val 9302"/>
            </a:avLst>
          </a:prstGeom>
          <a:solidFill>
            <a:srgbClr val="20304F"/>
          </a:solidFill>
          <a:ln w="12700">
            <a:solidFill>
              <a:srgbClr val="3A4E74"/>
            </a:solidFill>
            <a:prstDash val="solid"/>
          </a:ln>
        </p:spPr>
      </p:sp>
      <p:sp>
        <p:nvSpPr>
          <p:cNvPr id="26" name="Text 24"/>
          <p:cNvSpPr/>
          <p:nvPr/>
        </p:nvSpPr>
        <p:spPr>
          <a:xfrm>
            <a:off x="6656832" y="4928616"/>
            <a:ext cx="4892040" cy="292608"/>
          </a:xfrm>
          <a:prstGeom prst="rect">
            <a:avLst/>
          </a:prstGeom>
          <a:noFill/>
          <a:ln/>
        </p:spPr>
        <p:txBody>
          <a:bodyPr wrap="square" lIns="0" tIns="0" rIns="0" bIns="0" rtlCol="0" anchor="ctr"/>
          <a:lstStyle/>
          <a:p>
            <a:pPr indent="0" marL="0">
              <a:buNone/>
            </a:pPr>
            <a:r>
              <a:rPr lang="en-US" sz="1150" b="1" spc="150" kern="0" dirty="0">
                <a:solidFill>
                  <a:srgbClr val="F2A6A6"/>
                </a:solidFill>
                <a:latin typeface="Calibri" pitchFamily="34" charset="0"/>
                <a:ea typeface="Calibri" pitchFamily="34" charset="-122"/>
                <a:cs typeface="Calibri" pitchFamily="34" charset="-120"/>
              </a:rPr>
              <a:t>Health</a:t>
            </a:r>
            <a:endParaRPr lang="en-US" sz="1150" dirty="0"/>
          </a:p>
        </p:txBody>
      </p:sp>
      <p:sp>
        <p:nvSpPr>
          <p:cNvPr id="27" name="Text 25"/>
          <p:cNvSpPr/>
          <p:nvPr/>
        </p:nvSpPr>
        <p:spPr>
          <a:xfrm>
            <a:off x="6656832" y="5212080"/>
            <a:ext cx="4892040" cy="420624"/>
          </a:xfrm>
          <a:prstGeom prst="rect">
            <a:avLst/>
          </a:prstGeom>
          <a:noFill/>
          <a:ln/>
        </p:spPr>
        <p:txBody>
          <a:bodyPr wrap="square" lIns="0" tIns="0" rIns="0" bIns="0" rtlCol="0" anchor="t"/>
          <a:lstStyle/>
          <a:p>
            <a:pPr indent="0" marL="0">
              <a:lnSpc>
                <a:spcPts val="1500"/>
              </a:lnSpc>
              <a:buNone/>
            </a:pPr>
            <a:r>
              <a:rPr lang="en-US" sz="1300" dirty="0">
                <a:solidFill>
                  <a:srgbClr val="CADCFC"/>
                </a:solidFill>
                <a:latin typeface="Calibri" pitchFamily="34" charset="0"/>
                <a:ea typeface="Calibri" pitchFamily="34" charset="-122"/>
                <a:cs typeface="Calibri" pitchFamily="34" charset="-120"/>
              </a:rPr>
              <a:t>Nightly link check → Issues page → red badge = fix</a:t>
            </a:r>
            <a:endParaRPr lang="en-US" sz="1300" dirty="0"/>
          </a:p>
        </p:txBody>
      </p:sp>
      <p:sp>
        <p:nvSpPr>
          <p:cNvPr id="28" name="Text 26"/>
          <p:cNvSpPr/>
          <p:nvPr/>
        </p:nvSpPr>
        <p:spPr>
          <a:xfrm>
            <a:off x="777240" y="6400800"/>
            <a:ext cx="10607040" cy="320040"/>
          </a:xfrm>
          <a:prstGeom prst="rect">
            <a:avLst/>
          </a:prstGeom>
          <a:noFill/>
          <a:ln/>
        </p:spPr>
        <p:txBody>
          <a:bodyPr wrap="square" lIns="0" tIns="0" rIns="0" bIns="0" rtlCol="0" anchor="ctr"/>
          <a:lstStyle/>
          <a:p>
            <a:pPr indent="0" marL="0">
              <a:buNone/>
            </a:pPr>
            <a:r>
              <a:rPr lang="en-US" sz="1150" i="1" dirty="0">
                <a:solidFill>
                  <a:srgbClr val="8FA0C4"/>
                </a:solidFill>
                <a:latin typeface="Calibri" pitchFamily="34" charset="0"/>
                <a:ea typeface="Calibri" pitchFamily="34" charset="-122"/>
                <a:cs typeface="Calibri" pitchFamily="34" charset="-120"/>
              </a:rPr>
              <a:t>The Game Bureau  ·  Gift Shop Stock Room training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Gift Shop Stock Room — Training</dc:title>
  <dc:subject>PptxGenJS Presentation</dc:subject>
  <dc:creator>The Game Bureau</dc:creator>
  <cp:lastModifiedBy>The Game Bureau</cp:lastModifiedBy>
  <cp:revision>1</cp:revision>
  <dcterms:created xsi:type="dcterms:W3CDTF">2026-07-22T20:24:35Z</dcterms:created>
  <dcterms:modified xsi:type="dcterms:W3CDTF">2026-07-22T20:24:35Z</dcterms:modified>
</cp:coreProperties>
</file>